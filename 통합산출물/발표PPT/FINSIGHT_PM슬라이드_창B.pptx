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개발 여정 · WBS</a:t>
            </a:r>
          </a:p>
          <a:p>
            <a:r>
              <a:rPr sz="2800" b="1">
                <a:solidFill>
                  <a:srgbClr val="1F3A5F"/>
                </a:solidFill>
              </a:rPr>
              <a:t>킥오프(4/22) → 최종 발표(6/20) · 5 스프린트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320"/>
          <a:ext cx="11247120" cy="3054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035040"/>
                <a:gridCol w="182880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단계 (기간)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핵심 Task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담당 파트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상태</a:t>
                      </a:r>
                    </a:p>
                  </a:txBody>
                  <a:tcPr anchor="ctr" marL="91440" marR="54864" marT="36576" marB="36576">
                    <a:solidFill>
                      <a:srgbClr val="2F559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킥오프 (4/22~4/24)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프로젝트 헌장 · 페르소나 · WBS 초안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PM·공통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1 (4/27~4/28)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기획서 · 요구사항정의서 · 협업환경 구축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PM·공통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2 (4/29~5/9)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개발환경 · 데이터 수집 · 밸류엔진(WACC·DCF·멀티플)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밸류에이션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3 (5/12~5/22)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기업개요 · AI 히스토리 브리핑 · Next.js UI · 1차 배포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기업개요·AI챗봇·밸류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4 (5/26~6/5)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재무 정확성(3개년) · 브리핑 전수화 · 4-Way 밸류 · 관리자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375623"/>
                          </a:solidFill>
                        </a:rPr>
                        <a:t>완료</a:t>
                      </a:r>
                    </a:p>
                  </a:txBody>
                  <a:tcPr anchor="ctr" marL="91440" marR="54864" marT="36576" marB="36576">
                    <a:solidFill>
                      <a:srgbClr val="E2EFD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스프린트 5 (6/8~6/19)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DB 클라우드 이관 · 계열사 전종목 · 메인 리디자인 · 챗봇 GPU · AWS+HTTPS · QA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06000"/>
                          </a:solidFill>
                        </a:rPr>
                        <a:t>완료/진행</a:t>
                      </a:r>
                    </a:p>
                  </a:txBody>
                  <a:tcPr anchor="ctr" marL="91440" marR="54864" marT="36576" marB="36576">
                    <a:solidFill>
                      <a:srgbClr val="FFF2C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F5597"/>
                          </a:solidFill>
                        </a:rPr>
                        <a:t>최종 발표 (6/20)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발표 PPT · 스크립트 · 리허설 · 라이브 시연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0F172A"/>
                          </a:solidFill>
                        </a:rPr>
                        <a:t>전 파트</a:t>
                      </a:r>
                    </a:p>
                  </a:txBody>
                  <a:tcPr anchor="ctr" marL="91440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808080"/>
                          </a:solidFill>
                        </a:rPr>
                        <a:t>예정</a:t>
                      </a:r>
                    </a:p>
                  </a:txBody>
                  <a:tcPr anchor="ctr" marL="91440" marR="54864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‘리스크 큰 것부터 증명하고, 정확히 만들고, 세상에 올린다’ — 5개 스프린트 · 멘토링 4회 피드백 반영 · 담당: PM·공통 / 기업개요 / 밸류에이션 / AI 챗봇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시스템 아키텍처</a:t>
            </a:r>
          </a:p>
          <a:p>
            <a:r>
              <a:rPr sz="2800" b="1">
                <a:solidFill>
                  <a:srgbClr val="1F3A5F"/>
                </a:solidFill>
              </a:rPr>
              <a:t>AWS 위에서 실제로 돌아가는 서비스</a:t>
            </a:r>
          </a:p>
        </p:txBody>
      </p:sp>
      <p:pic>
        <p:nvPicPr>
          <p:cNvPr id="3" name="Picture 2" descr="system_architecture_06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350" y="1325880"/>
            <a:ext cx="89349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데이터 파이프라인</a:t>
            </a:r>
          </a:p>
          <a:p>
            <a:r>
              <a:rPr sz="2800" b="1">
                <a:solidFill>
                  <a:srgbClr val="1F3A5F"/>
                </a:solidFill>
              </a:rPr>
              <a:t>수집 → 정규화·생성 → 검증(NO-MOCK) → 적재 → 서빙</a:t>
            </a:r>
          </a:p>
        </p:txBody>
      </p:sp>
      <p:pic>
        <p:nvPicPr>
          <p:cNvPr id="3" name="Picture 2" descr="data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325880"/>
            <a:ext cx="877824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데이터 구조 · ERD</a:t>
            </a:r>
          </a:p>
          <a:p>
            <a:r>
              <a:rPr sz="2800" b="1">
                <a:solidFill>
                  <a:srgbClr val="1F3A5F"/>
                </a:solidFill>
              </a:rPr>
              <a:t>폴리글랏 4-DB · 종목코드로 묶인 16테이블</a:t>
            </a:r>
          </a:p>
        </p:txBody>
      </p:sp>
      <p:pic>
        <p:nvPicPr>
          <p:cNvPr id="3" name="Picture 2" descr="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634" y="1325880"/>
            <a:ext cx="90584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F5597"/>
                </a:solidFill>
              </a:rPr>
              <a:t>기술 스택</a:t>
            </a:r>
          </a:p>
          <a:p>
            <a:r>
              <a:rPr sz="2800" b="1">
                <a:solidFill>
                  <a:srgbClr val="1F3A5F"/>
                </a:solidFill>
              </a:rPr>
              <a:t>무엇으로 만들었나 — 계층별 선택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프론트엔드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Next.js 16 · React 19 (SSR·standalone)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TypeScript · Tailwind CSS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recharts 차트·시각화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5112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백엔드 · API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FastAPI (Python) · REST :8090 비동기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psycopg3 · pymongo (DB 드라이버)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systemd · nginx (기동·프록시)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8193024" y="1508760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데이터 · 저장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PostgreSQL (RDS) · 16테이블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MongoDB · ChromaDB (문서·벡터)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AWS S3 (파일 서빙)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AI · RAG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BGE-M3 1024d · 리랭커 (로컬 GPU)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OpenAI gpt-5-mini (답변·진단)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자체 RAG 파이프라인 (LangChain 미사용)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5112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인프라 · 운영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AWS EC2(GPU) · RDS · S3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HTTPS · Let's Encrypt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.env 런타임 로드 (시크릿 0 커밋)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3024" y="3950208"/>
            <a:ext cx="3703320" cy="2240280"/>
          </a:xfrm>
          <a:prstGeom prst="rect">
            <a:avLst/>
          </a:prstGeom>
          <a:solidFill>
            <a:srgbClr val="F7F9FC"/>
          </a:solidFill>
          <a:ln w="12700">
            <a:solidFill>
              <a:srgbClr val="D9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28016"/>
          <a:lstStyle/>
          <a:p>
            <a:pPr algn="ctr"/>
            <a:r>
              <a:rPr sz="1500" b="1">
                <a:solidFill>
                  <a:srgbClr val="1F3A5F"/>
                </a:solidFill>
              </a:rPr>
              <a:t>개발 · 협업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Claude Code · Design · v0.dev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GitHub (feature + PR)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0F172A"/>
                </a:solidFill>
              </a:rPr>
              <a:t>· Notion · Google Drive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</a:rPr>
              <a:t>AI는 자체 파이프라인으로 제어 — LangChain 미사용·경량화 / 모든 시크릿은 .env 런타임 로드(하드코딩·커밋 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