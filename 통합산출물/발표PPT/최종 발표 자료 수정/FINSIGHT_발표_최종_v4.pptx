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8"/>
    <p:sldId id="268" r:id="rId19"/>
    <p:sldId id="266" r:id="rId17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맑은 고딕"/>
              </a:rPr>
              <a:t>FINSIGHT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926080" cy="5486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564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6C58A"/>
                </a:solidFill>
                <a:latin typeface="맑은 고딕"/>
              </a:rPr>
              <a:t>AI 기반 기업 분석 · 가치 평가 정보 지원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245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B9C4D6"/>
                </a:solidFill>
                <a:latin typeface="맑은 고딕"/>
              </a:rPr>
              <a:t>공시(DART)·시세(KRX) 기반 · 어려운 정보를 쉽게 · 모든 수치에 출처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28FA6"/>
                </a:solidFill>
                <a:latin typeface="맑은 고딕"/>
              </a:rPr>
              <a:t>KPMG AI Lab   ·   FILMN9 Inc.   ·   2026.06.20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7724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E2742"/>
                </a:solidFill>
                <a:latin typeface="맑은 고딕"/>
              </a:rPr>
              <a:t>발표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237744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573"/>
                </a:solidFill>
                <a:latin typeface="맑은 고딕"/>
              </a:rPr>
              <a:t>FINSIGHT가 무엇을, 왜,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573"/>
                </a:solidFill>
                <a:latin typeface="맑은 고딕"/>
              </a:rPr>
              <a:t>어떻게 만들었는지 —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573"/>
                </a:solidFill>
                <a:latin typeface="맑은 고딕"/>
              </a:rPr>
              <a:t>여덟 단계로 설명드립니다.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868680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868680"/>
            <a:ext cx="82296" cy="676656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868680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2742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868680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기획 배경 · 페르소나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91056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591056"/>
            <a:ext cx="82296" cy="676656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91056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2742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591056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개발 과정 &amp; 시스템 설계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13432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313432"/>
            <a:ext cx="82296" cy="676656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313432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2742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313432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프로젝트 팀 역할 분담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035808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035808"/>
            <a:ext cx="82296" cy="676656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035808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2742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35808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비즈니스 모델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58184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758184"/>
            <a:ext cx="82296" cy="676656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758184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2742"/>
                </a:solidFill>
                <a:latin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758184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밸류에이션 설명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480560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4480560"/>
            <a:ext cx="82296" cy="676656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480560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2742"/>
                </a:solidFill>
                <a:latin typeface="맑은 고딕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480560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AWS 배포 버전 시연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5202936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5202936"/>
            <a:ext cx="82296" cy="67665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5202936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B5872B"/>
                </a:solidFill>
                <a:latin typeface="맑은 고딕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5202936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Appendix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925312"/>
            <a:ext cx="5486400" cy="676656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5925312"/>
            <a:ext cx="82296" cy="67665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925312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B5872B"/>
                </a:solidFill>
                <a:latin typeface="맑은 고딕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925312"/>
            <a:ext cx="42976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0E2742"/>
                </a:solidFill>
                <a:latin typeface="맑은 고딕"/>
              </a:rPr>
              <a:t>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01 · 기획 배경 ·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0E2742"/>
                </a:solidFill>
                <a:latin typeface="맑은 고딕"/>
              </a:rPr>
              <a:t>기획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11338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1A2430"/>
                </a:solidFill>
                <a:latin typeface="맑은 고딕"/>
              </a:rPr>
              <a:t>방대하고 다양한 투자 정보의 바다에서, 거짓 없는 신뢰 정보만을 스스로 학습하고 옳고 그름을 판단해 위험을 헷지합니다.</a:t>
            </a:r>
          </a:p>
          <a:p>
            <a:pPr algn="l">
              <a:spcAft>
                <a:spcPts val="300"/>
              </a:spcAft>
            </a:pPr>
            <a:r>
              <a:rPr sz="1550" b="0" i="0">
                <a:solidFill>
                  <a:srgbClr val="1A2430"/>
                </a:solidFill>
                <a:latin typeface="맑은 고딕"/>
              </a:rPr>
              <a:t>정보의 비대칭을 조금이나마 줄여 주는 — AI 기반 기업 분석 및 가치 평가 정보 지원 서비스입니다.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2032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42032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맑은 고딕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42032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맑은 고딕"/>
              </a:rPr>
              <a:t>페르소나 · 일반 투자자  </a:t>
            </a:r>
            <a:r>
              <a:rPr sz="1350" b="0" i="0">
                <a:solidFill>
                  <a:srgbClr val="C9D3E2"/>
                </a:solidFill>
                <a:latin typeface="맑은 고딕"/>
              </a:rPr>
              <a:t>— 주식은 시작했지만, 무엇을 어떻게 봐야 할지 막막한 개인 투자자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10128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310128"/>
            <a:ext cx="2697480" cy="109728"/>
          </a:xfrm>
          <a:prstGeom prst="rect">
            <a:avLst/>
          </a:prstGeom>
          <a:solidFill>
            <a:srgbClr val="A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58444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82828"/>
                </a:solidFill>
                <a:latin typeface="맑은 고딕"/>
              </a:rPr>
              <a:t>“정보가 흩어져 있다”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361688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공시는 DART, 시세는 증권앱,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뉴스는 포털 — 매번 창을 옮긴다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3310128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3310128"/>
            <a:ext cx="2697480" cy="109728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358444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“용어가 너무 어렵다”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361688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PER·DCF·WACC… 비전공자에겐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외국어. 결국 ‘느낌’으로 산다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310128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3310128"/>
            <a:ext cx="2697480" cy="109728"/>
          </a:xfrm>
          <a:prstGeom prst="rect">
            <a:avLst/>
          </a:prstGeom>
          <a:solidFill>
            <a:srgbClr val="2A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8444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5E9E"/>
                </a:solidFill>
                <a:latin typeface="맑은 고딕"/>
              </a:rPr>
              <a:t>“출처를 못 믿겠다”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61688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유튜브·단톡방 ‘카더라’.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근거를 확인할 길이 없다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3310128"/>
            <a:ext cx="2697480" cy="246888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3310128"/>
            <a:ext cx="2697480" cy="109728"/>
          </a:xfrm>
          <a:prstGeom prst="rect">
            <a:avLst/>
          </a:prstGeom>
          <a:solidFill>
            <a:srgbClr val="3B3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3584448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B37B0"/>
                </a:solidFill>
                <a:latin typeface="맑은 고딕"/>
              </a:rPr>
              <a:t>“비싼지 싼지 모르겠다”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4361688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적정가를 가늠할 기준이 없어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A2430"/>
                </a:solidFill>
                <a:latin typeface="맑은 고딕"/>
              </a:rPr>
              <a:t>사도 되는지 판단이 안 선다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573"/>
                </a:solidFill>
                <a:latin typeface="맑은 고딕"/>
              </a:rPr>
              <a:t>결국 문제는 ‘정보 비대칭’ — 이 문제들을 FINSIGHT가 어떤 정보로 푸는지 지금부터 화면으로 보여드립니다.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02 · 개발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0E2742"/>
                </a:solidFill>
                <a:latin typeface="맑은 고딕"/>
              </a:rPr>
              <a:t>WBS — 킥오프에서 최종 발표까지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6573"/>
                </a:solidFill>
                <a:latin typeface="맑은 고딕"/>
              </a:rPr>
              <a:t>5개 스프린트 · 멘토링 4회 반영 · 스프린트 2부터 파트별 역할 분담.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573"/>
                </a:solidFill>
                <a:latin typeface="맑은 고딕"/>
              </a:rPr>
              <a:t>기업분석 파트(재무·브리핑·관리자)와 밸류에이션 파트(엔진·4-Way·챗봇)가 각 스프린트를 병행 진행.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573"/>
                </a:solidFill>
                <a:latin typeface="맑은 고딕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651760" cy="429768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286000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단계 (기간)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286000"/>
            <a:ext cx="6492240" cy="429768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2286000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핵심 작업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286000"/>
            <a:ext cx="2468880" cy="429768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0656" y="2286000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담당 파트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15768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715768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742"/>
                </a:solidFill>
                <a:latin typeface="맑은 고딕"/>
              </a:rPr>
              <a:t>킥오프 (4/22~24)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715768"/>
            <a:ext cx="6492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2715768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맑은 고딕"/>
              </a:rPr>
              <a:t>프로젝트 헌장 · 페르소나 · WBS 초안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715768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6" y="2715768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맑은 고딕"/>
              </a:rPr>
              <a:t>PM · 공통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45536"/>
            <a:ext cx="265176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145536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742"/>
                </a:solidFill>
                <a:latin typeface="맑은 고딕"/>
              </a:rPr>
              <a:t>S1 (4/27~28)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145536"/>
            <a:ext cx="649224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8416" y="3145536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맑은 고딕"/>
              </a:rPr>
              <a:t>기획서 · 요구사항정의서 · 협업환경 구축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145536"/>
            <a:ext cx="246888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6" y="3145536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맑은 고딕"/>
              </a:rPr>
              <a:t>PM · 공통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75304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575304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742"/>
                </a:solidFill>
                <a:latin typeface="맑은 고딕"/>
              </a:rPr>
              <a:t>S2 (4/29~5/9)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575304"/>
            <a:ext cx="6492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28416" y="3575304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맑은 고딕"/>
              </a:rPr>
              <a:t>개발환경 구축 · 기초데이터 수집·정제(DART·KRX) · 밸류 엔진(WACC·DCF·멀티플)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575304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0656" y="3575304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5E9E"/>
                </a:solidFill>
                <a:latin typeface="맑은 고딕"/>
              </a:rPr>
              <a:t>기업분석 / 밸류에이션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005072"/>
            <a:ext cx="265176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4005072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742"/>
                </a:solidFill>
                <a:latin typeface="맑은 고딕"/>
              </a:rPr>
              <a:t>S3 (5/12~22)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4005072"/>
            <a:ext cx="649224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28416" y="4005072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맑은 고딕"/>
              </a:rPr>
              <a:t>기업분석 화면 · AI 히스토리 브리핑 · Next.js UI · 1차 배포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4005072"/>
            <a:ext cx="246888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0656" y="4005072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5E9E"/>
                </a:solidFill>
                <a:latin typeface="맑은 고딕"/>
              </a:rPr>
              <a:t>기업분석 / 밸류에이션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434840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434840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742"/>
                </a:solidFill>
                <a:latin typeface="맑은 고딕"/>
              </a:rPr>
              <a:t>S4 (5/26~6/5)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4434840"/>
            <a:ext cx="6492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8416" y="4434840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맑은 고딕"/>
              </a:rPr>
              <a:t>재무 정확성(3개년) · 브리핑 전수 · 4-Way 밸류 · 관리자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4434840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0656" y="4434840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5E9E"/>
                </a:solidFill>
                <a:latin typeface="맑은 고딕"/>
              </a:rPr>
              <a:t>기업분석 / 밸류에이션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864608"/>
            <a:ext cx="265176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4864608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742"/>
                </a:solidFill>
                <a:latin typeface="맑은 고딕"/>
              </a:rPr>
              <a:t>S5 (6/8~19)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864608"/>
            <a:ext cx="649224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28416" y="4864608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맑은 고딕"/>
              </a:rPr>
              <a:t>DB 클라우드 이관 · 계열사 전종목 · 메인 리디자인 · 챗봇 GPU · AWS+HTTPS · QA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4864608"/>
            <a:ext cx="2468880" cy="429768"/>
          </a:xfrm>
          <a:prstGeom prst="rect">
            <a:avLst/>
          </a:prstGeom>
          <a:solidFill>
            <a:srgbClr val="E6ECF4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0656" y="4864608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5E9E"/>
                </a:solidFill>
                <a:latin typeface="맑은 고딕"/>
              </a:rPr>
              <a:t>기업분석 / 밸류에이션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294376"/>
            <a:ext cx="26517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" y="5294376"/>
            <a:ext cx="246887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E2742"/>
                </a:solidFill>
                <a:latin typeface="맑은 고딕"/>
              </a:rPr>
              <a:t>최종 발표 (6/20)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5294376"/>
            <a:ext cx="6492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28416" y="5294376"/>
            <a:ext cx="6309359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430"/>
                </a:solidFill>
                <a:latin typeface="맑은 고딕"/>
              </a:rPr>
              <a:t>최종 발표 · 라이브 시연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5294376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0656" y="5294376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2430"/>
                </a:solidFill>
                <a:latin typeface="맑은 고딕"/>
              </a:rPr>
              <a:t>전원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02 ·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E2742"/>
                </a:solidFill>
                <a:latin typeface="맑은 고딕"/>
              </a:rPr>
              <a:t>시스템 아키텍처</a:t>
            </a:r>
          </a:p>
        </p:txBody>
      </p:sp>
      <p:pic>
        <p:nvPicPr>
          <p:cNvPr id="5" name="Picture 4" descr="s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79" y="1627632"/>
            <a:ext cx="7759337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573"/>
                </a:solidFill>
                <a:latin typeface="맑은 고딕"/>
              </a:rPr>
              <a:t>AWS 클라우드 위에서 웹·API(24/7)와 GPU 챗봇(온디맨드)을 분리 운영 — 4개 저장소로 폴리글랏 구성.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573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02 · 데이터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E2742"/>
                </a:solidFill>
                <a:latin typeface="맑은 고딕"/>
              </a:rPr>
              <a:t>데이터 파이프라인</a:t>
            </a:r>
          </a:p>
        </p:txBody>
      </p:sp>
      <p:pic>
        <p:nvPicPr>
          <p:cNvPr id="5" name="Picture 4" descr="s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243" y="1627632"/>
            <a:ext cx="7623208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573"/>
                </a:solidFill>
                <a:latin typeface="맑은 고딕"/>
              </a:rPr>
              <a:t>수집 → 정규화·생성 → 검증(NO-MOCK) → 적재(4저장소) → 서빙. 배치·실시간 이원화.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573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02 · 데이터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E2742"/>
                </a:solidFill>
                <a:latin typeface="맑은 고딕"/>
              </a:rPr>
              <a:t>ERD</a:t>
            </a:r>
          </a:p>
        </p:txBody>
      </p:sp>
      <p:pic>
        <p:nvPicPr>
          <p:cNvPr id="5" name="Picture 4" descr="s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82" y="1627632"/>
            <a:ext cx="7866529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A6573"/>
                </a:solidFill>
                <a:latin typeface="맑은 고딕"/>
              </a:rPr>
              <a:t>관계형 핵심 16테이블(운영 13)은 RDS, 문서·벡터·파일은 Mongo·Chroma·S3로 분리.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573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02 ·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0E2742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6573"/>
                </a:solidFill>
                <a:latin typeface="맑은 고딕"/>
              </a:rPr>
              <a:t>프론트엔드 · 백엔드 · 데이터 · AI · 인프라 전 계층을 직접 구축했습니다.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573"/>
                </a:solidFill>
                <a:latin typeface="맑은 고딕"/>
              </a:rPr>
              <a:t>AI는 '찾기'만 맡고 판단은 정해진 규칙이 — 환각을 막는 구조로 설계.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573"/>
                </a:solidFill>
                <a:latin typeface="맑은 고딕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8872" cy="1078992"/>
          </a:xfrm>
          <a:prstGeom prst="rect">
            <a:avLst/>
          </a:prstGeom>
          <a:solidFill>
            <a:srgbClr val="2A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42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A5E9E"/>
                </a:solidFill>
                <a:latin typeface="맑은 고딕"/>
              </a:rPr>
              <a:t>프론트엔드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944368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430"/>
                </a:solidFill>
                <a:latin typeface="맑은 고딕"/>
              </a:rPr>
              <a:t>Next.js 16 · React 19 · TypeScript · 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77440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377440"/>
            <a:ext cx="118872" cy="1078992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542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E2742"/>
                </a:solidFill>
                <a:latin typeface="맑은 고딕"/>
              </a:rPr>
              <a:t>백엔드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44368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430"/>
                </a:solidFill>
                <a:latin typeface="맑은 고딕"/>
              </a:rPr>
              <a:t>FastAPI · Python · Uvicorn · systemd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47872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47872"/>
            <a:ext cx="118872" cy="1078992"/>
          </a:xfrm>
          <a:prstGeom prst="rect">
            <a:avLst/>
          </a:prstGeom>
          <a:solidFill>
            <a:srgbClr val="3B3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12463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B37B0"/>
                </a:solidFill>
                <a:latin typeface="맑은 고딕"/>
              </a:rPr>
              <a:t>데이터베이스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430"/>
                </a:solidFill>
                <a:latin typeface="맑은 고딕"/>
              </a:rPr>
              <a:t>PostgreSQL(RDS) · MongoDB Atlas · ChromaDB · SQLite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47872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547872"/>
            <a:ext cx="118872" cy="1078992"/>
          </a:xfrm>
          <a:prstGeom prst="rect">
            <a:avLst/>
          </a:prstGeom>
          <a:solidFill>
            <a:srgbClr val="7A5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712463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5212"/>
                </a:solidFill>
                <a:latin typeface="맑은 고딕"/>
              </a:rPr>
              <a:t>AI ·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430"/>
                </a:solidFill>
                <a:latin typeface="맑은 고딕"/>
              </a:rPr>
              <a:t>OpenAI gpt-5-mini · BGE-M3 임베딩 · bge-reranker · 온톨로지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18304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18304"/>
            <a:ext cx="118872" cy="1078992"/>
          </a:xfrm>
          <a:prstGeom prst="rect">
            <a:avLst/>
          </a:prstGeom>
          <a:solidFill>
            <a:srgbClr val="1A6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8828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A6E47"/>
                </a:solidFill>
                <a:latin typeface="맑은 고딕"/>
              </a:rPr>
              <a:t>밸류 엔진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28523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430"/>
                </a:solidFill>
                <a:latin typeface="맑은 고딕"/>
              </a:rPr>
              <a:t>DCF · EPV · 멀티플(4종) · 피어 자동선정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718304"/>
            <a:ext cx="5532120" cy="1078992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718304"/>
            <a:ext cx="118872" cy="1078992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8828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3555"/>
                </a:solidFill>
                <a:latin typeface="맑은 고딕"/>
              </a:rPr>
              <a:t>인프라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528523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2430"/>
                </a:solidFill>
                <a:latin typeface="맑은 고딕"/>
              </a:rPr>
              <a:t>AWS EC2·RDS·S3 · nginx · Let's Encrypt(HTTPS)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03 · 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0E2742"/>
                </a:solidFill>
                <a:latin typeface="맑은 고딕"/>
              </a:rPr>
              <a:t>팀 구성 · 역할 분담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6573"/>
                </a:solidFill>
                <a:latin typeface="맑은 고딕"/>
              </a:rPr>
              <a:t>파트별 책임 영역으로 나눠 개발하고, 통합·배포·QA는 공통으로 진행했습니다.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573"/>
                </a:solidFill>
                <a:latin typeface="맑은 고딕"/>
              </a:rPr>
              <a:t>각자 맡은 파트를 책임 개발 → 통합·배포·검증은 공통 영역에서 함께.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573"/>
                </a:solidFill>
                <a:latin typeface="맑은 고딕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712463" cy="347472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3712463" cy="118872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33472"/>
            <a:ext cx="3255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2742"/>
                </a:solidFill>
                <a:latin typeface="맑은 고딕"/>
              </a:rPr>
              <a:t>이형주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27248"/>
            <a:ext cx="3255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A6573"/>
                </a:solidFill>
                <a:latin typeface="맑은 고딕"/>
              </a:rPr>
              <a:t>PM · 공통 + 기업분석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66160"/>
            <a:ext cx="325526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프로젝트 헌장 · 기획 · 요구사항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WBS · QA · 발표 총괄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재무 · 주가차트 · BS/IS · Sankey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전자공시 · 메인 · 통합검색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관리자 · AWS 배포 · 전수검수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377440"/>
            <a:ext cx="3712463" cy="347472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377440"/>
            <a:ext cx="3712463" cy="118872"/>
          </a:xfrm>
          <a:prstGeom prst="rect">
            <a:avLst/>
          </a:prstGeom>
          <a:solidFill>
            <a:srgbClr val="1A6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633472"/>
            <a:ext cx="3255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6E47"/>
                </a:solidFill>
                <a:latin typeface="맑은 고딕"/>
              </a:rPr>
              <a:t>고휘주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127248"/>
            <a:ext cx="3255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A6573"/>
                </a:solidFill>
                <a:latin typeface="맑은 고딕"/>
              </a:rPr>
              <a:t>기업분석 (콘텐츠)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566160"/>
            <a:ext cx="325526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AI 히스토리 브리핑 (RAG)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최신 뉴스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계열사 시각화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4-Phase 신뢰도 검증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MongoDB Atlas 적재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377440"/>
            <a:ext cx="3712463" cy="347472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377440"/>
            <a:ext cx="3712463" cy="118872"/>
          </a:xfrm>
          <a:prstGeom prst="rect">
            <a:avLst/>
          </a:prstGeom>
          <a:solidFill>
            <a:srgbClr val="3B3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2633472"/>
            <a:ext cx="3255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B37B0"/>
                </a:solidFill>
                <a:latin typeface="맑은 고딕"/>
              </a:rPr>
              <a:t>유태상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127248"/>
            <a:ext cx="3255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A6573"/>
                </a:solidFill>
                <a:latin typeface="맑은 고딕"/>
              </a:rPr>
              <a:t>밸류에이션 + AI 챗봇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566160"/>
            <a:ext cx="325526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밸류 엔진 (DCF·멀티플·WACC)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밸류에이션 탭 전체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관리자 (밸류 운영·테스트)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AI 챗봇 RAG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피어 자동선정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872B"/>
                </a:solidFill>
                <a:latin typeface="맑은 고딕"/>
              </a:rPr>
              <a:t>04 · 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0E2742"/>
                </a:solidFill>
                <a:latin typeface="맑은 고딕"/>
              </a:rPr>
              <a:t>비즈니스 모델 — 예산 · 수익 · 손익분기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A6573"/>
                </a:solidFill>
                <a:latin typeface="맑은 고딕"/>
              </a:rPr>
              <a:t>실제 결제 기준. 단가·구독료 등 추정치는 '(가정)'으로 명시합니다 (NO-MOCK).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A6573"/>
                </a:solidFill>
                <a:latin typeface="맑은 고딕"/>
              </a:rPr>
              <a:t>AI 운영비를 로컬 GPU로 최소화 + AWS 크레딧 활용 → 실 현금지출 최소화.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A6573"/>
                </a:solidFill>
                <a:latin typeface="맑은 고딕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18872" cy="3657600"/>
          </a:xfrm>
          <a:prstGeom prst="rect">
            <a:avLst/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2742"/>
                </a:solidFill>
                <a:latin typeface="맑은 고딕"/>
              </a:rPr>
              <a:t>개발 예산 (원가)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5120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인건비  맨먼스 약 6 MM (단가 가정)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Claude Code Max  ₩187,000 / 월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ChatGPT Plus  약 ₩27,000 / 월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OpenAI API(gpt-5-mini)  사용량 비례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AWS  프리·크레딧 커버 (실부담 ₩0)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도메인  연 약 ₩15,000 (가정)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4937760" cy="713232"/>
          </a:xfrm>
          <a:prstGeom prst="roundRect">
            <a:avLst>
              <a:gd name="adj" fmla="val 6000"/>
            </a:avLst>
          </a:prstGeom>
          <a:solidFill>
            <a:srgbClr val="0E2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07492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총 개발원가  </a:t>
            </a:r>
            <a:r>
              <a:rPr sz="1800" b="1" i="0">
                <a:solidFill>
                  <a:srgbClr val="F1CB7A"/>
                </a:solidFill>
                <a:latin typeface="맑은 고딕"/>
              </a:rPr>
              <a:t>약 2,450만원</a:t>
            </a:r>
            <a:r>
              <a:rPr sz="1100" b="0" i="0">
                <a:solidFill>
                  <a:srgbClr val="C9D3E2"/>
                </a:solidFill>
                <a:latin typeface="맑은 고딕"/>
              </a:rPr>
              <a:t> (인건비 단가 가정)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28600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286000"/>
            <a:ext cx="118872" cy="3657600"/>
          </a:xfrm>
          <a:prstGeom prst="rect">
            <a:avLst/>
          </a:prstGeom>
          <a:solidFill>
            <a:srgbClr val="1A6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505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6E47"/>
                </a:solidFill>
                <a:latin typeface="맑은 고딕"/>
              </a:rPr>
              <a:t>수익 모델 · 손익분기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52928"/>
            <a:ext cx="5120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2430"/>
                </a:solidFill>
                <a:latin typeface="맑은 고딕"/>
              </a:rPr>
              <a:t>Free  </a:t>
            </a:r>
            <a:r>
              <a:rPr sz="1200" b="0" i="0">
                <a:solidFill>
                  <a:srgbClr val="1A2430"/>
                </a:solidFill>
                <a:latin typeface="맑은 고딕"/>
              </a:rPr>
              <a:t>기본 분석·검색·히스토리 브리핑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6E47"/>
                </a:solidFill>
                <a:latin typeface="맑은 고딕"/>
              </a:rPr>
              <a:t>Pro 유료화  </a:t>
            </a:r>
            <a:r>
              <a:rPr sz="1200" b="0" i="0">
                <a:solidFill>
                  <a:srgbClr val="1A2430"/>
                </a:solidFill>
                <a:latin typeface="맑은 고딕"/>
              </a:rPr>
              <a:t>심층 밸류(DCF 시나리오)·적정가 알림·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        관심종목 리포트·AI 챗봇 무제한·API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가격(가정)  Pro 월 9,900원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2430"/>
                </a:solidFill>
                <a:latin typeface="맑은 고딕"/>
              </a:rPr>
              <a:t>· 운영비(가정)  서버·API 약 월 20만원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983480"/>
            <a:ext cx="4937760" cy="841248"/>
          </a:xfrm>
          <a:prstGeom prst="roundRect">
            <a:avLst>
              <a:gd name="adj" fmla="val 6000"/>
            </a:avLst>
          </a:prstGeom>
          <a:solidFill>
            <a:srgbClr val="1A6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983480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손익분기  </a:t>
            </a:r>
            <a:r>
              <a:rPr sz="1500" b="1" i="0">
                <a:solidFill>
                  <a:srgbClr val="CFF0DC"/>
                </a:solidFill>
                <a:latin typeface="맑은 고딕"/>
              </a:rPr>
              <a:t>약 21명 구독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구독 300명 시  개발원가 </a:t>
            </a:r>
            <a:r>
              <a:rPr sz="1500" b="1" i="0">
                <a:solidFill>
                  <a:srgbClr val="CFF0DC"/>
                </a:solidFill>
                <a:latin typeface="맑은 고딕"/>
              </a:rPr>
              <a:t>약 9개월 회수</a:t>
            </a:r>
            <a:r>
              <a:rPr sz="1000" b="0" i="0">
                <a:solidFill>
                  <a:srgbClr val="CFF0DC"/>
                </a:solidFill>
                <a:latin typeface="맑은 고딕"/>
              </a:rPr>
              <a:t> (가정)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651760"/>
            <a:ext cx="1218895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AWS 배포 버전 시연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4069080"/>
            <a:ext cx="1828800" cy="54864"/>
          </a:xfrm>
          <a:prstGeom prst="rect">
            <a:avLst/>
          </a:prstGeom>
          <a:solidFill>
            <a:srgbClr val="B58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E6C58A"/>
                </a:solidFill>
                <a:latin typeface="맑은 고딕"/>
              </a:rPr>
              <a:t>실서비스 라이브 접속  ·  https://43.203.94.124.nip.io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① 상대가치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‘옆 회사와 비교’ — 지금 비싼가 싼가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받는 가격과 견줘, 우리 회사가 비싼지 싼지를 봅니다. (상세 산식은 별도 밸류 PPT)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멀티플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시장에서 받는 ‘가격 배수’(PER·EV/EBITDA·EV/Sales·PBR)를 우리 회사에 적용해 적정가를 매기는 방법이에요. 네 잣대로 보고 가운데값으로 종합합니다.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적정가 &gt; 현재가  </a:t>
            </a:r>
            <a:r>
              <a:rPr lang="en-US" sz="1200" dirty="0">
                <a:solidFill>
                  <a:srgbClr val="1E293B"/>
                </a:solidFill>
              </a:rPr>
              <a:t>동종 대비 ‘싼 편’(상승 여지) · 반대면 ‘비싼 편’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맹신 금지  </a:t>
            </a:r>
            <a:r>
              <a:rPr lang="en-US" sz="1200" dirty="0">
                <a:solidFill>
                  <a:srgbClr val="1E293B"/>
                </a:solidFill>
              </a:rPr>
              <a:t>‘반드시 오른다’는 아님 — 같은 업종·이익 안정·여러 잣대가 같은 방향일 때 신뢰↑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주의  </a:t>
            </a:r>
            <a:r>
              <a:rPr lang="en-US" sz="1200" dirty="0">
                <a:solidFill>
                  <a:srgbClr val="1E293B"/>
                </a:solidFill>
              </a:rPr>
              <a:t>적자·고성장주는 이익이 흔들려 이 값도 출렁 → 참고로만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피어기업 선정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비교하느냐가 결과의 절반이에요. WICS 업종 + 사업 유사도(AI) 등 10가지를 가중 채점(업종18·시총15·사업내용10·수익성·성장·매출…)해 40점 넘는 상위 3사를 자동 선정합니다.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신뢰도 A~E  </a:t>
            </a:r>
            <a:r>
              <a:rPr lang="en-US" sz="1200" dirty="0">
                <a:solidFill>
                  <a:srgbClr val="1E293B"/>
                </a:solidFill>
              </a:rPr>
              <a:t>‘이번 비교를 얼마나 잘 골랐나’ — A면 안심, 낮으면 멀티플 결과도 조심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한계 인지  </a:t>
            </a:r>
            <a:r>
              <a:rPr lang="en-US" sz="1200" dirty="0">
                <a:solidFill>
                  <a:srgbClr val="1E293B"/>
                </a:solidFill>
              </a:rPr>
              <a:t>자동 선정이라 가끔 다른 업종이 섞일 수 있어요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확인 습관  </a:t>
            </a:r>
            <a:r>
              <a:rPr lang="en-US" sz="1200" dirty="0">
                <a:solidFill>
                  <a:srgbClr val="1E293B"/>
                </a:solidFill>
              </a:rPr>
              <a:t>비교에 쓴 회사 목록을 직접 보고 납득되는지 확인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② 절대가치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‘미래에 벌 돈’의 오늘 값 — 내재가치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 현금을 직접 계산해 오늘 가치로 환산합니다. 옆 회사와 무관한 ‘회사 본연의 값’이에요.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DCF · 절대가치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벌어들일 현금(FCFF)을 5년 예측하고, 그 이후는 영구가치로 묶어, 할인율(WACC)로 깎아 ‘오늘 값’으로 환산한 내재가치예요. 미래를 가정하므로 비관·기본·낙관 ‘범위’로 제시합니다.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‘정답 가격’ 아님  </a:t>
            </a:r>
            <a:r>
              <a:rPr lang="en-US" sz="1200" dirty="0">
                <a:solidFill>
                  <a:srgbClr val="1E293B"/>
                </a:solidFill>
              </a:rPr>
              <a:t>가정에 민감해 현재가와 차이 클 수 있어 — 하나의 숫자보다 ‘범위’로 보세요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괴리 = 시장 기대  </a:t>
            </a:r>
            <a:r>
              <a:rPr lang="en-US" sz="1200" dirty="0">
                <a:solidFill>
                  <a:srgbClr val="1E293B"/>
                </a:solidFill>
              </a:rPr>
              <a:t>내재가치&lt;현재가=시장이 낙관(거품 주의) · &gt;현재가=보수적(기회일 수도)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단단한 신호  </a:t>
            </a:r>
            <a:r>
              <a:rPr lang="en-US" sz="1200" dirty="0">
                <a:solidFill>
                  <a:srgbClr val="1E293B"/>
                </a:solidFill>
              </a:rPr>
              <a:t>‘필요 성장률’ — 경제성장(~3%)보다 너무 높으면 거품, 낮으면 저평가 신호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· 할인율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자본(주주 돈 + 빌린 돈)을 끌어다 쓰는 데 드는 평균 비용이자, 미래의 돈을 오늘 값으로 깎는 ‘할인율’이에요. 보통 8~13% 범위입니다.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4F0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최소 합격선  </a:t>
            </a:r>
            <a:r>
              <a:rPr lang="en-US" sz="1200" dirty="0">
                <a:solidFill>
                  <a:srgbClr val="1E293B"/>
                </a:solidFill>
              </a:rPr>
              <a:t>회사가 넘어야 할 기준 — ROIC &gt; WACC면 ‘가치 창출’(좋은 회사)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높을수록 깐깐  </a:t>
            </a:r>
            <a:r>
              <a:rPr lang="en-US" sz="1200" dirty="0">
                <a:solidFill>
                  <a:srgbClr val="1E293B"/>
                </a:solidFill>
              </a:rPr>
              <a:t>위험한 회사일수록 WACC↑ → 미래 이익을 더 작게 봐 내재가치↓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주의 (Ke와 구분)  </a:t>
            </a:r>
            <a:r>
              <a:rPr lang="en-US" sz="1200" dirty="0">
                <a:solidFill>
                  <a:srgbClr val="1E293B"/>
                </a:solidFill>
              </a:rPr>
              <a:t>주주 개인의 최소 요구수익률은 WACC가 아니라 Ke(자기자본비용) · 보통 Ke&gt;WACC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68096" y="2834640"/>
            <a:ext cx="2926080" cy="73152"/>
          </a:xfrm>
          <a:prstGeom prst="roundRect">
            <a:avLst>
              <a:gd name="adj" fmla="val 50000"/>
            </a:avLst>
          </a:prstGeom>
          <a:solidFill>
            <a:srgbClr val="C7922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3232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6941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출처(DART·KRX) · 쉬운 두 깊이 · 스스로 판단 — 정보 격차를 줄이는 첫걸음.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20436B"/>
          </a:solidFill>
          <a:ln w="15875">
            <a:solidFill>
              <a:srgbClr val="C7922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4480560"/>
            <a:ext cx="4206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감사합니다   </a:t>
            </a:r>
            <a:pPr algn="ctr" indent="0" marL="0">
              <a:buNone/>
            </a:pPr>
            <a:r>
              <a:rPr lang="en-US" sz="2600" b="1" dirty="0">
                <a:solidFill>
                  <a:srgbClr val="EAC976"/>
                </a:solidFill>
              </a:rPr>
              <a:t>Q &amp;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47365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LIVE   https://43.203.94.124.nip.io   ·   FILMN9 Inc.   ·   2026.06.20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AFB9CC"/>
                </a:solidFill>
                <a:latin typeface="맑은 고딕"/>
              </a:rPr>
              <a:t>※ 본 자료와 서비스의 모든 분석·적정주가는 공개데이터(DART·KRX·한국은행·KOFIA 등)에 근거한 투자 참고 정보이며, 특정 종목의 매수·매도를 권유하지 않습니다. 투자 판단과 책임은 이용자 본인에게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· 비즈니스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원가 — 인건비 + 직접비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투입·결제 내역 기준. 단가 등 추정치는 ‘(가정)’으로 명시합니다 (NO-MOCK).</a:t>
            </a:r>
            <a:endParaRPr lang="en-US" sz="1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93392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5989320"/>
                <a:gridCol w="240487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산식 / 내역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319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인건비 (맨먼스 MM) — 킥오프 4/22 ~ 발표 6/20, 약 2개월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인력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4명 → 현재 2명 · 역할 PM · 백엔드 · 프론트 · QA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3명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맨먼스 환산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3명 × 약 2개월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 MM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인건비 합 (가정)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MM × 월 단가 (가정) — 단가는 팀 확정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47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MM × 단가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직접비 — 실제 결제 (월 기준)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Max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페어코딩 (실결제)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₩187,000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Plus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도구 (실결제) · 약 $20 ≈ ₩27,000 (가정 환율)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₩27,000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API (gpt-5-mini)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챗봇·브리핑 LLM 호출 (사용량 기반)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사용량 비례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EC2·RDS·S3 등 — 프리·크레딧으로 커버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E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실부담 ₩0 (크레딧)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도메인 (연 단위, 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약 ₩15,000 (가정)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운영비를 로컬 GPU로 최소화 + AWS 크레딧 활용 → 실 현금지출은 구독·API 위주. 인건비 단가는 ‘가정’이며 팀 확정 후 대체.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· 비즈니스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— 무료 + Pro 구독 · BEP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137160" cy="3108960"/>
          </a:xfrm>
          <a:prstGeom prst="roundRect">
            <a:avLst>
              <a:gd name="adj" fmla="val 40000"/>
            </a:avLst>
          </a:prstGeom>
          <a:solidFill>
            <a:srgbClr val="64727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773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· 무료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286000"/>
            <a:ext cx="502920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기업개요·재무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 종목 회사정보·재무 하이라이트·전자공시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밸류·브리핑 기본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적정가 요약·AI 히스토리 브리핑 열람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챗봇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일일 질의 횟수 제한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63056" y="1609344"/>
            <a:ext cx="5477256" cy="3108960"/>
          </a:xfrm>
          <a:prstGeom prst="roundRect">
            <a:avLst>
              <a:gd name="adj" fmla="val 2941"/>
            </a:avLst>
          </a:prstGeom>
          <a:solidFill>
            <a:srgbClr val="F5F9FF"/>
          </a:solidFill>
          <a:ln w="25400">
            <a:solidFill>
              <a:srgbClr val="2D6C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09344"/>
            <a:ext cx="137160" cy="31089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7739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· 월 9,900원 </a:t>
            </a:r>
            <a:pPr indent="0" marL="0">
              <a:buNone/>
            </a:pPr>
            <a:r>
              <a:rPr lang="en-US" sz="1300" i="1" dirty="0">
                <a:solidFill>
                  <a:srgbClr val="64727F"/>
                </a:solidFill>
              </a:rPr>
              <a:t>(가정·확정 필요)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3952" y="2286000"/>
            <a:ext cx="502920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밸류 심화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전문가 모드 지표·시나리오·민감도 전체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챗봇 무제한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질의 제한 해제 + 첨부 멀티모달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관심종목·알림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관심종목 트래킹·공시 알림(로드맵)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882896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(BEP)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</a:rPr>
              <a:t>BEP 고객수 =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월 고정 운영비(AWS+API+유지보수) ÷ Pro 객당 월 기여(9,900원)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5742432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월 ‘수백 명’ 수준의 Pro 전환이면 운영 흑자. 일반투자자 시장은 수백만 명 — 전환율 1%만으로도 충분.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가격·고정비는 ‘가정’이며 운영 데이터 확보 후 확정. 핵심: 저비용 운영 구조(로컬 GPU)로 BEP 고객수가 낮다.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 · AI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· 무슨 AI를 · 어떻게 썼나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97680"/>
                <a:gridCol w="1600200"/>
                <a:gridCol w="3410712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기술 / 모델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gpt-5-mini (보조 gpt-4o-mini)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브리핑·챗봇 답변·밸류 진단 해설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검색증강생성 (보고서→Chroma→리랭킹→LLM)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답변·환각 차단·출처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(1024차원)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챗봇·피어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의미 벡터화·유사도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리랭커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GPU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후보 재정렬(로컬 무료)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 · 사업보고서 청크 약 377만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EC2(GPU)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기반 문서 검색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ontology_b (회사·도메인 지식)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의도 보강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gpt-4o (첨부 이미지·PDF) — 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첨부파일 질의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RAGAS · LLM Judge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신뢰도 4-Phase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+ 산업분류(WICS)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밸류 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유사기업 자동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Claude Design · v0.dev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코드·디자인 가속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명시: LangChain = 미사용(자체 파이프라인으로 제어·경량화). 전통 ML = 미사용(베타 추정은 통계기법).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 · 방법론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6대 공식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DCF — 기업가치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Σ FCFF(t)/(1+WACC)^t + TV/(1+WACC)ⁿ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적정주가 = (EV − 순부채) ÷ 발행주식수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FCFF — 잉여현금흐름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= EBIT(1−Tc) + D&amp;A − CapEx − ΔNWC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‘장부이익’ 아닌 ‘실제 남는 현금’ · 리포트로 보정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터미널밸류 — 영구가치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FCFF(n+1) ÷ (WACC − 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고든성장 · 조건 WACC&gt;g · g 1~3% 보수적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— 할인율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(E/V)·Re + (D/V)·Rd·(1−Tc)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4808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주주·채권자 비용을 자본비중으로 가중평균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CAPM — 자기자본비용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= Rf + β·(Rm − Rf)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국고채(ECOS) · β 피어추정 후 Blume·Hamada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0488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멀티플 — 4-Way 교차검증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적정가 = 피어 중위배수 × 타깃지표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64808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PER·PBR·EV/EBITDA 역산 + DCF = 4-Way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5단계: 재무 수집·표준화 → FCFF 추정 → WACC 산출 → DCF 할인·3시나리오 → 4-Way 교차검증. DCF는 가정 기반 ‘참고치’ → 범위로 제시.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 · AI 챗봇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 — 9단계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 신뢰 문서를 먼저 찾아 그 근거 위에서만 답을 생성 → 환각 차단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종목 사업보고서 원문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3892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분할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검색·임베딩 단위로 분절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8796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8796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의미 벡터화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38988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적재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ChromaDB(~40GB·약 377만)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임베딩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3892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벡터공간으로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88796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8796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후보 추출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38988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8988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리랭커 재정렬(무료)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13892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13892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질문 결합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5193792"/>
            <a:ext cx="548640" cy="548640"/>
          </a:xfrm>
          <a:prstGeom prst="ellipse">
            <a:avLst/>
          </a:prstGeom>
          <a:solidFill>
            <a:srgbClr val="C7922E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888796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생성·출처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88796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출처·DART 링크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89904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임베딩·리랭킹은 로컬 GPU(무료), LLM 답변 호출만 유료(질의당 ~5원). 답변마다 출처를 함께 제시.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 — 4-Phase 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사업보고서를 RAG로 요약한 ‘히스토리 브리핑’의 신뢰도를 4단계로 자동 채점·등급화.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매칭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속 숫자가 원본과 일치하는지 대조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9359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실제 문서 근거에 기반하는지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적합성을 정량 평가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전체 품질을 종합 채점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6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82896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약 2,526종 </a:t>
            </a:r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</a:rPr>
              <a:t>브리핑 적재 · 평균 </a:t>
            </a:r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77.1점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저점수 항목은 2-pass 재생성으로 보강 · 관리자 ‘신뢰도 검증’ 탭에서 원본 대조·오류율 관리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검수 — ‘아무 종목이나 눌러도 안 깨진다’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서비스를 전 종목 × 핵심 기능으로 자동 검증 (2026-06-17, AWS 라이브).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50292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대상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활성 2,588종목 × 핵심 11개 API = 28,468건 호출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분류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OK / EMPTY(데이터 갭·정직표기) / FAIL(5xx·타임아웃·파싱오류=버그)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멱등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적재는 재실행해도 결과 동일(UPSERT)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63056" y="2048256"/>
            <a:ext cx="5477256" cy="3657600"/>
          </a:xfrm>
          <a:prstGeom prst="roundRect">
            <a:avLst>
              <a:gd name="adj" fmla="val 2500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검사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50224" y="2688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28,468건 (741초)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버그(FAIL)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→ 전수 추적 결과 무해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50224" y="3712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(재검사 시 정상)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0224" y="4224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 (검색 비노출·무해)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4882896"/>
            <a:ext cx="4892040" cy="713232"/>
          </a:xfrm>
          <a:prstGeom prst="roundRect">
            <a:avLst>
              <a:gd name="adj" fmla="val 12821"/>
            </a:avLst>
          </a:prstGeom>
          <a:solidFill>
            <a:srgbClr val="1631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8828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C976"/>
                </a:solidFill>
              </a:rPr>
              <a:t>데모 차단 버그 0건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·  정상률 99.97%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 EMPTY는 NO-MOCK 정상(적정가 보유 약 2,223종만 표시). 화면 전자공시는 라이브 DART 사용 → DB 공란과 무관.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 · 데이터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지도 — 모든 수치의 출처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OpenAPI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재무제표·사업보고서·공시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/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 (pykrx)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한국거래소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일봉 OHLCV(시·고·저·종·거래량)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거래일 16:00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yfinance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시세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시세·글로벌 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한국은행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국고채 금리 등 거시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WICS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FnGuide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산업분류(78업종)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뉴스·환율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KOFIA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금융투자협회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 금리(WACC 타인자본비용)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8E54"/>
                </a:solidFill>
              </a:rPr>
              <a:t>NO-MOCK 원칙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3A47"/>
                </a:solidFill>
              </a:rPr>
              <a:t>모든 수치·문장은 위 공식 출처와 계산식에 근거. 없으면 ‘데이터 없음’ 정직 표기.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면책: 본 서비스 정보는 투자 참고용이며, 투자 판단·책임은 이용자 본인에게 있습니다.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 ·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 · 데이터 스터디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 — 어디에 활용 · 어느 DB · 언제 갱신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30632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(KRX)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· 시가총액(E) · 상승여력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ohlcv · 엔진 market_snapshot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 16:00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무위험금리 Rf (ECOS)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자기자본비용(Ke) 기저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rf_rates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회사채금리 Kd (KOFIA)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세후 타인자본비용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kofia_bond_yields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 (DART XBRL)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정상화 · 멀티플 · NOA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financials · financial_detail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분기손익 (TTM)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손익 신선화 · 멀티플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quarterly_standalone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발행/유통주식수 (DART API)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· 적정주가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shares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타인자본비용(Kd) 등급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credit_ratings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색=주기:  빨강 영업일(매일) · 금색 공시 시.   ‘엔진’=밸류 엔진 valuation.db(SQLite) → 배포 시 RDS·Mongo·Chroma·S3로 적재.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 · 데이터 스터디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지표·챗봇 — 어디에 활용 · 어느 DB · 언제 갱신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383280"/>
                <a:gridCol w="333756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β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 계수 (피어 βU · Blume·Hamada)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beta_results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할인율 · EPV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wacc_results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FCFF / FCF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5년 명시예측 현금흐름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dcf_results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적정주가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내재가치 (ΣPV + 터미널)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valuation_summary · 엔진 equity_results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멀티플 4종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중위배수 역산 적정가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mongo_docs (통합 doc)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적절성 진단 (성장 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diagnostics_results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NOA · 과대 가드 (v9)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부적합 · 점추정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doc (summary)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v9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스토리 요약 (RAG)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histories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· 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의미검색 (BGE-M3)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지표는 입력이 바뀔 때마다 평가별(eval_date)로 재계산 · v9 가드는 모델 버전 변경 시 일괄 반영.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 · 데이터 스터디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주기 한눈에 — 무엇을 언제 갱신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갱신 주기가 다릅니다. 색으로 구분한 4가지 주기를 한 장에 정리합니다.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047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4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(영업일)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종가(KRX) · 무위험금리 Rf(ECOS) · 회사채금리 Kd(KOFIA) → 평가 시점 당일/직전영업일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시 (분기·반기·결산)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64808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원천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· 분기손익 · 발행주식수 · 신용등급 · 사업보고서 청크·임베딩 · AI 브리핑 (영구 캐시)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1E8E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평가 (eval_date)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 · WACC · FCFF/DCF · 멀티플 · EPV · 적정주가 — 입력이 바뀌면 재계산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0488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(v9)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4808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무효화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NOA·과대 가드 등 로직 변경 → 강제 재평가(--no-resume) 또는 조회 시 자동 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정적(거의 불변): ERP·CRP·세율·임베딩 모델(BGE-M3) — 코드 수정 시에만.  ⚠ resume은 행 존재만 보므로, v9 일괄반영은 --no-resume 필요.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64008" cy="365760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M · 데이터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— 수집→정규화→검증→적재→서빙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1631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수집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Extract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002536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002536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공시·재무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84704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584704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(XBRL)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166872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166872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주가 (KRX)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749040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49040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금리·거시 (ECOS)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4331208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331208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기업개요·뉴스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4913376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4913376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산업분류 (WICS)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57907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2659075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2D6CB5"/>
          </a:solidFill>
          <a:ln/>
        </p:spPr>
      </p:sp>
      <p:sp>
        <p:nvSpPr>
          <p:cNvPr id="22" name="Text 20"/>
          <p:cNvSpPr/>
          <p:nvPr/>
        </p:nvSpPr>
        <p:spPr>
          <a:xfrm>
            <a:off x="2713939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정규화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Transform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59075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7091" y="2002536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1955" y="2002536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표준화·파싱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7091" y="2701138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1955" y="2701138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엔진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7091" y="3399739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41955" y="3399739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손익흐름도 (Sankey)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7091" y="4098341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41955" y="4098341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생성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7091" y="4796942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41955" y="4796942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건전성·신호등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6086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35" name="Shape 33"/>
          <p:cNvSpPr/>
          <p:nvPr/>
        </p:nvSpPr>
        <p:spPr>
          <a:xfrm>
            <a:off x="5007254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5062118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검증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NO-MOCK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07254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ECFDF5"/>
          </a:solidFill>
          <a:ln w="15875">
            <a:solidFill>
              <a:srgbClr val="A7E3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5270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0134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대조 검증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35270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90134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4-Phase 채점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35270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0134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헬스체크 28,468건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35270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0134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‘데이터 없음’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54266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47" name="Shape 45"/>
          <p:cNvSpPr/>
          <p:nvPr/>
        </p:nvSpPr>
        <p:spPr>
          <a:xfrm>
            <a:off x="7355434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6B4FA8"/>
          </a:solidFill>
          <a:ln/>
        </p:spPr>
      </p:sp>
      <p:sp>
        <p:nvSpPr>
          <p:cNvPr id="48" name="Text 46"/>
          <p:cNvSpPr/>
          <p:nvPr/>
        </p:nvSpPr>
        <p:spPr>
          <a:xfrm>
            <a:off x="7410298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적재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Load · 4-DB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355434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83450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38314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83450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38314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83450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38314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83450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38314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502445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59" name="Shape 57"/>
          <p:cNvSpPr/>
          <p:nvPr/>
        </p:nvSpPr>
        <p:spPr>
          <a:xfrm>
            <a:off x="9703613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B45309"/>
          </a:solidFill>
          <a:ln/>
        </p:spPr>
      </p:sp>
      <p:sp>
        <p:nvSpPr>
          <p:cNvPr id="60" name="Text 58"/>
          <p:cNvSpPr/>
          <p:nvPr/>
        </p:nvSpPr>
        <p:spPr>
          <a:xfrm>
            <a:off x="9758477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 서빙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Serve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703613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31629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86493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(REST)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831629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86493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831629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86493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· 폴백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831629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86493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(사용자)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10896" y="5669280"/>
            <a:ext cx="11576304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5669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B5"/>
                </a:solidFill>
              </a:rPr>
              <a:t>배치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주가 OHLCV 매 거래일 16:00 자동 동기화 · 공시 갱신 시 재적재 (멱등 UPSERT)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0896" y="6181344"/>
            <a:ext cx="11576304" cy="4572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3776" y="61813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4"/>
                </a:solidFill>
              </a:rPr>
              <a:t>실시간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실시간 시세(yfinance) · 글로벌 마켓 시그널 · 전자공시 라이브(DART) · AI 챗봇 질의응답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M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64008" cy="365760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N · 데이터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— 4-DB 폴리글랏 · 운영 13 테이블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280160"/>
            <a:ext cx="11576304" cy="4078224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2540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280160"/>
            <a:ext cx="11576304" cy="384048"/>
          </a:xfrm>
          <a:prstGeom prst="roundRect">
            <a:avLst>
              <a:gd name="adj" fmla="val 19048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RDS PostgreSQL · 관계형 코어 (운영 13 테이블 · company_info 루트 → stock_code 1:N)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2121408" cy="3346704"/>
          </a:xfrm>
          <a:prstGeom prst="roundRect">
            <a:avLst>
              <a:gd name="adj" fmla="val 4310"/>
            </a:avLst>
          </a:prstGeom>
          <a:solidFill>
            <a:srgbClr val="16314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11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company_info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3225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루트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C976"/>
                </a:solidFill>
              </a:rPr>
              <a:t>PK  stock_code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B"/>
                </a:solidFill>
              </a:rPr>
              <a:t>corp_name · market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B"/>
                </a:solidFill>
              </a:rPr>
              <a:t>sector · ceo · 상장일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4114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3,965행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종목 = 1 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테이블의 부모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19019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재무·가치·산업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6" name="Text 14"/>
          <p:cNvSpPr/>
          <p:nvPr/>
        </p:nvSpPr>
        <p:spPr>
          <a:xfrm>
            <a:off x="2889504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9504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10,933 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9504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매출·영업이익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19472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1" name="Text 19"/>
          <p:cNvSpPr/>
          <p:nvPr/>
        </p:nvSpPr>
        <p:spPr>
          <a:xfrm>
            <a:off x="5065776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financial_detail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65776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956,125 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65776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B/S·I/S 계정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95744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6" name="Text 24"/>
          <p:cNvSpPr/>
          <p:nvPr/>
        </p:nvSpPr>
        <p:spPr>
          <a:xfrm>
            <a:off x="7242048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valuation_summary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42048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2,224 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048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적정가·등급·WACC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272016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wics_keywords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18320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565 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8320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분류키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0" y="3017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인물·관계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0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7" name="Text 35"/>
          <p:cNvSpPr/>
          <p:nvPr/>
        </p:nvSpPr>
        <p:spPr>
          <a:xfrm>
            <a:off x="2889504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shareholders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9504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47,001 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89504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주주·지분율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19472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2" name="Text 40"/>
          <p:cNvSpPr/>
          <p:nvPr/>
        </p:nvSpPr>
        <p:spPr>
          <a:xfrm>
            <a:off x="5065776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65776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34,966 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65776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임원·직위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95744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95744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7242048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peer_competitors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242048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3,282 행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42048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경쟁사(피어)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272016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72016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0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company_customers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41832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2,455 행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18320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고객사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0" y="413308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주가·시장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743200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0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8" name="Text 56"/>
          <p:cNvSpPr/>
          <p:nvPr/>
        </p:nvSpPr>
        <p:spPr>
          <a:xfrm>
            <a:off x="2889504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ohlcv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889504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10,688,415 행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889504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OHLCV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19472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19472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5065776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stock_status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65776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4,083 행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65776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상장·관리상태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095744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95744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8" name="Text 66"/>
          <p:cNvSpPr/>
          <p:nvPr/>
        </p:nvSpPr>
        <p:spPr>
          <a:xfrm>
            <a:off x="7242048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dart_halt_events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242048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2,594 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242048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거래정지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272016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72016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73" name="Text 71"/>
          <p:cNvSpPr/>
          <p:nvPr/>
        </p:nvSpPr>
        <p:spPr>
          <a:xfrm>
            <a:off x="941832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ticker_suffix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418320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2,877 행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418320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 식별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10896" y="543153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비관계형 저장소 (RDS 아님 · stock_code로 논리 연결)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310896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0896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79" name="Text 77"/>
          <p:cNvSpPr/>
          <p:nvPr/>
        </p:nvSpPr>
        <p:spPr>
          <a:xfrm>
            <a:off x="512064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Atlas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512064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histories — AI 히스토리 브리핑(서술형)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169664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9664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83" name="Text 81"/>
          <p:cNvSpPr/>
          <p:nvPr/>
        </p:nvSpPr>
        <p:spPr>
          <a:xfrm>
            <a:off x="4370832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4370832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embeddings — 사업보고서 벡터(RAG)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028432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28432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/>
        </p:spPr>
      </p:sp>
      <p:sp>
        <p:nvSpPr>
          <p:cNvPr id="87" name="Text 85"/>
          <p:cNvSpPr/>
          <p:nvPr/>
        </p:nvSpPr>
        <p:spPr>
          <a:xfrm>
            <a:off x="8229600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8229600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Sankey·밸류 JSON·계열사 이미지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 · 인프라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인프라 &amp; 무중단·보안 설계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(프론트/백엔드)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· FastAPI 구동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systemd 자동 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GPU (챗봇)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임베딩·리랭킹·LLM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시에만 가동 → 정지(과금 최소화)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PostgreSQL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 16테이블 · 약 1,175만 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백업·보안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 S3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Sankey·밸류·계열사 파일 서빙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객체 · 18,397객체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Atlas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화이트리스트 접근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+ HTTPS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리버스프록시 · SSL(Let's Encrypt)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/api→백엔드, /→프론트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OHLCV 매 거래일 16:00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 최신화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6FF"/>
          </a:solidFill>
          <a:ln w="15875">
            <a:solidFill>
              <a:srgbClr val="C7DB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6CB5"/>
                </a:solidFill>
              </a:rPr>
              <a:t>보안·가용성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3A47"/>
                </a:solidFill>
              </a:rPr>
              <a:t>장애 격리(프론트·백엔드·챗봇·DB 분리) · DB 보안그룹 화이트리스트 · 비밀키 .env 런타임 로드(하드코딩·커밋 0) · GPU 정지 시 과금 0 · HTTPS 전구간 암호화 · 관리자 토큰 인증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— ‘추정하지 않는다, 출처로 말한다’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한 글자·숫자도 만들지 않습니다. 이 원칙이 FINSIGHT의 최대 차별점입니다.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 의무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수치·문장은 DART·DB·계산식 근거. 챗봇 답변은 출처 카드·DART 링크 동반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정직한 공백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83096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가짜로 채우지 않고 ‘데이터 없음/검증중’으로 표기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관리자 검증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1248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파트(브리핑·주가/재무·밸류·챗봇) 샘플을 원본과 대조해 오류율 추적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0488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전수 헬스체크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83096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2,588종 × 11 API = 28,468건 점검 · 데모 차단 버그 0 (99.97%)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9EC"/>
          </a:solidFill>
          <a:ln w="15875">
            <a:solidFill>
              <a:srgbClr val="EAD8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3153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31536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12"/>
                </a:solidFill>
              </a:rPr>
              <a:t>면책  </a:t>
            </a:r>
            <a:pPr indent="0" marL="0">
              <a:buNone/>
            </a:pPr>
            <a:r>
              <a:rPr lang="en-US" sz="1350" dirty="0">
                <a:solidFill>
                  <a:srgbClr val="5C4410"/>
                </a:solidFill>
              </a:rPr>
              <a:t>본 서비스 정보는 투자 참고용이며, 투자 판단·책임은 이용자 본인에게 있습니다.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 · 사용법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🔰 초보자 튜토리얼 — FINSIGHT 5분 사용법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회사 찾기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회사명·업종 입력 → 그룹 결과 · 추천종목 캐러셀 · 글로벌 마켓 시그널 · ★관심종목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9504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1E8E5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8346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— 3탭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기업개요(뭐 하는 회사·돈 잘 벎) · 밸류에이션(싼지 비싼지) · AI 챗봇(궁금한 것)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59936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7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050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4005072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‘YoY’=작년 대비 증감 · ‘상승여력 +20%’=적정가가 20% 높음(저평가 신호) · ‘데이터 없음’=정직 표기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03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4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7550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물어보기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‘삼성전자 최근 실적 어때?’ → 사업보고서 근거로 요약 + 출처·DART 링크로 직접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(i) 아이콘에 마우스를 올리면 용어 한 줄 설명이 뜹니다. 더 자세한 건 [용어사전]을 참고하세요.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 · 용어사전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빠른 풀이 — 전문가의 정확성 + 초보자의 눈높이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주당순이익 — 이익의 몇 배 가격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주당순자산 — 1배 미만이면 청산가치 이하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73568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EV/EBITDA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빚·세금·감가상각 지운 ‘순수 영업체력’ 비교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+ 감가상각 — 현금창출력 근사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출렁임 — 높을수록 멀미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이자 + 위험 보상 = 주주 요구수익률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FCF/FCFF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4672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 다 쓰고 ‘자유롭게 남긴 현금’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1104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7136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터미널밸류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17136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예측기간 이후 ‘영구 가치’ 한 덩어리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73568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EPV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0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0 가정 수익력 가치 — 현재가 적절성 진단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04672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재무제표에 ‘바코드’ — 기계가 읽는 공시 포맷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61104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4517136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17136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글을 찾아주는 AI 도서관(Chroma)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73568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29600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한 번 더 정교히 줄 세우기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04672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먼저 찾고 그 근거로만 답 — 환각 차단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61104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1104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9" name="Text 57"/>
          <p:cNvSpPr/>
          <p:nvPr/>
        </p:nvSpPr>
        <p:spPr>
          <a:xfrm>
            <a:off x="4517136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4517136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맞는 그릇(4-DB) 따로 쓰기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973568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73568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8229600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결과 같음 — 재적재 안전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본편 ‘쉬운 말 사전’(12개)의 확장판. 전체 용어집은 통합산출물/FINSIGHT_용어사전_백과사전 참고.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8503920" y="-1828800"/>
            <a:ext cx="6583680" cy="6583680"/>
          </a:xfrm>
          <a:prstGeom prst="roundRect">
            <a:avLst>
              <a:gd name="adj" fmla="val 50000"/>
            </a:avLst>
          </a:prstGeom>
          <a:solidFill>
            <a:srgbClr val="2D6CB5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3419856"/>
            <a:ext cx="3017520" cy="5486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5844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&amp; 답변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433425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신뢰 · 정확성 · 기술 · 비즈니스 · 비용 · 보안/면책 — 모든 답은 실제 서비스의 수치·근거로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NO-MOCK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근거 있는 답만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실수치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28,468건·2,588종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18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출처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DART·KRX·계산식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6163056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 · FILMN9 Inc. · 2026.06.20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데이터 · 신뢰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환각 · 전수 정확성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데이터 출처가 어디인가요?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재무·공시는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DART(금융감독원)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주가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글로벌 시세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yfinance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금리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ECOS(한국은행)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산업분류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뉴스는 네이버. 출처 없는 값은 만들지 않습니다(NO-MOCK).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할루시네이션(환각)은 어떻게 막나요?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답하기 전 신뢰 문서를 먼저 검색해 그 근거 위에서만 답하고, 답변마다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카드 + DART 링크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제시합니다. 모르면 모른다고 답하도록 설계.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1517904"/>
          </a:xfrm>
          <a:prstGeom prst="roundRect">
            <a:avLst>
              <a:gd name="adj" fmla="val 6024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37760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084064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종목이 2,600개인데 다 정확한가요?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541264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2,588종목 × 11개 API = 28,468건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전수 검수 결과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차단 버그 0건(99.97%)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데이터가 없는 항목은 거짓 숫자 대신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‘데이터 없음’으로 정직 표기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1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정확성 ·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 신뢰 · 아키텍처 선택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적정주가를 믿어도 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DCF는 미래 가정에 기반한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‘참고치’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그래서 단일값이 아닌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3시나리오(비관·기본·낙관) 범위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제시하고,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방법(DCF·PER·PBR·EV/EBITDA)으로 교차검증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하며, 신뢰도 등급·한계를 함께 고지합니다.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왜 LangChain을 쓰지 않았나요?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파이프라인으로 직접 구현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 — 검색·리랭킹·생성 단계를 직접 제어해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경량화·디버깅·정확도 튜닝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쉽고, 외부 추상화 의존을 줄였습니다.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확장성은 어떤가요?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(정형 RDS·문서 Mongo·벡터 Chroma·파일 S3) +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AWS(EC2·RDS·S3)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기반이라 부하·기능별 독립 확장이 가능합니다.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2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비즈니스 ·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차별점 · AI 비용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수익 모델은 무엇인가요?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+ Pro 구독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(월 9,900원, 가정) 구조입니다. 로컬 GPU로 운영비가 낮아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고객수가 작고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월 수백 명 Pro면 흑자 — 시장은 수백만 명입니다. (Appendix B)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네이버증권 같은 서비스와 무엇이 다른가요?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정보 제공을 넘어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자동 밸류에이션 + AI 히스토리 브리핑 + 대화형 RAG 챗봇(출처표시) + 계열사 시각화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화면에 통합해, ‘공부하고 스스로 판단’하는 흐름을 제공합니다.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운영 비용이 부담되지 않나요?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GPU(무료)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유료는 LLM 답변 호출뿐(질의당 ~5원). GPU는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시에만 가동(정지 시 과금 0)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3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보안 · 면책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비밀정보 관리 · 투자 책임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API 키 등 비밀정보는 어떻게 관리하나요?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비밀키는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.env로 런타임 로드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 하드코딩·GitHub 커밋은 0건입니다. DB는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보안그룹 화이트리스트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제한하고, 전 구간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암호화 + 관리자 토큰 인증을 적용했습니다.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투자 손실에 대한 책임은 누구에게 있나요?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서비스는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‘참고용’ 정보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제공하며, 적정가 등은 가정 기반 추정치입니다.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투자 판단과 책임은 이용자 본인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있음을 서비스 내 면책 문구로 명시합니다.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175504"/>
            <a:ext cx="137160" cy="1078992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218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약속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‘근거 없는 숫자는 만들지 않는다(NO-MOCK)’ · ‘출처를 함께 보여준다’ · ‘정답을 강요하지 않는다’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