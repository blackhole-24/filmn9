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0" r:id="rId41"/>
    <p:sldId id="291" r:id="rId42"/>
    <p:sldId id="292" r:id="rId43"/>
    <p:sldId id="293" r:id="rId44"/>
    <p:sldId id="294" r:id="rId45"/>
    <p:sldId id="265" r:id="rId11"/>
    <p:sldId id="266" r:id="rId12"/>
    <p:sldId id="267" r:id="rId13"/>
    <p:sldId id="295" r:id="rId46"/>
    <p:sldId id="296" r:id="rId47"/>
    <p:sldId id="273" r:id="rId19"/>
    <p:sldId id="297" r:id="rId48"/>
    <p:sldId id="298" r:id="rId49"/>
    <p:sldId id="299" r:id="rId50"/>
    <p:sldId id="289" r:id="rId40"/>
    <p:sldId id="274" r:id="rId20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300" r:id="rId18"/>
    <p:sldId id="301" r:id="rId17"/>
    <p:sldId id="302" r:id="rId16"/>
    <p:sldId id="303" r:id="rId15"/>
    <p:sldId id="304" r:id="rId14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43.xml"/><Relationship Id="rId15" Type="http://schemas.openxmlformats.org/officeDocument/2006/relationships/slide" Target="slides/slide42.xml"/><Relationship Id="rId16" Type="http://schemas.openxmlformats.org/officeDocument/2006/relationships/slide" Target="slides/slide41.xml"/><Relationship Id="rId17" Type="http://schemas.openxmlformats.org/officeDocument/2006/relationships/slide" Target="slides/slide40.xml"/><Relationship Id="rId18" Type="http://schemas.openxmlformats.org/officeDocument/2006/relationships/slide" Target="slides/slide39.xml"/><Relationship Id="rId19" Type="http://schemas.openxmlformats.org/officeDocument/2006/relationships/slide" Target="slides/slide22.xml"/><Relationship Id="rId20" Type="http://schemas.openxmlformats.org/officeDocument/2006/relationships/slide" Target="slides/slide2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23.xml"/><Relationship Id="rId41" Type="http://schemas.openxmlformats.org/officeDocument/2006/relationships/slide" Target="slides/slide9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Relationship Id="rId50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949440" cy="69494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206240" cy="4206240"/>
          </a:xfrm>
          <a:prstGeom prst="ellipse">
            <a:avLst/>
          </a:prstGeom>
          <a:solidFill>
            <a:srgbClr val="0E938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480560"/>
            <a:ext cx="4754880" cy="475488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49808" y="3163824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3467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407822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DART·KRX 같은 신뢰 정보로 — 누구나 종목을 쉽게 공부하고, 투자 전에 스스로 판단하도록.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94944" y="4754880"/>
            <a:ext cx="3200400" cy="420624"/>
          </a:xfrm>
          <a:prstGeom prst="roundRect">
            <a:avLst>
              <a:gd name="adj" fmla="val 2391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47548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200" dirty="0">
                <a:solidFill>
                  <a:srgbClr val="0B7268"/>
                </a:solidFill>
              </a:rPr>
              <a:t>43.203.94.124.nip.io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475488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배포·운영 중 (KOSPI·KOSDAQ 약 2,600개 상장사)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신뢰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DART·KRX·NO-MOCK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384"/>
                </a:solidFill>
              </a:rPr>
              <a:t>쉬움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비전공자도 이해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6992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A06"/>
                </a:solidFill>
              </a:rPr>
              <a:t>스스로 판단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정답 강요 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" y="634593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FILMN9 Inc.   ·   통합 투자정보 서비스 (기업개요 · 밸류에이션 · AI 챗봇)   ·   2026.06.20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937760" cy="493776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937760"/>
            <a:ext cx="3840480" cy="3840480"/>
          </a:xfrm>
          <a:prstGeom prst="ellipse">
            <a:avLst/>
          </a:prstGeom>
          <a:solidFill>
            <a:srgbClr val="0E93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페르소나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해결방안 — 왜·누구를 위해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96912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 &amp; 시스템 설계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96912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WBS·아키텍처·파이프라인·ERD·기술 스택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팀 역할분담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45920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기업분석 · 밸류에이션 · AI 챗봇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96912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296912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예산 · 수익 구조 (Free/Pro · BEP)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45920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설명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645920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 · 피어 · DCF · WACC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9632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96912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배포 버전 시연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296912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기업분석·밸류·챗봇·관리자 (실접속)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645920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645920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 — 공식·RAG·검증·인프라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99632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296912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296912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문제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‘주식, 시작은 했는데…’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83080"/>
            <a:ext cx="457200" cy="45720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A06"/>
                </a:solidFill>
              </a:rPr>
              <a:t>김초심 · 32세 직장인 · 주식 1년차    </a:t>
            </a:r>
            <a:pPr indent="0" marL="0">
              <a:buNone/>
            </a:pPr>
            <a:r>
              <a:rPr lang="en-US" sz="1600" i="1" dirty="0">
                <a:solidFill>
                  <a:srgbClr val="7A5212"/>
                </a:solidFill>
              </a:rPr>
              <a:t>“월급만으론 안 될 것 같아 시작했는데… 뭐부터, 어디서 봐야 하지?”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개인투자자 1,400만 시대 — 누구나 시작하지만, ‘제대로 공부할 도구’는 여전히 전문가의 것입니다.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FF1F4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공시는 DART, 시세는 증권앱, 뉴스는 포털 — 한곳에 모이지 않아 매번 창을 옮겨다닌다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5196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85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용어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6285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PER·DCF·WACC… 비전공자에겐 외국어. 뜻을 찾다 지쳐 결국 ‘느낌’으로 산다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95528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믿을 출처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유튜브·단톡방의 ‘카더라’와 추천. 근거를 확인할 길이 없어 불안하다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413248"/>
            <a:ext cx="11091672" cy="877824"/>
          </a:xfrm>
          <a:prstGeom prst="roundRect">
            <a:avLst>
              <a:gd name="adj" fmla="val 114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1324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13248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563EB"/>
                </a:solidFill>
              </a:rPr>
              <a:t>→ 결국 문제는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293B"/>
                </a:solidFill>
              </a:rPr>
              <a:t>‘정보 비대칭’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 — 전문가는 알고, 일반투자자는 모른다.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7268"/>
                </a:solidFill>
              </a:rPr>
              <a:t>우리는 이 격차를 줄이려 합니다.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‘김초심’을 위해 만듭니다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전문가용 정밀 분석을 떠올렸지만, 정말 도움이 필요한 사람은 ‘이제 막 시작한 일반투자자’였습니다 (피벗).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029200" cy="3931920"/>
          </a:xfrm>
          <a:prstGeom prst="roundRect">
            <a:avLst>
              <a:gd name="adj" fmla="val 25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3931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95728"/>
            <a:ext cx="822960" cy="82296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10512" y="24323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김초심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8895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32세 · 직장인 · 주식 1년차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41985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상황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여윳돈으로 재테크 시작 · 종목은 뉴스·지인 추천으로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05993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고민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“이 회사 괜찮은 거야? 지금 사도 안 늦었나?”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70001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불안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용어가 어렵고, 정보 출처를 믿어도 될지 모르겠다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34009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바람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누가 ‘쉽게, 근거까지’ 알려주면 스스로 판단하고 싶다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213969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13969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98A6B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· 전문가용 정밀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27066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지표·시나리오 중심 · 진입장벽이 높아 ‘아는 사람만’ 쓰는 도구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360273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60273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· 일반투자자 ‘김초심’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3056" y="416966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설명 + 신뢰 출처 + 스스로 판단 — 정보 비대칭을 줄이는 데 집중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52160" y="5065776"/>
            <a:ext cx="5788152" cy="1005840"/>
          </a:xfrm>
          <a:prstGeom prst="roundRect">
            <a:avLst>
              <a:gd name="adj" fmla="val 10000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5065776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7268"/>
                </a:solidFill>
              </a:rPr>
              <a:t>왜 일반투자자인가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전문가는 이미 도구가 많습니다. 정작 ‘처음 시작한 다수’에게는 쉽고 믿을 만한 길잡이가 없었습니다.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4023360" cy="402336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· 해결방안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격차를 줄이는 첫걸음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11091672" cy="1517904"/>
          </a:xfrm>
          <a:prstGeom prst="roundRect">
            <a:avLst>
              <a:gd name="adj" fmla="val 6627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92224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75104"/>
            <a:ext cx="102412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공식 정보(DART·KRX)를 한곳에 모아,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쉽게 공부하고 ‘스스로 판단’하도록 돕는다.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처음부터 끝까지 지킨 3원칙 (핵심 요구사항)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쉬움 (2-Tier)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화면을 ‘초보(신호등·쉬운 말)’와 ‘전문가(근거·지표)’ 두 깊이로 — 비전공자도, 더 알고 싶은 사람도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(NO-MOCK)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값은 DART·KRX·계산식 출처. 없으면 지어내지 않고 ‘데이터 없음’으로 정직 표기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판단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‘정답 가격’을 강요하지 않음. 적정가도 참고 범위로 주고 한계를 함께 고지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754880" cy="47548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3840480" cy="3840480"/>
          </a:xfrm>
          <a:prstGeom prst="ellipse">
            <a:avLst/>
          </a:prstGeom>
          <a:solidFill>
            <a:srgbClr val="0E93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비전 · 과제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멈추지 않습니다 — 더 정확하게, 더 넓게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7393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7393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비전   </a:t>
            </a:r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</a:rPr>
              <a:t>전 종목·전 업종을 정확하게 — 누구나 믿고 쓰는 ‘한국형 밸류에이션 표준’으로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피어기업 정교화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 업종 + 사업 유사도(임베딩) 10기준 자동선정 · 신뢰도 A~E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563EB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임베딩·온톨로지 고도화 · 동적 가중치 · 글로벌 피어 확장 · 신뢰도 등급 정밀화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금융·지주 밸류에이션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48970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600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금융·지주는 FCFF가 맞지 않아 DCF 제외 → 멀티플·NAV로 유도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2628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970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0E9384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금융 DDM·RIM·P-B-ROE · 지주 NAV/SOTP 전용 모델 → 전 업종 커버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987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FCFF·DCF 정교화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19302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932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FCFF=EBIT(1−t)+D&amp;A−CapEx−ΔNWC · 5년 예측 · 해자·중간시점 보정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9302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D97A06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애널리스트 컨센서스 연동 · 시나리오 확률가중 · 업종별 정상화·세그먼트 분해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개발 여정 · WBS</a:t>
            </a:r>
          </a:p>
          <a:p>
            <a:r>
              <a:rPr sz="2800" b="1">
                <a:solidFill>
                  <a:srgbClr val="1F3A5F"/>
                </a:solidFill>
              </a:rPr>
              <a:t>킥오프(4/22) → 최종 발표(6/20) · 5 스프린트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320"/>
          <a:ext cx="1124712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035040"/>
                <a:gridCol w="18288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단계 (기간)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핵심 Task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담당 파트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킥오프 (4/22~4/24)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프로젝트 헌장 · 페르소나 · WBS 초안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PM·공통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1 (4/27~4/28)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기획서 · 요구사항정의서 · 협업환경 구축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PM·공통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2 (4/29~5/9)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개발환경 · 데이터 수집 · 밸류엔진(WACC·DCF·멀티플)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밸류에이션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3 (5/12~5/22)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기업개요 · AI 히스토리 브리핑 · Next.js UI · 1차 배포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기업개요·AI챗봇·밸류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4 (5/26~6/5)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재무 정확성(3개년) · 브리핑 전수화 · 4-Way 밸류 · 관리자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5 (6/8~6/19)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DB 클라우드 이관 · 계열사 전종목 · 메인 리디자인 · 챗봇 GPU · AWS+HTTPS · QA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06000"/>
                          </a:solidFill>
                        </a:rPr>
                        <a:t>완료/진행</a:t>
                      </a:r>
                    </a:p>
                  </a:txBody>
                  <a:tcPr anchor="ctr" marL="91440" marR="54864" marT="36576" marB="36576"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최종 발표 (6/20)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발표 PPT · 스크립트 · 리허설 · 라이브 시연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08080"/>
                          </a:solidFill>
                        </a:rPr>
                        <a:t>예정</a:t>
                      </a:r>
                    </a:p>
                  </a:txBody>
                  <a:tcPr anchor="ctr" marL="91440" marR="54864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‘리스크 큰 것부터 증명하고, 정확히 만들고, 세상에 올린다’ — 5개 스프린트 · 멘토링 4회 피드백 반영 · 담당: PM·공통 / 기업개요 / 밸류에이션 / AI 챗봇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· 역할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명의 기여자 · 네 개의 영역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파트별로 책임 영역을 나누되, 공통 데이터 계약(NO-MOCK·종목코드 키)으로 하나처럼 움직였습니다.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공통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FF5F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기획·조율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이형주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헌장·기획서·요구사항 정의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WBS·일정·멘토링 반영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QA·비기능 검증·발표 총괄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메인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902952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AFB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02952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데이터·화면·인프라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이형주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재무 하이라이트·주가차트·B/S·I/S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Sankey 손익흐름도·전자공시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메인페이지·통합검색·관리자(기업개요)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AWS 배포(RDS·EC2·S3·HTTPS)·전수검수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· AI 챗봇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51960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가치평가 · RAG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유태상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DCF 3시나리오·WACC·멀티플·피어 4-Way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스코어카드·밸류 UI·관리자(밸류)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챗봇 RAG·임베딩·리랭킹·출처카드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PPT 초안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9632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 · 계열사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902952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4F0FE"/>
          </a:solidFill>
          <a:ln/>
        </p:spPr>
      </p:sp>
      <p:sp>
        <p:nvSpPr>
          <p:cNvPr id="40" name="Text 38"/>
          <p:cNvSpPr/>
          <p:nvPr/>
        </p:nvSpPr>
        <p:spPr>
          <a:xfrm>
            <a:off x="9902952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스토리·관계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73952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고휘주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히스토리 브리핑(RAG)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최신 뉴스 수집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계열사 시각화 자동 생성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0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4-Phase 검증·MongoDB Atlas 적재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적게 들여, 빠르게 — 약 2개월 개발 원가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인원을 좁게 운영하고, 클라우드 크레딧·로컬 GPU·구독형 AI 도구로 ‘현금 직접비’를 최소화했습니다. (단가는 가정치 · NO-MOCK)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인건비 (맨먼스 기준)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투입 인원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초기 4명 → 현재 2명 (PM·QA·백엔드·프론트)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기간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약 2개월 (킥오프 4/22 ~ 발표 6/20)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환산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평균 2명 × 2개월 = 4 M/M (맨먼스)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가정 단가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1 M/M ≈ 400만원 (시장 평균 가정)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645152"/>
            <a:ext cx="4901184" cy="566928"/>
          </a:xfrm>
          <a:prstGeom prst="roundRect">
            <a:avLst>
              <a:gd name="adj" fmla="val 17742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인건비 ≈ 4 M/M × 400만 =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약 1,600만원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(가정)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2157984"/>
            <a:ext cx="544068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직접비 (실제 현금 지출)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528" y="277977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7797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Max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15984" y="277977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₩187,000 ×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27797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37만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0528" y="314553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31455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Plus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15984" y="314553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약 ₩30,000 ×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314553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6만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0528" y="351129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 (gpt-5-mini)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15984" y="351129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종량 · 질의당 ~5원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351129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10528" y="387705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8770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(EC2·RDS·S3·GPU)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15984" y="387705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스타트업 크레딧 충당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38770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424281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도메인·SSL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15984" y="424281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연 소액 · SSL 무료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424281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4645152"/>
            <a:ext cx="4937760" cy="566928"/>
          </a:xfrm>
          <a:prstGeom prst="roundRect">
            <a:avLst>
              <a:gd name="adj" fmla="val 17742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현금 직접비 ≈ </a:t>
            </a:r>
            <a:pPr indent="0" marL="0">
              <a:buNone/>
            </a:pPr>
            <a:r>
              <a:rPr lang="en-US" sz="1500" b="1" dirty="0">
                <a:solidFill>
                  <a:srgbClr val="0B7268"/>
                </a:solidFill>
              </a:rPr>
              <a:t>약 50만원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(2개월 합 · 가정)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52297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2297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" y="5522976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총 개발 원가 ≈ 약 1,650만원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7A"/>
                </a:solidFill>
              </a:rPr>
              <a:t>(인건비 1,600만 + 직접비 50만, 가정)  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97A06"/>
                </a:solidFill>
              </a:rPr>
              <a:t>→ 실제 현금 지출은 ~50만원, 나머지는 팀의 시간(기회비용)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손익분기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모으고, 구독으로 지속한다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쓰는 무료 기반 위에 심화 기능을 구독(Pro)으로 — 운영 손익분기는 ‘월 수십 명’ 수준으로 설계했습니다. (가정치)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411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vs Pro (월 9,900원 · 가정)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4901184" cy="402336"/>
          </a:xfrm>
          <a:prstGeom prst="roundRect">
            <a:avLst>
              <a:gd name="adj" fmla="val 25000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432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31638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31638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재무 하이라이트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638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6210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6210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요약 · 글로벌 시그널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40782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9264" y="40782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0782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" y="45354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5354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밸류 · 5종 진단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5354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5354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" y="49926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9264" y="4992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 알림 · 비교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49926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992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5870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가격·구성은 가정 — 베타 후 시장 검증으로 확정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2157984"/>
            <a:ext cx="5440680" cy="2249424"/>
          </a:xfrm>
          <a:prstGeom prst="roundRect">
            <a:avLst>
              <a:gd name="adj" fmla="val 447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157984"/>
            <a:ext cx="137160" cy="22494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 — 운영비 기준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0528" y="27066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38544" y="27066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고정 운영비 (가정)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869680" y="27066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실비+API+도메인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332720" y="2706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25만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31638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38544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1인 월 기여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869680" y="31638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구독료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033272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9,900원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10528" y="36210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638544" y="36210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 수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869680" y="36210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25만 ÷ 9,900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33272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26명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10528" y="40416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268"/>
                </a:solidFill>
              </a:rPr>
              <a:t>→ 월 약 26명 Pro면 운영 손익분기  </a:t>
            </a:r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</a:rPr>
              <a:t>(개발 원가 회수는 수백 명 규모)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99632" y="4535424"/>
            <a:ext cx="5440680" cy="1737360"/>
          </a:xfrm>
          <a:prstGeom prst="roundRect">
            <a:avLst>
              <a:gd name="adj" fmla="val 5789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4535424"/>
            <a:ext cx="137160" cy="17373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6510528" y="4663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— 누구를 위한 서비스인가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10528" y="5029200"/>
            <a:ext cx="4983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국내 주식 활동계좌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수천만 계좌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규모 (참고)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핵심 타깃 = ‘스스로 공부하려는’ 입문·일반 투자자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무료로 폭넓게 모으고 → 일부가 Pro로 전환되는 구조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시스템 아키텍처</a:t>
            </a:r>
          </a:p>
          <a:p>
            <a:r>
              <a:rPr sz="2800" b="1">
                <a:solidFill>
                  <a:srgbClr val="1F3A5F"/>
                </a:solidFill>
              </a:rPr>
              <a:t>AWS 위에서 실제로 돌아가는 서비스</a:t>
            </a:r>
          </a:p>
        </p:txBody>
      </p:sp>
      <p:pic>
        <p:nvPicPr>
          <p:cNvPr id="3" name="Picture 2" descr="system_architecture_0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50" y="1325880"/>
            <a:ext cx="89349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데이터 파이프라인</a:t>
            </a:r>
          </a:p>
          <a:p>
            <a:r>
              <a:rPr sz="2800" b="1">
                <a:solidFill>
                  <a:srgbClr val="1F3A5F"/>
                </a:solidFill>
              </a:rPr>
              <a:t>수집 → 정규화·생성 → 검증(NO-MOCK) → 적재 → 서빙</a:t>
            </a:r>
          </a:p>
        </p:txBody>
      </p:sp>
      <p:pic>
        <p:nvPicPr>
          <p:cNvPr id="3" name="Picture 2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325880"/>
            <a:ext cx="87782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데이터 구조 · ERD</a:t>
            </a:r>
          </a:p>
          <a:p>
            <a:r>
              <a:rPr sz="2800" b="1">
                <a:solidFill>
                  <a:srgbClr val="1F3A5F"/>
                </a:solidFill>
              </a:rPr>
              <a:t>폴리글랏 4-DB · 종목코드로 묶인 16테이블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34" y="1325880"/>
            <a:ext cx="90584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기술 스택</a:t>
            </a:r>
          </a:p>
          <a:p>
            <a:r>
              <a:rPr sz="2800" b="1">
                <a:solidFill>
                  <a:srgbClr val="1F3A5F"/>
                </a:solidFill>
              </a:rPr>
              <a:t>무엇으로 만들었나 — 계층별 선택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프론트엔드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Next.js 16 · React 19 (SSR·standalone)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TypeScript · Tailwind CSS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recharts 차트·시각화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5112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백엔드 · API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FastAPI (Python) · REST :8090 비동기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psycopg3 · pymongo (DB 드라이버)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systemd · nginx (기동·프록시)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93024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데이터 · 저장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PostgreSQL (RDS) · 16테이블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MongoDB · ChromaDB (문서·벡터)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AWS S3 (파일 서빙)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AI · RAG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BGE-M3 1024d · 리랭커 (로컬 GPU)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OpenAI gpt-5-mini (답변·진단)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자체 RAG 파이프라인 (LangChain 미사용)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5112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인프라 · 운영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AWS EC2(GPU) · RDS · S3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HTTPS · Let's Encrypt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.env 런타임 로드 (시크릿 0 커밋)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4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개발 · 협업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Claude Code · Design · v0.dev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GitHub (feature + PR)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Notion · Google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AI는 자체 파이프라인으로 제어 — LangChain 미사용·경량화 / 모든 시크릿은 .env 런타임 로드(하드코딩·커밋 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① 상대가치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‘옆 회사와 비교’ — 지금 비싼가 싼가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받는 가격과 견줘, 우리 회사가 비싼지 싼지를 봅니다. (상세 산식은 별도 밸류 PPT)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시장에서 받는 ‘가격 배수’(PER·EV/EBITDA·EV/Sales·PBR)를 우리 회사에 적용해 적정가를 매기는 방법이에요. 네 잣대로 보고 가운데값으로 종합합니다.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적정가 &gt; 현재가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동종 대비 ‘싼 편’(상승 여지) · 반대면 ‘비싼 편’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맹신 금지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‘반드시 오른다’는 아님 — 같은 업종·이익 안정·여러 잣대가 같은 방향일 때 신뢰↑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주의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적자·고성장주는 이익이 흔들려 이 값도 출렁 → 참고로만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피어기업 선정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비교하느냐가 결과의 절반이에요. WICS 업종 + 사업 유사도(AI) 등 10가지를 가중 채점(업종18·시총15·사업내용10·수익성·성장·매출…)해 40점 넘는 상위 3사를 자동 선정합니다.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신뢰도 A~E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‘이번 비교를 얼마나 잘 골랐나’ — A면 안심, 낮으면 멀티플 결과도 조심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한계 인지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자동 선정이라 가끔 다른 업종이 섞일 수 있어요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확인 습관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비교에 쓴 회사 목록을 직접 보고 납득되는지 확인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② 절대가치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‘미래에 벌 돈’의 오늘 값 — 내재가치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 현금을 직접 계산해 오늘 가치로 환산합니다. 옆 회사와 무관한 ‘회사 본연의 값’이에요.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DCF · 절대가치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벌어들일 현금(FCFF)을 5년 예측하고, 그 이후는 영구가치로 묶어, 할인율(WACC)로 깎아 ‘오늘 값’으로 환산한 내재가치예요. 미래를 가정하므로 비관·기본·낙관 ‘범위’로 제시합니다.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‘정답 가격’ 아님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가정에 민감해 현재가와 차이 클 수 있어 — 하나의 숫자보다 ‘범위’로 보세요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괴리 = 시장 기대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내재가치&lt;현재가=시장이 낙관(거품 주의) · &gt;현재가=보수적(기회일 수도)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단단한 신호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‘필요 성장률’ — 경제성장(~3%)보다 너무 높으면 거품, 낮으면 저평가 신호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· 할인율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자본(주주 돈 + 빌린 돈)을 끌어다 쓰는 데 드는 평균 비용이자, 미래의 돈을 오늘 값으로 깎는 ‘할인율’이에요. 보통 8~13% 범위입니다.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4F0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최소 합격선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회사가 넘어야 할 기준 — ROIC &gt; WACC면 ‘가치 창출’(좋은 회사)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높을수록 깐깐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위험한 회사일수록 WACC↑ → 미래 이익을 더 작게 봐 내재가치↓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주의 (Ke와 구분)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주주 개인의 최소 요구수익률은 WACC가 아니라 Ke(자기자본비용) · 보통 Ke&gt;WACC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관리자 페이지 — 운영·검증 콘솔</a:t>
            </a:r>
          </a:p>
          <a:p>
            <a:r>
              <a:rPr sz="1400">
                <a:solidFill>
                  <a:srgbClr val="D7DBF5"/>
                </a:solidFill>
              </a:rPr>
              <a:t>PoC가 아니라, 운영·검증까지 만들었습니다 — 신뢰를 코드로 증명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① 기업분석 운영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데이터가 어디서 와서
지금 정상인지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2152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② 기업분석 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화면 숫자가 맞는지
버튼으로 즉석 증명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79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③ 밸류에이션 운영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기준일·출처·AI 하네스
(환각 통제)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399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1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④ 밸류에이션 테스트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헬스·5종 판정·챗봇 QA
직접 실행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solidFill>
            <a:srgbClr val="F7F8FD"/>
          </a:solidFill>
          <a:ln w="12700">
            <a:solidFill>
              <a:srgbClr val="E0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E2236"/>
                </a:solidFill>
              </a:rPr>
              <a:t>핵심 — 신뢰를 '말'이 아니라 '구조'로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모든 수치 = 누르는 순간 실제 DB·파일·포트를 조회한 실측값 (NO-MOCK, 가짜 0)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비어 있으면 가짜로 채우지 않고 '없음/준비중'으로 정직 표기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검증 탭에서 재무 항등식·DART 원문 대조를 즉석 실행 → 누구나 원본으로 팩트체크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① ② 기업분석 — 운영 · 검증</a:t>
            </a:r>
          </a:p>
          <a:p>
            <a:r>
              <a:rPr sz="1400">
                <a:solidFill>
                  <a:srgbClr val="D7DBF5"/>
                </a:solidFill>
              </a:rPr>
              <a:t>데이터 원천→화면 작동 확인  +  화면 숫자의 정합성 즉석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4F46E5"/>
                </a:solidFill>
              </a:rPr>
              <a:t>운영 (monitor)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기능 모듈 현황 — 각 기능이 DART·KRX 원천→화면까지, 지금 정상인지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커버리지 · DB 현황 — 전 종목 보유율 · 16테이블 행수(빈칸=빨강, 정직)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데이터 신선도 — 주가 16:00 자동 갱신 등 최신 시각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스모크 테스트 — 샘플 종목이 종목상세에 필요한 데이터 보유 점검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AI 챗봇·AWS 비용 운영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5803D"/>
                </a:solidFill>
              </a:rPr>
              <a:t>검증 (verify) — 버튼으로 증명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내부 정합성 — 재무 항등식(자산=부채+자본)·주가 유효성·완전성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088"/>
                </a:solidFill>
              </a:rPr>
              <a:t>  → 검사·통과·불일치·오류율 표시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DART 원문 대조 — 요약 재무 ↔ 사업보고서 XBRL 일치율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히스토리브리핑·챗봇·계열사 산출물 검증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223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803D"/>
                </a:solidFill>
              </a:rPr>
              <a:t>결과: 오류율 0% = NO-MOCK 일치 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③ ④ 밸류에이션 — 운영 · 테스트</a:t>
            </a:r>
          </a:p>
          <a:p>
            <a:r>
              <a:rPr sz="1400">
                <a:solidFill>
                  <a:srgbClr val="D7DBF5"/>
                </a:solidFill>
              </a:rPr>
              <a:t>어떤 데이터를 언제·어디서 받아 AI를 통제했나  +  직접 실행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4F46E5"/>
                </a:solidFill>
              </a:rPr>
              <a:t>운영 (밸류 admin)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데이터 기준일 — 평가일·금리(ECOS)·시총(KRX) 숨김없이 공개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출처 8종 — DART·KRX·ECOS·KOFIA 등 공신력 원천만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테스트 환경 — DCF·EPV·멀티플 엔진 / RAG 챗봇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AI 하네스 — 환각 통제 8장치(실데이터·추출/판단 분리·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088"/>
                </a:solidFill>
              </a:rPr>
              <a:t>  출처 강제·저온도·신뢰도 등급화·골든셋 회귀)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5803D"/>
                </a:solidFill>
              </a:rPr>
              <a:t>테스트 (밸류 test)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헬스 3종 — 백엔드·챗봇·프론트 신호등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밸류 QA — 종목 입력→적정가·WACC·등급 + 5종 무결성 판정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챗봇 QA — 답변에 DART 출처 카드 동반 확인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223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803D"/>
                </a:solidFill>
              </a:rPr>
              <a:t>한마디로: 실데이터만, 출처와 함께,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803D"/>
                </a:solidFill>
              </a:rPr>
              <a:t>불확실하면 점추정 숨긴다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92608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463040"/>
            <a:ext cx="3840480" cy="38404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서비스에 접속해서 보여드립니다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46988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1046988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라이브 시연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091672" cy="548640"/>
          </a:xfrm>
          <a:prstGeom prst="roundRect">
            <a:avLst>
              <a:gd name="adj" fmla="val 1833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350" dirty="0">
                <a:solidFill>
                  <a:srgbClr val="0B7268"/>
                </a:solidFill>
              </a:rPr>
              <a:t>https://43.203.94.124.nip.io   — 김초심의 질문을 순서대로 따라갑니다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FF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408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50545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2" dirty="0"/>
          </a:p>
        </p:txBody>
      </p:sp>
      <p:sp>
        <p:nvSpPr>
          <p:cNvPr id="15" name="Text 13"/>
          <p:cNvSpPr/>
          <p:nvPr/>
        </p:nvSpPr>
        <p:spPr>
          <a:xfrm>
            <a:off x="1426464" y="23408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3408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‘뭐 하는 회사?’ — 회사정보·재무 하이라이트·전자공시·AI 브리핑·손익흐름도·계열사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3419856"/>
            <a:ext cx="475488" cy="475488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2" dirty="0"/>
          </a:p>
        </p:txBody>
      </p:sp>
      <p:sp>
        <p:nvSpPr>
          <p:cNvPr id="21" name="Text 19"/>
          <p:cNvSpPr/>
          <p:nvPr/>
        </p:nvSpPr>
        <p:spPr>
          <a:xfrm>
            <a:off x="1426464" y="32552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32552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‘비싼가 싼가?’ — 적정가 스코어카드·멀티플·DCF·WACC·ROIC (2-Tier)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AFB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696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334256"/>
            <a:ext cx="475488" cy="47548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1426464" y="41696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41696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‘궁금한 건?’ — 사업보고서 근거로 답변 + 출처 카드·DART 링크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840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4F0F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0840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5248656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5248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426464" y="50840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0480" y="50840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‘믿을 수 있나?’ — 데이터 기준일·출처·전수검수·AI 통제(하네스)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071616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별도 시연 슬라이드 없이, 실제 화면으로 진행합니다. — 이어서 Appendix(기술 상세)로 넘어갑니다.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68096" y="2834640"/>
            <a:ext cx="2926080" cy="73152"/>
          </a:xfrm>
          <a:prstGeom prst="roundRect">
            <a:avLst>
              <a:gd name="adj" fmla="val 50000"/>
            </a:avLst>
          </a:prstGeom>
          <a:solidFill>
            <a:srgbClr val="C7922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694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출처(DART·KRX) · 쉬운 두 깊이 · 스스로 판단 — 정보 격차를 줄이는 첫걸음.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20436B"/>
          </a:solidFill>
          <a:ln w="15875">
            <a:solidFill>
              <a:srgbClr val="C7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감사합니다   </a:t>
            </a:r>
            <a:pPr algn="ctr" indent="0" marL="0">
              <a:buNone/>
            </a:pPr>
            <a:r>
              <a:rPr lang="en-US" sz="2600" b="1" dirty="0">
                <a:solidFill>
                  <a:srgbClr val="EAC976"/>
                </a:solidFill>
              </a:rPr>
              <a:t>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4736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LIVE   https://43.203.94.124.nip.io   ·   FILMN9 Inc.   ·   2026.06.20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S</a:t>
            </a:r>
            <a:endParaRPr lang="en-US" sz="1100" dirty="0"/>
          </a:p>
        </p:txBody>
      </p:sp>
      <p:sp>
        <p:nvSpPr>
          <p:cNvPr id="10" name="Disclaimer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B7088"/>
                </a:solidFill>
                <a:latin typeface="맑은 고딕"/>
              </a:rPr>
              <a:t>※ 본 자료와 서비스의 모든 분석·적정주가는 공개데이터(DART·KRX·한국은행·KOFIA 등)에 근거한 투자 참고 정보이며, 특정 종목의 매수·매도를 권유하지 않습니다. 투자 판단과 책임은 이용자 본인에게 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583680" cy="658368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0"/>
            <a:ext cx="4023360" cy="4023360"/>
          </a:xfrm>
          <a:prstGeom prst="ellipse">
            <a:avLst/>
          </a:prstGeom>
          <a:solidFill>
            <a:srgbClr val="0E938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49808" y="3346704"/>
            <a:ext cx="301752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52958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42245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· 밸류에이션 6대 공식 · RAG 파이프라인 · 검증 체계 · 데이터 맵 · 인프라 · NO-MOCK · 용어사전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49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AI·RAG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임베딩·리랭킹·생성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381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방법론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공식·4-Way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전수검수·NO-MOCK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245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데이터·인프라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4-DB·AWS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8503920" y="-182880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2D6CB5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3419856"/>
            <a:ext cx="3017520" cy="5486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5844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&amp; 답변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433425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신뢰 · 정확성 · 기술 · 비즈니스 · 비용 · 보안/면책 — 모든 답은 실제 서비스의 수치·근거로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NO-MOCK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근거 있는 답만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실수치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28,468건·2,588종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18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출처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DART·KRX·계산식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6163056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 · FILMN9 Inc. · 2026.06.20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데이터 · 신뢰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환각 · 전수 정확성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데이터 출처가 어디인가요?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재무·공시는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DART(금융감독원)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글로벌 시세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yfinance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금리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ECOS(한국은행)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산업분류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뉴스는 네이버. 출처 없는 값은 만들지 않습니다(NO-MOCK).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할루시네이션(환각)은 어떻게 막나요?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답하기 전 신뢰 문서를 먼저 검색해 그 근거 위에서만 답하고, 답변마다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카드 + DART 링크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제시합니다. 모르면 모른다고 답하도록 설계.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37760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084064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종목이 2,600개인데 다 정확한가요?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541264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2,588종목 × 11개 API = 28,468건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전수 검수 결과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차단 버그 0건(99.97%)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데이터가 없는 항목은 거짓 숫자 대신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‘데이터 없음’으로 정직 표기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1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정확성 ·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 신뢰 · 아키텍처 선택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적정주가를 믿어도 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DCF는 미래 가정에 기반한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‘참고치’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그래서 단일값이 아닌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3시나리오(비관·기본·낙관) 범위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제시하고,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방법(DCF·PER·PBR·EV/EBITDA)으로 교차검증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하며, 신뢰도 등급·한계를 함께 고지합니다.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왜 LangChain을 쓰지 않았나요?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파이프라인으로 직접 구현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 — 검색·리랭킹·생성 단계를 직접 제어해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경량화·디버깅·정확도 튜닝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쉽고, 외부 추상화 의존을 줄였습니다.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확장성은 어떤가요?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(정형 RDS·문서 Mongo·벡터 Chroma·파일 S3) +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AWS(EC2·RDS·S3)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기반이라 부하·기능별 독립 확장이 가능합니다.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2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비즈니스 ·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차별점 · AI 비용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수익 모델은 무엇인가요?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+ Pro 구독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(월 9,900원, 가정) 구조입니다. 로컬 GPU로 운영비가 낮아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고객수가 작고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월 수백 명 Pro면 흑자 — 시장은 수백만 명입니다. (Appendix B)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네이버증권 같은 서비스와 무엇이 다른가요?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정보 제공을 넘어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 + AI 히스토리 브리핑 + 대화형 RAG 챗봇(출처표시) + 계열사 시각화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화면에 통합해, ‘공부하고 스스로 판단’하는 흐름을 제공합니다.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운영 비용이 부담되지 않나요?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GPU(무료)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유료는 LLM 답변 호출뿐(질의당 ~5원). GPU는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시에만 가동(정지 시 과금 0)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3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보안 · 면책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비밀정보 관리 · 투자 책임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API 키 등 비밀정보는 어떻게 관리하나요?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비밀키는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.env로 런타임 로드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 하드코딩·GitHub 커밋은 0건입니다. DB는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보안그룹 화이트리스트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제한하고, 전 구간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암호화 + 관리자 토큰 인증을 적용했습니다.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투자 손실에 대한 책임은 누구에게 있나요?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‘참고용’ 정보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제공하며, 적정가 등은 가정 기반 추정치입니다.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투자 판단과 책임은 이용자 본인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있음을 서비스 내 면책 문구로 명시합니다.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75504"/>
            <a:ext cx="137160" cy="1078992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218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약속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‘근거 없는 숫자는 만들지 않는다(NO-MOCK)’ · ‘출처를 함께 보여준다’ · ‘정답을 강요하지 않는다’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FILMN9</dc:creator>
  <cp:lastModifiedBy>FILMN9</cp:lastModifiedBy>
  <cp:revision>1</cp:revision>
  <dcterms:created xsi:type="dcterms:W3CDTF">2026-06-18T07:31:29Z</dcterms:created>
  <dcterms:modified xsi:type="dcterms:W3CDTF">2026-06-18T07:31:29Z</dcterms:modified>
</cp:coreProperties>
</file>