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notesMasterIdLst>
    <p:notesMasterId r:id="rId2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6949440" cy="6949440"/>
          </a:xfrm>
          <a:prstGeom prst="ellipse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108960"/>
            <a:ext cx="4206240" cy="4206240"/>
          </a:xfrm>
          <a:prstGeom prst="ellipse">
            <a:avLst/>
          </a:prstGeom>
          <a:solidFill>
            <a:srgbClr val="0E938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480560"/>
            <a:ext cx="4754880" cy="4754880"/>
          </a:xfrm>
          <a:prstGeom prst="ellipse">
            <a:avLst/>
          </a:prstGeom>
          <a:solidFill>
            <a:srgbClr val="D97A06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spc="100" kern="0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FINSIGHT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749808" y="3163824"/>
            <a:ext cx="3383280" cy="73152"/>
          </a:xfrm>
          <a:prstGeom prst="roundRect">
            <a:avLst>
              <a:gd name="adj" fmla="val 50000"/>
            </a:avLst>
          </a:prstGeom>
          <a:solidFill>
            <a:srgbClr val="0E9384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34670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전문가의 정보를, 모두에게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94944" y="4078224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DART·KRX 같은 신뢰 정보로 — 누구나 종목을 쉽게 공부하고, 투자 전에 스스로 판단하도록.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94944" y="4754880"/>
            <a:ext cx="3200400" cy="420624"/>
          </a:xfrm>
          <a:prstGeom prst="roundRect">
            <a:avLst>
              <a:gd name="adj" fmla="val 23913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4754880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9384"/>
                </a:solidFill>
              </a:rPr>
              <a:t>● LIVE   </a:t>
            </a:r>
            <a:pPr algn="ctr" indent="0" marL="0">
              <a:buNone/>
            </a:pPr>
            <a:r>
              <a:rPr lang="en-US" sz="1200" dirty="0">
                <a:solidFill>
                  <a:srgbClr val="0B7268"/>
                </a:solidFill>
              </a:rPr>
              <a:t>43.203.94.124.nip.io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9080" y="4754880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배포·운영 중 (KOSPI·KOSDAQ 약 2,600개 상장사)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" y="5486400"/>
            <a:ext cx="3346704" cy="676656"/>
          </a:xfrm>
          <a:prstGeom prst="roundRect">
            <a:avLst>
              <a:gd name="adj" fmla="val 14865"/>
            </a:avLst>
          </a:prstGeom>
          <a:solidFill>
            <a:srgbClr val="EFF5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486400"/>
            <a:ext cx="3017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신뢰   </a:t>
            </a:r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</a:rPr>
              <a:t>DART·KRX·NO-MOCK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15968" y="5486400"/>
            <a:ext cx="3346704" cy="676656"/>
          </a:xfrm>
          <a:prstGeom prst="roundRect">
            <a:avLst>
              <a:gd name="adj" fmla="val 14865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35424" y="5486400"/>
            <a:ext cx="3017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384"/>
                </a:solidFill>
              </a:rPr>
              <a:t>쉬움   </a:t>
            </a:r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</a:rPr>
              <a:t>비전공자도 이해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36992" y="5486400"/>
            <a:ext cx="3346704" cy="676656"/>
          </a:xfrm>
          <a:prstGeom prst="roundRect">
            <a:avLst>
              <a:gd name="adj" fmla="val 14865"/>
            </a:avLst>
          </a:prstGeom>
          <a:solidFill>
            <a:srgbClr val="FEF3E2"/>
          </a:solidFill>
          <a:ln w="15875">
            <a:solidFill>
              <a:srgbClr val="D97A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56448" y="5486400"/>
            <a:ext cx="3017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A06"/>
                </a:solidFill>
              </a:rPr>
              <a:t>스스로 판단   </a:t>
            </a:r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</a:rPr>
              <a:t>정답 강요 X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4944" y="6345936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FILMN9 Inc.   ·   통합 투자정보 서비스 (기업개요 · 밸류에이션 · AI 챗봇)   ·   2026.06.20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4937760" cy="4937760"/>
          </a:xfrm>
          <a:prstGeom prst="ellipse">
            <a:avLst/>
          </a:prstGeom>
          <a:solidFill>
            <a:srgbClr val="2563EB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05840" y="4937760"/>
            <a:ext cx="3840480" cy="3840480"/>
          </a:xfrm>
          <a:prstGeom prst="ellipse">
            <a:avLst/>
          </a:prstGeom>
          <a:solidFill>
            <a:srgbClr val="0E9384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목차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975104"/>
            <a:ext cx="5440680" cy="749808"/>
          </a:xfrm>
          <a:prstGeom prst="roundRect">
            <a:avLst>
              <a:gd name="adj" fmla="val 13415"/>
            </a:avLst>
          </a:prstGeom>
          <a:solidFill>
            <a:srgbClr val="EFF5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975104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975104"/>
            <a:ext cx="7863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45920" y="208483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배경 · 페르소나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645920" y="2395728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문제와 해결방안 — 왜·누구를 위해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99632" y="1975104"/>
            <a:ext cx="5440680" cy="749808"/>
          </a:xfrm>
          <a:prstGeom prst="roundRect">
            <a:avLst>
              <a:gd name="adj" fmla="val 13415"/>
            </a:avLst>
          </a:prstGeom>
          <a:solidFill>
            <a:srgbClr val="EAFB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199632" y="1975104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975104"/>
            <a:ext cx="7863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296912" y="208483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유사사례 · 포지셔닝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296912" y="2395728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 서비스 비교 → 우리의 차별점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2852928"/>
            <a:ext cx="5440680" cy="749808"/>
          </a:xfrm>
          <a:prstGeom prst="roundRect">
            <a:avLst>
              <a:gd name="adj" fmla="val 13415"/>
            </a:avLst>
          </a:prstGeom>
          <a:solidFill>
            <a:srgbClr val="FEF3E2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852928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D97A06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2852928"/>
            <a:ext cx="7863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645920" y="2962656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WBS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645920" y="327355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킥오프~최종발표 · 5 스프린트 88작업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99632" y="2852928"/>
            <a:ext cx="5440680" cy="749808"/>
          </a:xfrm>
          <a:prstGeom prst="roundRect">
            <a:avLst>
              <a:gd name="adj" fmla="val 13415"/>
            </a:avLst>
          </a:prstGeom>
          <a:solidFill>
            <a:srgbClr val="F4F0FE"/>
          </a:solidFill>
          <a:ln/>
        </p:spPr>
      </p:sp>
      <p:sp>
        <p:nvSpPr>
          <p:cNvPr id="23" name="Shape 21"/>
          <p:cNvSpPr/>
          <p:nvPr/>
        </p:nvSpPr>
        <p:spPr>
          <a:xfrm>
            <a:off x="6199632" y="2852928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2852928"/>
            <a:ext cx="7863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296912" y="2962656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역할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296912" y="327355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 · 기업개요 · 밸류에이션 · AI 챗봇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3730752"/>
            <a:ext cx="5440680" cy="749808"/>
          </a:xfrm>
          <a:prstGeom prst="roundRect">
            <a:avLst>
              <a:gd name="adj" fmla="val 13415"/>
            </a:avLst>
          </a:prstGeom>
          <a:solidFill>
            <a:srgbClr val="EFF5FF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730752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" y="3730752"/>
            <a:ext cx="7863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645920" y="384048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개발비용 · 수익모델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1645920" y="4151376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개발원가 · Free/Pro · 손익분기(BEP)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99632" y="3730752"/>
            <a:ext cx="5440680" cy="749808"/>
          </a:xfrm>
          <a:prstGeom prst="roundRect">
            <a:avLst>
              <a:gd name="adj" fmla="val 13415"/>
            </a:avLst>
          </a:prstGeom>
          <a:solidFill>
            <a:srgbClr val="EAFBF6"/>
          </a:solidFill>
          <a:ln/>
        </p:spPr>
      </p:sp>
      <p:sp>
        <p:nvSpPr>
          <p:cNvPr id="33" name="Shape 31"/>
          <p:cNvSpPr/>
          <p:nvPr/>
        </p:nvSpPr>
        <p:spPr>
          <a:xfrm>
            <a:off x="6199632" y="3730752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3730752"/>
            <a:ext cx="7863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7296912" y="384048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· 데이터 · 기술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7296912" y="4151376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시스템·파이프라인·ERD·기술 스택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48640" y="4608576"/>
            <a:ext cx="5440680" cy="749808"/>
          </a:xfrm>
          <a:prstGeom prst="roundRect">
            <a:avLst>
              <a:gd name="adj" fmla="val 13415"/>
            </a:avLst>
          </a:prstGeom>
          <a:solidFill>
            <a:srgbClr val="FEF3E2"/>
          </a:solidFill>
          <a:ln/>
        </p:spPr>
      </p:sp>
      <p:sp>
        <p:nvSpPr>
          <p:cNvPr id="38" name="Shape 36"/>
          <p:cNvSpPr/>
          <p:nvPr/>
        </p:nvSpPr>
        <p:spPr>
          <a:xfrm>
            <a:off x="548640" y="4608576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D97A06"/>
          </a:solidFill>
          <a:ln/>
        </p:spPr>
      </p:sp>
      <p:sp>
        <p:nvSpPr>
          <p:cNvPr id="39" name="Text 37"/>
          <p:cNvSpPr/>
          <p:nvPr/>
        </p:nvSpPr>
        <p:spPr>
          <a:xfrm>
            <a:off x="749808" y="4608576"/>
            <a:ext cx="7863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1645920" y="4718304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밸류에이션 (별도)</a:t>
            </a:r>
            <a:endParaRPr lang="en-US" sz="1550" dirty="0"/>
          </a:p>
        </p:txBody>
      </p:sp>
      <p:sp>
        <p:nvSpPr>
          <p:cNvPr id="41" name="Text 39"/>
          <p:cNvSpPr/>
          <p:nvPr/>
        </p:nvSpPr>
        <p:spPr>
          <a:xfrm>
            <a:off x="1645920" y="502920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멀티플·피어·DCF·WACC + 관리자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199632" y="4608576"/>
            <a:ext cx="5440680" cy="749808"/>
          </a:xfrm>
          <a:prstGeom prst="roundRect">
            <a:avLst>
              <a:gd name="adj" fmla="val 13415"/>
            </a:avLst>
          </a:prstGeom>
          <a:solidFill>
            <a:srgbClr val="F4F0FE"/>
          </a:solidFill>
          <a:ln/>
        </p:spPr>
      </p:sp>
      <p:sp>
        <p:nvSpPr>
          <p:cNvPr id="43" name="Shape 41"/>
          <p:cNvSpPr/>
          <p:nvPr/>
        </p:nvSpPr>
        <p:spPr>
          <a:xfrm>
            <a:off x="6199632" y="4608576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0" y="4608576"/>
            <a:ext cx="7863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7296912" y="4718304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시연</a:t>
            </a:r>
            <a:endParaRPr lang="en-US" sz="1550" dirty="0"/>
          </a:p>
        </p:txBody>
      </p:sp>
      <p:sp>
        <p:nvSpPr>
          <p:cNvPr id="46" name="Text 44"/>
          <p:cNvSpPr/>
          <p:nvPr/>
        </p:nvSpPr>
        <p:spPr>
          <a:xfrm>
            <a:off x="7296912" y="502920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기업개요·밸류·챗봇·관리자 (실접속)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548640" y="5486400"/>
            <a:ext cx="5440680" cy="749808"/>
          </a:xfrm>
          <a:prstGeom prst="roundRect">
            <a:avLst>
              <a:gd name="adj" fmla="val 13415"/>
            </a:avLst>
          </a:prstGeom>
          <a:solidFill>
            <a:srgbClr val="EFF5FF"/>
          </a:solidFill>
          <a:ln/>
        </p:spPr>
      </p:sp>
      <p:sp>
        <p:nvSpPr>
          <p:cNvPr id="48" name="Shape 46"/>
          <p:cNvSpPr/>
          <p:nvPr/>
        </p:nvSpPr>
        <p:spPr>
          <a:xfrm>
            <a:off x="548640" y="5486400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49" name="Text 47"/>
          <p:cNvSpPr/>
          <p:nvPr/>
        </p:nvSpPr>
        <p:spPr>
          <a:xfrm>
            <a:off x="749808" y="5486400"/>
            <a:ext cx="7863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1645920" y="559612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</a:t>
            </a:r>
            <a:endParaRPr lang="en-US" sz="1550" dirty="0"/>
          </a:p>
        </p:txBody>
      </p:sp>
      <p:sp>
        <p:nvSpPr>
          <p:cNvPr id="51" name="Text 49"/>
          <p:cNvSpPr/>
          <p:nvPr/>
        </p:nvSpPr>
        <p:spPr>
          <a:xfrm>
            <a:off x="1645920" y="5907024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상세 부록 — 공식·RAG·검증·인프라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199632" y="5486400"/>
            <a:ext cx="5440680" cy="749808"/>
          </a:xfrm>
          <a:prstGeom prst="roundRect">
            <a:avLst>
              <a:gd name="adj" fmla="val 13415"/>
            </a:avLst>
          </a:prstGeom>
          <a:solidFill>
            <a:srgbClr val="EAFBF6"/>
          </a:solidFill>
          <a:ln/>
        </p:spPr>
      </p:sp>
      <p:sp>
        <p:nvSpPr>
          <p:cNvPr id="53" name="Shape 51"/>
          <p:cNvSpPr/>
          <p:nvPr/>
        </p:nvSpPr>
        <p:spPr>
          <a:xfrm>
            <a:off x="6199632" y="5486400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54" name="Text 52"/>
          <p:cNvSpPr/>
          <p:nvPr/>
        </p:nvSpPr>
        <p:spPr>
          <a:xfrm>
            <a:off x="6400800" y="5486400"/>
            <a:ext cx="7863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7296912" y="559612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</a:t>
            </a:r>
            <a:endParaRPr lang="en-US" sz="1550" dirty="0"/>
          </a:p>
        </p:txBody>
      </p:sp>
      <p:sp>
        <p:nvSpPr>
          <p:cNvPr id="56" name="Text 54"/>
          <p:cNvSpPr/>
          <p:nvPr/>
        </p:nvSpPr>
        <p:spPr>
          <a:xfrm>
            <a:off x="7296912" y="5907024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질의응답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배경 · 문제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‘주식, 시작은 했는데…’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841248"/>
          </a:xfrm>
          <a:prstGeom prst="roundRect">
            <a:avLst>
              <a:gd name="adj" fmla="val 11957"/>
            </a:avLst>
          </a:prstGeom>
          <a:solidFill>
            <a:srgbClr val="FEF3E2"/>
          </a:solidFill>
          <a:ln w="15875">
            <a:solidFill>
              <a:srgbClr val="F2D4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1783080"/>
            <a:ext cx="457200" cy="457200"/>
          </a:xfrm>
          <a:prstGeom prst="ellipse">
            <a:avLst/>
          </a:prstGeom>
          <a:solidFill>
            <a:srgbClr val="D97A06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554480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A06"/>
                </a:solidFill>
              </a:rPr>
              <a:t>김초심 · 32세 직장인 · 주식 1년차    </a:t>
            </a:r>
            <a:pPr indent="0" marL="0">
              <a:buNone/>
            </a:pPr>
            <a:r>
              <a:rPr lang="en-US" sz="1600" i="1" dirty="0">
                <a:solidFill>
                  <a:srgbClr val="7A5212"/>
                </a:solidFill>
              </a:rPr>
              <a:t>“월급만으론 안 될 것 같아 시작했는데… 뭐부터, 어디서 봐야 하지?”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254203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개인투자자 1,400만 시대 — 누구나 시작하지만, ‘제대로 공부할 도구’는 여전히 전문가의 것입니다.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035808"/>
            <a:ext cx="3520440" cy="2139696"/>
          </a:xfrm>
          <a:prstGeom prst="roundRect">
            <a:avLst>
              <a:gd name="adj" fmla="val 4701"/>
            </a:avLst>
          </a:prstGeom>
          <a:solidFill>
            <a:srgbClr val="FFF1F4"/>
          </a:solidFill>
          <a:ln w="15875">
            <a:solidFill>
              <a:srgbClr val="E11D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035808"/>
            <a:ext cx="137160" cy="2139696"/>
          </a:xfrm>
          <a:prstGeom prst="roundRect">
            <a:avLst>
              <a:gd name="adj" fmla="val 40000"/>
            </a:avLst>
          </a:prstGeom>
          <a:solidFill>
            <a:srgbClr val="E11D48"/>
          </a:solidFill>
          <a:ln/>
        </p:spPr>
      </p:sp>
      <p:sp>
        <p:nvSpPr>
          <p:cNvPr id="12" name="Text 10"/>
          <p:cNvSpPr/>
          <p:nvPr/>
        </p:nvSpPr>
        <p:spPr>
          <a:xfrm>
            <a:off x="859536" y="323697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정보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59536" y="3767328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공시는 DART, 시세는 증권앱, 뉴스는 포털 — 한곳에 모이지 않아 매번 창을 옮겨다닌다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251960" y="3035808"/>
            <a:ext cx="3520440" cy="2139696"/>
          </a:xfrm>
          <a:prstGeom prst="roundRect">
            <a:avLst>
              <a:gd name="adj" fmla="val 4701"/>
            </a:avLst>
          </a:prstGeom>
          <a:solidFill>
            <a:srgbClr val="FEF3E2"/>
          </a:solidFill>
          <a:ln w="15875">
            <a:solidFill>
              <a:srgbClr val="D97A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51960" y="3035808"/>
            <a:ext cx="137160" cy="2139696"/>
          </a:xfrm>
          <a:prstGeom prst="roundRect">
            <a:avLst>
              <a:gd name="adj" fmla="val 40000"/>
            </a:avLst>
          </a:prstGeom>
          <a:solidFill>
            <a:srgbClr val="D97A06"/>
          </a:solidFill>
          <a:ln/>
        </p:spPr>
      </p:sp>
      <p:sp>
        <p:nvSpPr>
          <p:cNvPr id="16" name="Text 14"/>
          <p:cNvSpPr/>
          <p:nvPr/>
        </p:nvSpPr>
        <p:spPr>
          <a:xfrm>
            <a:off x="4562856" y="323697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어려운 용어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62856" y="3767328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PER·DCF·WACC… 비전공자에겐 외국어. 뜻을 찾다 지쳐 결국 ‘느낌’으로 산다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955280" y="3035808"/>
            <a:ext cx="3520440" cy="2139696"/>
          </a:xfrm>
          <a:prstGeom prst="roundRect">
            <a:avLst>
              <a:gd name="adj" fmla="val 4701"/>
            </a:avLst>
          </a:prstGeom>
          <a:solidFill>
            <a:srgbClr val="EFF5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3035808"/>
            <a:ext cx="137160" cy="2139696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8266176" y="323697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믿을 출처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66176" y="3767328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유튜브·단톡방의 ‘카더라’와 추천. 근거를 확인할 길이 없어 불안하다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" y="5413248"/>
            <a:ext cx="11091672" cy="877824"/>
          </a:xfrm>
          <a:prstGeom prst="roundRect">
            <a:avLst>
              <a:gd name="adj" fmla="val 11458"/>
            </a:avLst>
          </a:prstGeom>
          <a:solidFill>
            <a:srgbClr val="EFF5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5413248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413248"/>
            <a:ext cx="104241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563EB"/>
                </a:solidFill>
              </a:rPr>
              <a:t>→ 결국 문제는 </a:t>
            </a:r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E293B"/>
                </a:solidFill>
              </a:rPr>
              <a:t>‘정보 비대칭’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 — 전문가는 알고, 일반투자자는 모른다. 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B7268"/>
                </a:solidFill>
              </a:rPr>
              <a:t>우리는 이 격차를 줄이려 합니다.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0E9384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페르소나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우리는 ‘김초심’을 위해 만듭니다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처음엔 전문가용 정밀 분석을 떠올렸지만, 정말 도움이 필요한 사람은 ‘이제 막 시작한 일반투자자’였습니다 (피벗).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39696"/>
            <a:ext cx="5029200" cy="3931920"/>
          </a:xfrm>
          <a:prstGeom prst="roundRect">
            <a:avLst>
              <a:gd name="adj" fmla="val 2558"/>
            </a:avLst>
          </a:prstGeom>
          <a:solidFill>
            <a:srgbClr val="EFF5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39696"/>
            <a:ext cx="137160" cy="393192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2395728"/>
            <a:ext cx="822960" cy="822960"/>
          </a:xfrm>
          <a:prstGeom prst="ellipse">
            <a:avLst/>
          </a:prstGeom>
          <a:solidFill>
            <a:srgbClr val="D97A06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39572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810512" y="2432304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김초심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828800" y="288950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32세 · 직장인 · 주식 1년차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14400" y="3419856"/>
            <a:ext cx="48463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563EB"/>
                </a:solidFill>
              </a:rPr>
              <a:t>상황 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여윳돈으로 재테크 시작 · 종목은 뉴스·지인 추천으로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14400" y="4059936"/>
            <a:ext cx="48463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563EB"/>
                </a:solidFill>
              </a:rPr>
              <a:t>고민 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“이 회사 괜찮은 거야? 지금 사도 안 늦었나?”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14400" y="4700016"/>
            <a:ext cx="48463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563EB"/>
                </a:solidFill>
              </a:rPr>
              <a:t>불안 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용어가 어렵고, 정보 출처를 믿어도 될지 모르겠다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14400" y="5340096"/>
            <a:ext cx="48463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563EB"/>
                </a:solidFill>
              </a:rPr>
              <a:t>바람 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누가 ‘쉽게, 근거까지’ 알려주면 스스로 판단하고 싶다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852160" y="2139696"/>
            <a:ext cx="5788152" cy="1298448"/>
          </a:xfrm>
          <a:prstGeom prst="roundRect">
            <a:avLst>
              <a:gd name="adj" fmla="val 7746"/>
            </a:avLst>
          </a:prstGeom>
          <a:solidFill>
            <a:srgbClr val="F6F9FD"/>
          </a:solidFill>
          <a:ln w="15875">
            <a:solidFill>
              <a:srgbClr val="E6EC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139696"/>
            <a:ext cx="137160" cy="1298448"/>
          </a:xfrm>
          <a:prstGeom prst="roundRect">
            <a:avLst>
              <a:gd name="adj" fmla="val 40000"/>
            </a:avLst>
          </a:prstGeom>
          <a:solidFill>
            <a:srgbClr val="98A6BC"/>
          </a:solidFill>
          <a:ln/>
        </p:spPr>
      </p:sp>
      <p:sp>
        <p:nvSpPr>
          <p:cNvPr id="18" name="Text 16"/>
          <p:cNvSpPr/>
          <p:nvPr/>
        </p:nvSpPr>
        <p:spPr>
          <a:xfrm>
            <a:off x="6163056" y="22860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· 전문가용 정밀 분석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63056" y="2706624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지표·시나리오 중심 · 진입장벽이 높아 ‘아는 사람만’ 쓰는 도구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852160" y="3602736"/>
            <a:ext cx="5788152" cy="1298448"/>
          </a:xfrm>
          <a:prstGeom prst="roundRect">
            <a:avLst>
              <a:gd name="adj" fmla="val 7746"/>
            </a:avLst>
          </a:prstGeom>
          <a:solidFill>
            <a:srgbClr val="EFF5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52160" y="3602736"/>
            <a:ext cx="137160" cy="129844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6163056" y="3749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· 일반투자자 ‘김초심’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63056" y="4169664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쉬운 설명 + 신뢰 출처 + 스스로 판단 — 정보 비대칭을 줄이는 데 집중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852160" y="5065776"/>
            <a:ext cx="5788152" cy="1005840"/>
          </a:xfrm>
          <a:prstGeom prst="roundRect">
            <a:avLst>
              <a:gd name="adj" fmla="val 10000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3056" y="5065776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B7268"/>
                </a:solidFill>
              </a:rPr>
              <a:t>왜 일반투자자인가  </a:t>
            </a:r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1E293B"/>
                </a:solidFill>
              </a:rPr>
              <a:t>전문가는 이미 도구가 많습니다. 정작 ‘처음 시작한 다수’에게는 쉽고 믿을 만한 길잡이가 없었습니다.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120640" cy="5120640"/>
          </a:xfrm>
          <a:prstGeom prst="ellipse">
            <a:avLst/>
          </a:prstGeom>
          <a:solidFill>
            <a:srgbClr val="0E9384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4754880"/>
            <a:ext cx="4023360" cy="402336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0E9384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미션 · 해결방안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격차를 줄이는 첫걸음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792224"/>
            <a:ext cx="11091672" cy="1517904"/>
          </a:xfrm>
          <a:prstGeom prst="roundRect">
            <a:avLst>
              <a:gd name="adj" fmla="val 6627"/>
            </a:avLst>
          </a:prstGeom>
          <a:solidFill>
            <a:srgbClr val="EFF5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92224"/>
            <a:ext cx="137160" cy="1517904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975104"/>
            <a:ext cx="1024128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신뢰할 수 있는 공식 정보(DART·KRX)를 한곳에 모아,</a:t>
            </a:r>
            <a:endParaRPr lang="en-US" sz="2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누구나 쉽게 공부하고 ‘스스로 판단’하도록 돕는다.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3529584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처음부터 끝까지 지킨 3원칙 (핵심 요구사항)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4005072"/>
            <a:ext cx="3520440" cy="2066544"/>
          </a:xfrm>
          <a:prstGeom prst="roundRect">
            <a:avLst>
              <a:gd name="adj" fmla="val 4867"/>
            </a:avLst>
          </a:prstGeom>
          <a:solidFill>
            <a:srgbClr val="EFF5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4005072"/>
            <a:ext cx="3191256" cy="128016"/>
          </a:xfrm>
          <a:prstGeom prst="roundRect">
            <a:avLst>
              <a:gd name="adj" fmla="val 35714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242816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쉬움 (2-Tier)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" y="4718304"/>
            <a:ext cx="310896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화면을 ‘초보(신호등·쉬운 말)’와 ‘전문가(근거·지표)’ 두 깊이로 — 비전공자도, 더 알고 싶은 사람도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51960" y="4005072"/>
            <a:ext cx="3520440" cy="2066544"/>
          </a:xfrm>
          <a:prstGeom prst="roundRect">
            <a:avLst>
              <a:gd name="adj" fmla="val 4867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16552" y="4005072"/>
            <a:ext cx="3191256" cy="128016"/>
          </a:xfrm>
          <a:prstGeom prst="roundRect">
            <a:avLst>
              <a:gd name="adj" fmla="val 35714"/>
            </a:avLst>
          </a:prstGeom>
          <a:solidFill>
            <a:srgbClr val="0E9384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4242816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(NO-MOCK)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26280" y="4718304"/>
            <a:ext cx="310896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값은 DART·KRX·계산식 출처. 없으면 지어내지 않고 ‘데이터 없음’으로 정직 표기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955280" y="4005072"/>
            <a:ext cx="3520440" cy="2066544"/>
          </a:xfrm>
          <a:prstGeom prst="roundRect">
            <a:avLst>
              <a:gd name="adj" fmla="val 4867"/>
            </a:avLst>
          </a:prstGeom>
          <a:solidFill>
            <a:srgbClr val="FEF3E2"/>
          </a:solidFill>
          <a:ln w="15875">
            <a:solidFill>
              <a:srgbClr val="D97A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19872" y="4005072"/>
            <a:ext cx="3191256" cy="128016"/>
          </a:xfrm>
          <a:prstGeom prst="roundRect">
            <a:avLst>
              <a:gd name="adj" fmla="val 35714"/>
            </a:avLst>
          </a:prstGeom>
          <a:solidFill>
            <a:srgbClr val="D97A06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4242816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 판단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29600" y="4718304"/>
            <a:ext cx="310896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‘정답 가격’을 강요하지 않음. 적정가도 참고 범위로 주고 한계를 함께 고지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463040"/>
            <a:ext cx="4754880" cy="475488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4937760"/>
            <a:ext cx="3840480" cy="3840480"/>
          </a:xfrm>
          <a:prstGeom prst="ellipse">
            <a:avLst/>
          </a:prstGeom>
          <a:solidFill>
            <a:srgbClr val="0E938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비전 · 과제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멈추지 않습니다 — 더 정확하게, 더 넓게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773936"/>
            <a:ext cx="11091672" cy="786384"/>
          </a:xfrm>
          <a:prstGeom prst="roundRect">
            <a:avLst>
              <a:gd name="adj" fmla="val 12791"/>
            </a:avLst>
          </a:prstGeom>
          <a:solidFill>
            <a:srgbClr val="F4F0F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73936"/>
            <a:ext cx="137160" cy="786384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773936"/>
            <a:ext cx="10424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비전   </a:t>
            </a:r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</a:rPr>
              <a:t>전 종목·전 업종을 정확하게 — 누구나 믿고 쓰는 ‘한국형 밸류에이션 표준’으로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798064"/>
            <a:ext cx="3520440" cy="3035808"/>
          </a:xfrm>
          <a:prstGeom prst="roundRect">
            <a:avLst>
              <a:gd name="adj" fmla="val 3313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2798064"/>
            <a:ext cx="3191256" cy="128016"/>
          </a:xfrm>
          <a:prstGeom prst="roundRect">
            <a:avLst>
              <a:gd name="adj" fmla="val 35714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80944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피어기업 정교화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86384" y="3529584"/>
            <a:ext cx="3044952" cy="1060704"/>
          </a:xfrm>
          <a:prstGeom prst="roundRect">
            <a:avLst>
              <a:gd name="adj" fmla="val 9483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6027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2688" y="3858768"/>
            <a:ext cx="276148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WICS 업종 + 사업 유사도(임베딩) 10기준 자동선정 · 신뢰도 A~E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462686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86384" y="4882896"/>
            <a:ext cx="3044952" cy="841248"/>
          </a:xfrm>
          <a:prstGeom prst="roundRect">
            <a:avLst>
              <a:gd name="adj" fmla="val 11957"/>
            </a:avLst>
          </a:prstGeom>
          <a:solidFill>
            <a:srgbClr val="EFF5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4937760"/>
            <a:ext cx="27614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b="1" dirty="0">
                <a:solidFill>
                  <a:srgbClr val="2563EB"/>
                </a:solidFill>
              </a:rPr>
              <a:t>향후  </a:t>
            </a:r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1E293B"/>
                </a:solidFill>
              </a:rPr>
              <a:t>임베딩·온톨로지 고도화 · 동적 가중치 · 글로벌 피어 확장 · 신뢰도 등급 정밀화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51960" y="2798064"/>
            <a:ext cx="3520440" cy="3035808"/>
          </a:xfrm>
          <a:prstGeom prst="roundRect">
            <a:avLst>
              <a:gd name="adj" fmla="val 3313"/>
            </a:avLst>
          </a:prstGeom>
          <a:solidFill>
            <a:srgbClr val="FFFFFF"/>
          </a:solidFill>
          <a:ln w="15875">
            <a:solidFill>
              <a:srgbClr val="0E938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16552" y="2798064"/>
            <a:ext cx="3191256" cy="128016"/>
          </a:xfrm>
          <a:prstGeom prst="roundRect">
            <a:avLst>
              <a:gd name="adj" fmla="val 35714"/>
            </a:avLst>
          </a:prstGeom>
          <a:solidFill>
            <a:srgbClr val="0E9384"/>
          </a:solidFill>
          <a:ln/>
        </p:spPr>
      </p:sp>
      <p:sp>
        <p:nvSpPr>
          <p:cNvPr id="21" name="Text 19"/>
          <p:cNvSpPr/>
          <p:nvPr/>
        </p:nvSpPr>
        <p:spPr>
          <a:xfrm>
            <a:off x="4526280" y="2980944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금융·지주 밸류에이션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4489704" y="3529584"/>
            <a:ext cx="3044952" cy="1060704"/>
          </a:xfrm>
          <a:prstGeom prst="roundRect">
            <a:avLst>
              <a:gd name="adj" fmla="val 9483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36008" y="36027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36008" y="3858768"/>
            <a:ext cx="276148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금융·지주는 FCFF가 맞지 않아 DCF 제외 → 멀티플·NAV로 유도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26280" y="462686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489704" y="4882896"/>
            <a:ext cx="3044952" cy="841248"/>
          </a:xfrm>
          <a:prstGeom prst="roundRect">
            <a:avLst>
              <a:gd name="adj" fmla="val 11957"/>
            </a:avLst>
          </a:prstGeom>
          <a:solidFill>
            <a:srgbClr val="EAFBF6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36008" y="4937760"/>
            <a:ext cx="27614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b="1" dirty="0">
                <a:solidFill>
                  <a:srgbClr val="0E9384"/>
                </a:solidFill>
              </a:rPr>
              <a:t>향후  </a:t>
            </a:r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1E293B"/>
                </a:solidFill>
              </a:rPr>
              <a:t>금융 DDM·RIM·P-B-ROE · 지주 NAV/SOTP 전용 모델 → 전 업종 커버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955280" y="2798064"/>
            <a:ext cx="3520440" cy="3035808"/>
          </a:xfrm>
          <a:prstGeom prst="roundRect">
            <a:avLst>
              <a:gd name="adj" fmla="val 3313"/>
            </a:avLst>
          </a:prstGeom>
          <a:solidFill>
            <a:srgbClr val="FFFFFF"/>
          </a:solidFill>
          <a:ln w="15875">
            <a:solidFill>
              <a:srgbClr val="D97A06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119872" y="2798064"/>
            <a:ext cx="3191256" cy="128016"/>
          </a:xfrm>
          <a:prstGeom prst="roundRect">
            <a:avLst>
              <a:gd name="adj" fmla="val 35714"/>
            </a:avLst>
          </a:prstGeom>
          <a:solidFill>
            <a:srgbClr val="D97A06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0" y="2980944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FCFF·DCF 정교화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8193024" y="3529584"/>
            <a:ext cx="3044952" cy="1060704"/>
          </a:xfrm>
          <a:prstGeom prst="roundRect">
            <a:avLst>
              <a:gd name="adj" fmla="val 9483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39328" y="36027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339328" y="3858768"/>
            <a:ext cx="276148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FCFF=EBIT(1−t)+D&amp;A−CapEx−ΔNWC · 5년 예측 · 해자·중간시점 보정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229600" y="462686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193024" y="4882896"/>
            <a:ext cx="3044952" cy="841248"/>
          </a:xfrm>
          <a:prstGeom prst="roundRect">
            <a:avLst>
              <a:gd name="adj" fmla="val 11957"/>
            </a:avLst>
          </a:prstGeom>
          <a:solidFill>
            <a:srgbClr val="FEF3E2"/>
          </a:solidFill>
          <a:ln w="12700">
            <a:solidFill>
              <a:srgbClr val="D97A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39328" y="4937760"/>
            <a:ext cx="27614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b="1" dirty="0">
                <a:solidFill>
                  <a:srgbClr val="D97A06"/>
                </a:solidFill>
              </a:rPr>
              <a:t>향후  </a:t>
            </a:r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1E293B"/>
                </a:solidFill>
              </a:rPr>
              <a:t>애널리스트 컨센서스 연동 · 시나리오 확률가중 · 업종별 정상화·세그먼트 분해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유사사례 · 포지셔닝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서비스가 못 채운 자리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공시를 ‘읽어주는’ 서비스, 시세를 ‘보여주는’ 서비스는 있어도 — ‘쉽게+근거+스스로 판단’을 한곳에 주는 곳은 드뭅니다.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249424"/>
            <a:ext cx="3657600" cy="438912"/>
          </a:xfrm>
          <a:prstGeom prst="roundRect">
            <a:avLst>
              <a:gd name="adj" fmla="val 22917"/>
            </a:avLst>
          </a:prstGeom>
          <a:solidFill>
            <a:srgbClr val="F6F9FD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2249424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/ 서비스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06240" y="2249424"/>
            <a:ext cx="1463040" cy="438912"/>
          </a:xfrm>
          <a:prstGeom prst="roundRect">
            <a:avLst>
              <a:gd name="adj" fmla="val 22917"/>
            </a:avLst>
          </a:prstGeom>
          <a:solidFill>
            <a:srgbClr val="F6F9FD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224942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증권사 앱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0" y="2249424"/>
            <a:ext cx="1463040" cy="438912"/>
          </a:xfrm>
          <a:prstGeom prst="roundRect">
            <a:avLst>
              <a:gd name="adj" fmla="val 22917"/>
            </a:avLst>
          </a:prstGeom>
          <a:solidFill>
            <a:srgbClr val="F6F9FD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224942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증권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32320" y="2249424"/>
            <a:ext cx="1764792" cy="438912"/>
          </a:xfrm>
          <a:prstGeom prst="roundRect">
            <a:avLst>
              <a:gd name="adj" fmla="val 22917"/>
            </a:avLst>
          </a:prstGeom>
          <a:solidFill>
            <a:srgbClr val="F6F9FD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2249424"/>
            <a:ext cx="17647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다트포인트AI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97112" y="2249424"/>
            <a:ext cx="2743200" cy="438912"/>
          </a:xfrm>
          <a:prstGeom prst="roundRect">
            <a:avLst>
              <a:gd name="adj" fmla="val 22917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8897112" y="224942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FINSIGHT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688336"/>
            <a:ext cx="3657600" cy="457200"/>
          </a:xfrm>
          <a:prstGeom prst="roundRect">
            <a:avLst>
              <a:gd name="adj" fmla="val 22000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2688336"/>
            <a:ext cx="3438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전종목 자동 밸류에이션(적정가)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206240" y="268833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26883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0" y="268833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26883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132320" y="2688336"/>
            <a:ext cx="1764792" cy="457200"/>
          </a:xfrm>
          <a:prstGeom prst="roundRect">
            <a:avLst>
              <a:gd name="adj" fmla="val 22000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2688336"/>
            <a:ext cx="1764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897112" y="2688336"/>
            <a:ext cx="2743200" cy="457200"/>
          </a:xfrm>
          <a:prstGeom prst="roundRect">
            <a:avLst>
              <a:gd name="adj" fmla="val 22000"/>
            </a:avLst>
          </a:prstGeom>
          <a:solidFill>
            <a:srgbClr val="EFF5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97112" y="26883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약 2,200종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145536"/>
            <a:ext cx="3657600" cy="457200"/>
          </a:xfrm>
          <a:prstGeom prst="roundRect">
            <a:avLst>
              <a:gd name="adj" fmla="val 22000"/>
            </a:avLst>
          </a:prstGeom>
          <a:solidFill>
            <a:srgbClr val="F6F9FD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" y="3145536"/>
            <a:ext cx="3438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공시 분석 · 히스토리 브리핑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206240" y="314553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F6F9FD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0" y="31455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669280" y="314553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F6F9FD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31455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132320" y="3145536"/>
            <a:ext cx="1764792" cy="457200"/>
          </a:xfrm>
          <a:prstGeom prst="roundRect">
            <a:avLst>
              <a:gd name="adj" fmla="val 22000"/>
            </a:avLst>
          </a:prstGeom>
          <a:solidFill>
            <a:srgbClr val="F6F9FD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0" y="3145536"/>
            <a:ext cx="1764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897112" y="3145536"/>
            <a:ext cx="2743200" cy="457200"/>
          </a:xfrm>
          <a:prstGeom prst="roundRect">
            <a:avLst>
              <a:gd name="adj" fmla="val 22000"/>
            </a:avLst>
          </a:prstGeom>
          <a:solidFill>
            <a:srgbClr val="EFF5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97112" y="31455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2,526종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3602736"/>
            <a:ext cx="3657600" cy="457200"/>
          </a:xfrm>
          <a:prstGeom prst="roundRect">
            <a:avLst>
              <a:gd name="adj" fmla="val 22000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" y="3602736"/>
            <a:ext cx="3438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대화형 RAG 챗봇 (출처 표시)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206240" y="360273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0" y="36027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669280" y="360273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0" y="36027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132320" y="3602736"/>
            <a:ext cx="1764792" cy="457200"/>
          </a:xfrm>
          <a:prstGeom prst="roundRect">
            <a:avLst>
              <a:gd name="adj" fmla="val 22000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0" y="3602736"/>
            <a:ext cx="1764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897112" y="3602736"/>
            <a:ext cx="2743200" cy="457200"/>
          </a:xfrm>
          <a:prstGeom prst="roundRect">
            <a:avLst>
              <a:gd name="adj" fmla="val 22000"/>
            </a:avLst>
          </a:prstGeom>
          <a:solidFill>
            <a:srgbClr val="EFF5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897112" y="36027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DART 출처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4059936"/>
            <a:ext cx="3657600" cy="457200"/>
          </a:xfrm>
          <a:prstGeom prst="roundRect">
            <a:avLst>
              <a:gd name="adj" fmla="val 22000"/>
            </a:avLst>
          </a:prstGeom>
          <a:solidFill>
            <a:srgbClr val="F6F9FD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944" y="4059936"/>
            <a:ext cx="3438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신뢰성 검증 (NO-MOCK·전수검수)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206240" y="405993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F6F9FD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06240" y="40599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669280" y="405993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F6F9FD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69280" y="40599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7132320" y="4059936"/>
            <a:ext cx="1764792" cy="457200"/>
          </a:xfrm>
          <a:prstGeom prst="roundRect">
            <a:avLst>
              <a:gd name="adj" fmla="val 22000"/>
            </a:avLst>
          </a:prstGeom>
          <a:solidFill>
            <a:srgbClr val="F6F9FD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32320" y="4059936"/>
            <a:ext cx="1764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8897112" y="4059936"/>
            <a:ext cx="2743200" cy="457200"/>
          </a:xfrm>
          <a:prstGeom prst="roundRect">
            <a:avLst>
              <a:gd name="adj" fmla="val 22000"/>
            </a:avLst>
          </a:prstGeom>
          <a:solidFill>
            <a:srgbClr val="EFF5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897112" y="40599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28,468건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48640" y="4517136"/>
            <a:ext cx="3657600" cy="457200"/>
          </a:xfrm>
          <a:prstGeom prst="roundRect">
            <a:avLst>
              <a:gd name="adj" fmla="val 22000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4944" y="4517136"/>
            <a:ext cx="3438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일반투자자 친화 (2-Tier)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4206240" y="451713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06240" y="45171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5669280" y="451713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69280" y="45171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7132320" y="4517136"/>
            <a:ext cx="1764792" cy="457200"/>
          </a:xfrm>
          <a:prstGeom prst="roundRect">
            <a:avLst>
              <a:gd name="adj" fmla="val 22000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32320" y="4517136"/>
            <a:ext cx="1764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△(전문가)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8897112" y="4517136"/>
            <a:ext cx="2743200" cy="457200"/>
          </a:xfrm>
          <a:prstGeom prst="roundRect">
            <a:avLst>
              <a:gd name="adj" fmla="val 22000"/>
            </a:avLst>
          </a:prstGeom>
          <a:solidFill>
            <a:srgbClr val="EFF5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897112" y="45171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초보+전문가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548640" y="4974336"/>
            <a:ext cx="3657600" cy="457200"/>
          </a:xfrm>
          <a:prstGeom prst="roundRect">
            <a:avLst>
              <a:gd name="adj" fmla="val 22000"/>
            </a:avLst>
          </a:prstGeom>
          <a:solidFill>
            <a:srgbClr val="F6F9FD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94944" y="4974336"/>
            <a:ext cx="3438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계열사 시각화 · 통합 한 화면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4206240" y="497433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F6F9FD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206240" y="49743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5669280" y="497433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F6F9FD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69280" y="49743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7132320" y="4974336"/>
            <a:ext cx="1764792" cy="457200"/>
          </a:xfrm>
          <a:prstGeom prst="roundRect">
            <a:avLst>
              <a:gd name="adj" fmla="val 22000"/>
            </a:avLst>
          </a:prstGeom>
          <a:solidFill>
            <a:srgbClr val="F6F9FD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132320" y="4974336"/>
            <a:ext cx="1764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8897112" y="4974336"/>
            <a:ext cx="2743200" cy="457200"/>
          </a:xfrm>
          <a:prstGeom prst="roundRect">
            <a:avLst>
              <a:gd name="adj" fmla="val 22000"/>
            </a:avLst>
          </a:prstGeom>
          <a:solidFill>
            <a:srgbClr val="EFF5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897112" y="49743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2,362종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548640" y="605332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제공 · △ 부분/제한 · ✕ 없음   |   다트포인트AI = 공시 분석 특화(전문가 효율) · FINSIGHT = 밸류에이션+신뢰성+일반투자자 판단지원</a:t>
            </a:r>
            <a:endParaRPr lang="en-US" sz="1150" dirty="0"/>
          </a:p>
        </p:txBody>
      </p:sp>
      <p:sp>
        <p:nvSpPr>
          <p:cNvPr id="77" name="Text 75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D97A0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차별점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‘공시를 읽어주는’ 곳을 넘어, ‘판단을 돕는’ 곳으로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09344"/>
            <a:ext cx="5440680" cy="2286000"/>
          </a:xfrm>
          <a:prstGeom prst="roundRect">
            <a:avLst>
              <a:gd name="adj" fmla="val 4400"/>
            </a:avLst>
          </a:prstGeom>
          <a:solidFill>
            <a:srgbClr val="F6F9FD"/>
          </a:solidFill>
          <a:ln w="15875">
            <a:solidFill>
              <a:srgbClr val="E6EC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9344"/>
            <a:ext cx="137160" cy="2286000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다트포인트AI (사이냅소프트)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121408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전자공시 기반 AI 기업정보 서비스 (’24.12 베타·’25.06 MCP)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59536" y="2523744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</a:rPr>
              <a:t>· 강점 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1607A"/>
                </a:solidFill>
              </a:rPr>
              <a:t>수백 쪽 공시를 대화형으로 요약 · 보고서·엑셀 변환 · MCP(Claude·Cursor) 연동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59536" y="2980944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</a:rPr>
              <a:t>· 초점 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1607A"/>
                </a:solidFill>
              </a:rPr>
              <a:t>분석가·실무자의 ‘공시 분석 업무 효율’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59536" y="3438144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</a:rPr>
              <a:t>· 빈자리 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1607A"/>
                </a:solidFill>
              </a:rPr>
              <a:t>적정주가(밸류에이션) 없음 · 환각/신뢰성 검증 약함 · 일반투자자 친화 낮음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1609344"/>
            <a:ext cx="5468112" cy="2286000"/>
          </a:xfrm>
          <a:prstGeom prst="roundRect">
            <a:avLst>
              <a:gd name="adj" fmla="val 4400"/>
            </a:avLst>
          </a:prstGeom>
          <a:solidFill>
            <a:srgbClr val="FFFFFF"/>
          </a:solidFill>
          <a:ln w="15875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6824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포지셔닝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098280" y="2011680"/>
            <a:ext cx="0" cy="1737360"/>
          </a:xfrm>
          <a:prstGeom prst="line">
            <a:avLst/>
          </a:prstGeom>
          <a:noFill/>
          <a:ln w="12700">
            <a:solidFill>
              <a:srgbClr val="E6EC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2880360"/>
            <a:ext cx="4754880" cy="0"/>
          </a:xfrm>
          <a:prstGeom prst="line">
            <a:avLst/>
          </a:prstGeom>
          <a:noFill/>
          <a:ln w="12700">
            <a:solidFill>
              <a:srgbClr val="E6EC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197510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일반투자자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20840" y="3602736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17336" y="277063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 분석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9144" y="2770632"/>
            <a:ext cx="676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지원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03720" y="226771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226771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다트포인트AI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692640" y="3145536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9692640" y="3145536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FINSIGHT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0" y="3182112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98A6BC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318211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증권사앱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4078224"/>
            <a:ext cx="5440680" cy="950976"/>
          </a:xfrm>
          <a:prstGeom prst="roundRect">
            <a:avLst>
              <a:gd name="adj" fmla="val 10577"/>
            </a:avLst>
          </a:prstGeom>
          <a:solidFill>
            <a:srgbClr val="EFF5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078224"/>
            <a:ext cx="137160" cy="950976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18795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전종목 밸류에이션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2960" y="4553712"/>
            <a:ext cx="49834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DCF·멀티플 4-Way 적정가 — 공시 요약을 넘어 ‘싼지 비싼지’까지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199632" y="4078224"/>
            <a:ext cx="5440680" cy="950976"/>
          </a:xfrm>
          <a:prstGeom prst="roundRect">
            <a:avLst>
              <a:gd name="adj" fmla="val 10577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99632" y="4078224"/>
            <a:ext cx="137160" cy="950976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32" name="Text 30"/>
          <p:cNvSpPr/>
          <p:nvPr/>
        </p:nvSpPr>
        <p:spPr>
          <a:xfrm>
            <a:off x="6473952" y="418795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NO-MOCK 신뢰성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73952" y="4553712"/>
            <a:ext cx="49834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강제 + 전수검수 28,468건 + 관리자 검증 — 환각 대신 근거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5138928"/>
            <a:ext cx="5440680" cy="950976"/>
          </a:xfrm>
          <a:prstGeom prst="roundRect">
            <a:avLst>
              <a:gd name="adj" fmla="val 10577"/>
            </a:avLst>
          </a:prstGeom>
          <a:solidFill>
            <a:srgbClr val="FEF3E2"/>
          </a:solidFill>
          <a:ln w="15875">
            <a:solidFill>
              <a:srgbClr val="D97A0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5138928"/>
            <a:ext cx="137160" cy="950976"/>
          </a:xfrm>
          <a:prstGeom prst="roundRect">
            <a:avLst>
              <a:gd name="adj" fmla="val 40000"/>
            </a:avLst>
          </a:prstGeom>
          <a:solidFill>
            <a:srgbClr val="D97A06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524865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일반투자자 2-Tier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22960" y="5614416"/>
            <a:ext cx="49834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초보(신호등)·전문가(지표) 두 깊이 — 비전공자도 이해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199632" y="5138928"/>
            <a:ext cx="5440680" cy="950976"/>
          </a:xfrm>
          <a:prstGeom prst="roundRect">
            <a:avLst>
              <a:gd name="adj" fmla="val 10577"/>
            </a:avLst>
          </a:prstGeom>
          <a:solidFill>
            <a:srgbClr val="F4F0F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99632" y="5138928"/>
            <a:ext cx="137160" cy="950976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/>
        </p:spPr>
      </p:sp>
      <p:sp>
        <p:nvSpPr>
          <p:cNvPr id="40" name="Text 38"/>
          <p:cNvSpPr/>
          <p:nvPr/>
        </p:nvSpPr>
        <p:spPr>
          <a:xfrm>
            <a:off x="6473952" y="524865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한 화면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473952" y="5614416"/>
            <a:ext cx="49834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기업개요+밸류+챗봇+계열사 — 창을 옮겨다닐 필요 없음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0E9384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여정 · WBS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킥오프(4/22) → 최종 발표(6/20) · 5 스프린트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‘리스크 큰 것부터 증명하고, 정확히 만들고, 세상에 올린다’ — 88개 작업을 5번에 나눠 실행.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212848"/>
            <a:ext cx="11091672" cy="640080"/>
          </a:xfrm>
          <a:prstGeom prst="roundRect">
            <a:avLst>
              <a:gd name="adj" fmla="val 15714"/>
            </a:avLst>
          </a:prstGeom>
          <a:solidFill>
            <a:srgbClr val="FBFDFF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212848"/>
            <a:ext cx="137160" cy="64008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2368296"/>
            <a:ext cx="1335024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368296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킥오프·S1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212848" y="221284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4/22~4/28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75888" y="221284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헌장 · 페르소나 · 기획서 · 요구사항 정의서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944368"/>
            <a:ext cx="11091672" cy="640080"/>
          </a:xfrm>
          <a:prstGeom prst="roundRect">
            <a:avLst>
              <a:gd name="adj" fmla="val 15714"/>
            </a:avLst>
          </a:prstGeom>
          <a:solidFill>
            <a:srgbClr val="F6F9FD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944368"/>
            <a:ext cx="137160" cy="640080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" y="3099816"/>
            <a:ext cx="1335024" cy="365760"/>
          </a:xfrm>
          <a:prstGeom prst="roundRect">
            <a:avLst>
              <a:gd name="adj" fmla="val 50000"/>
            </a:avLst>
          </a:prstGeom>
          <a:solidFill>
            <a:srgbClr val="0E9384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099816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212848" y="294436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4/29~5/9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75888" y="294436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가장 어려운 밸류엔진부터 — DCF 3시나리오 · WACC · 멀티플 · 피어 선정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675888"/>
            <a:ext cx="11091672" cy="640080"/>
          </a:xfrm>
          <a:prstGeom prst="roundRect">
            <a:avLst>
              <a:gd name="adj" fmla="val 15714"/>
            </a:avLst>
          </a:prstGeom>
          <a:solidFill>
            <a:srgbClr val="FBFDFF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675888"/>
            <a:ext cx="137160" cy="640080"/>
          </a:xfrm>
          <a:prstGeom prst="roundRect">
            <a:avLst>
              <a:gd name="adj" fmla="val 40000"/>
            </a:avLst>
          </a:prstGeom>
          <a:solidFill>
            <a:srgbClr val="D97A06"/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" y="3831336"/>
            <a:ext cx="1335024" cy="365760"/>
          </a:xfrm>
          <a:prstGeom prst="roundRect">
            <a:avLst>
              <a:gd name="adj" fmla="val 50000"/>
            </a:avLst>
          </a:prstGeom>
          <a:solidFill>
            <a:srgbClr val="D97A06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831336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212848" y="367588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5/12~5/22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75888" y="367588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기업개요 · AI 히스토리 브리핑(RAG) · Next.js UI · 1차 로컬 배포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407408"/>
            <a:ext cx="11091672" cy="640080"/>
          </a:xfrm>
          <a:prstGeom prst="roundRect">
            <a:avLst>
              <a:gd name="adj" fmla="val 15714"/>
            </a:avLst>
          </a:prstGeom>
          <a:solidFill>
            <a:srgbClr val="F6F9FD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407408"/>
            <a:ext cx="137160" cy="640080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/>
        </p:spPr>
      </p:sp>
      <p:sp>
        <p:nvSpPr>
          <p:cNvPr id="26" name="Shape 24"/>
          <p:cNvSpPr/>
          <p:nvPr/>
        </p:nvSpPr>
        <p:spPr>
          <a:xfrm>
            <a:off x="749808" y="4562856"/>
            <a:ext cx="1335024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4562856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212848" y="440740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5/26~6/5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75888" y="440740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 정확성(XBRL 3개년) · AI 브리핑 전수화 · UI/UX 고도화 · 관리자 페이지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5138928"/>
            <a:ext cx="11091672" cy="640080"/>
          </a:xfrm>
          <a:prstGeom prst="roundRect">
            <a:avLst>
              <a:gd name="adj" fmla="val 15714"/>
            </a:avLst>
          </a:prstGeom>
          <a:solidFill>
            <a:srgbClr val="FBFDFF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5138928"/>
            <a:ext cx="137160" cy="640080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32" name="Shape 30"/>
          <p:cNvSpPr/>
          <p:nvPr/>
        </p:nvSpPr>
        <p:spPr>
          <a:xfrm>
            <a:off x="749808" y="5294376"/>
            <a:ext cx="1335024" cy="365760"/>
          </a:xfrm>
          <a:prstGeom prst="roundRect">
            <a:avLst>
              <a:gd name="adj" fmla="val 50000"/>
            </a:avLst>
          </a:prstGeom>
          <a:solidFill>
            <a:srgbClr val="0E9384"/>
          </a:solidFill>
          <a:ln/>
        </p:spPr>
      </p:sp>
      <p:sp>
        <p:nvSpPr>
          <p:cNvPr id="33" name="Text 31"/>
          <p:cNvSpPr/>
          <p:nvPr/>
        </p:nvSpPr>
        <p:spPr>
          <a:xfrm>
            <a:off x="749808" y="5294376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S5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2212848" y="513892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6/8~6/19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75888" y="513892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DB 클라우드 이관(AWS RDS) · 계열사 전종목 · 메인 리디자인 · AWS 배포+HTTPS · QA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5852160"/>
            <a:ext cx="11091672" cy="457200"/>
          </a:xfrm>
          <a:prstGeom prst="roundRect">
            <a:avLst>
              <a:gd name="adj" fmla="val 22000"/>
            </a:avLst>
          </a:prstGeom>
          <a:solidFill>
            <a:srgbClr val="EAF7EE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88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WBS 작업  ·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완료 81 · 진행 6 · 예정 1   ·   멘토링 4회 피드백을 다음 백로그에 반영   ·   워터폴(골격)+애자일(반복)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구성 · 역할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개의 파트가 한 서비스로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파트별로 책임 영역을 나누되, 공통 데이터 계약(NO-MOCK·종목코드 키)으로 하나처럼 움직였습니다.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57984"/>
            <a:ext cx="5440680" cy="1865376"/>
          </a:xfrm>
          <a:prstGeom prst="roundRect">
            <a:avLst>
              <a:gd name="adj" fmla="val 5392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157984"/>
            <a:ext cx="5074920" cy="128016"/>
          </a:xfrm>
          <a:prstGeom prst="roundRect">
            <a:avLst>
              <a:gd name="adj" fmla="val 35714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042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 · 공통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251960" y="2340864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EFF5FF"/>
          </a:solidFill>
          <a:ln/>
        </p:spPr>
      </p:sp>
      <p:sp>
        <p:nvSpPr>
          <p:cNvPr id="10" name="Text 8"/>
          <p:cNvSpPr/>
          <p:nvPr/>
        </p:nvSpPr>
        <p:spPr>
          <a:xfrm>
            <a:off x="4251960" y="234086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기획·조율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651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[          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94436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헌장·기획서·요구사항 정의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41248" y="320497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WBS·일정·멘토링 반영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41248" y="346557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QA·비기능 검증·발표 총괄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41248" y="372618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서버 설계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99632" y="2157984"/>
            <a:ext cx="5440680" cy="1865376"/>
          </a:xfrm>
          <a:prstGeom prst="roundRect">
            <a:avLst>
              <a:gd name="adj" fmla="val 5392"/>
            </a:avLst>
          </a:prstGeom>
          <a:solidFill>
            <a:srgbClr val="FFFFFF"/>
          </a:solidFill>
          <a:ln w="15875">
            <a:solidFill>
              <a:srgbClr val="0E938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82512" y="2157984"/>
            <a:ext cx="5074920" cy="128016"/>
          </a:xfrm>
          <a:prstGeom prst="roundRect">
            <a:avLst>
              <a:gd name="adj" fmla="val 35714"/>
            </a:avLst>
          </a:prstGeom>
          <a:solidFill>
            <a:srgbClr val="0E9384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3042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기업개요 파트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902952" y="2340864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EAFBF6"/>
          </a:solidFill>
          <a:ln/>
        </p:spPr>
      </p:sp>
      <p:sp>
        <p:nvSpPr>
          <p:cNvPr id="20" name="Text 18"/>
          <p:cNvSpPr/>
          <p:nvPr/>
        </p:nvSpPr>
        <p:spPr>
          <a:xfrm>
            <a:off x="9902952" y="234086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데이터·인프라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73952" y="2651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[          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294436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DART 재무·기업정보·뉴스 수집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92240" y="320497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XBRL 3개년·손익흐름도·UI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92240" y="346557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배포(RDS·EC2·S3·HTTPS)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92240" y="372618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페이지·전수 검수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151376"/>
            <a:ext cx="5440680" cy="1865376"/>
          </a:xfrm>
          <a:prstGeom prst="roundRect">
            <a:avLst>
              <a:gd name="adj" fmla="val 5392"/>
            </a:avLst>
          </a:prstGeom>
          <a:solidFill>
            <a:srgbClr val="FFFFFF"/>
          </a:solidFill>
          <a:ln w="15875">
            <a:solidFill>
              <a:srgbClr val="D97A06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1520" y="4151376"/>
            <a:ext cx="5074920" cy="128016"/>
          </a:xfrm>
          <a:prstGeom prst="roundRect">
            <a:avLst>
              <a:gd name="adj" fmla="val 35714"/>
            </a:avLst>
          </a:prstGeom>
          <a:solidFill>
            <a:srgbClr val="D97A06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297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밸류에이션 파트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4251960" y="4334256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EF3E2"/>
          </a:solidFill>
          <a:ln/>
        </p:spPr>
      </p:sp>
      <p:sp>
        <p:nvSpPr>
          <p:cNvPr id="30" name="Text 28"/>
          <p:cNvSpPr/>
          <p:nvPr/>
        </p:nvSpPr>
        <p:spPr>
          <a:xfrm>
            <a:off x="4251960" y="4334256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가치평가 엔진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" y="464515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[          ]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1248" y="493776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DCF 3시나리오·WACC·멀티플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41248" y="5198364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피어 자동선정·4-Way 교차검증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41248" y="545896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스코어카드·밸류 UI(2-Tier)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41248" y="571957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 관리자·발표자료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199632" y="4151376"/>
            <a:ext cx="5440680" cy="1865376"/>
          </a:xfrm>
          <a:prstGeom prst="roundRect">
            <a:avLst>
              <a:gd name="adj" fmla="val 5392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82512" y="4151376"/>
            <a:ext cx="5074920" cy="128016"/>
          </a:xfrm>
          <a:prstGeom prst="roundRect">
            <a:avLst>
              <a:gd name="adj" fmla="val 35714"/>
            </a:avLst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6473952" y="4297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 파트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9902952" y="4334256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4F0FE"/>
          </a:solidFill>
          <a:ln/>
        </p:spPr>
      </p:sp>
      <p:sp>
        <p:nvSpPr>
          <p:cNvPr id="40" name="Text 38"/>
          <p:cNvSpPr/>
          <p:nvPr/>
        </p:nvSpPr>
        <p:spPr>
          <a:xfrm>
            <a:off x="9902952" y="4334256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RAG·생성AI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73952" y="464515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[          ]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92240" y="493776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사업보고서 RAG·임베딩·리랭킹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492240" y="5198364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히스토리 브리핑(MongoDB)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492240" y="545896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대화형 챗봇·출처 카드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492240" y="571957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계열사 시각화 자동 생성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D97A0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비용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적게 들여, 빠르게 — 약 2개월 개발 원가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인원을 좁게 운영하고, 클라우드 크레딧·로컬 GPU·구독형 AI 도구로 ‘현금 직접비’를 최소화했습니다. (단가는 가정치 · NO-MOCK)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57984"/>
            <a:ext cx="5486400" cy="320040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57984"/>
            <a:ext cx="137160" cy="320040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인건비 (맨먼스 기준)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77824" y="2779776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· 투입 인원   </a:t>
            </a:r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</a:rPr>
              <a:t>초기 4명 → 현재 2명 (PM·QA·백엔드·프론트)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77824" y="3227832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· 기간   </a:t>
            </a:r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</a:rPr>
              <a:t>약 2개월 (킥오프 4/22 ~ 발표 6/20)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77824" y="3675888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· 환산   </a:t>
            </a:r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</a:rPr>
              <a:t>평균 2명 × 2개월 = 4 M/M (맨먼스)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77824" y="4123944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· 가정 단가   </a:t>
            </a:r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</a:rPr>
              <a:t>1 M/M ≈ 400만원 (시장 평균 가정)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41248" y="4645152"/>
            <a:ext cx="4901184" cy="566928"/>
          </a:xfrm>
          <a:prstGeom prst="roundRect">
            <a:avLst>
              <a:gd name="adj" fmla="val 17742"/>
            </a:avLst>
          </a:prstGeom>
          <a:solidFill>
            <a:srgbClr val="EFF5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645152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인건비 ≈ 4 M/M × 400만 = </a:t>
            </a:r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</a:rPr>
              <a:t>약 1,600만원</a:t>
            </a:r>
            <a:pPr indent="0" marL="0">
              <a:buNone/>
            </a:pPr>
            <a:r>
              <a:rPr lang="en-US" sz="1100" dirty="0">
                <a:solidFill>
                  <a:srgbClr val="98A6BC"/>
                </a:solidFill>
              </a:rPr>
              <a:t> (가정)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99632" y="2157984"/>
            <a:ext cx="5440680" cy="320040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5875">
            <a:solidFill>
              <a:srgbClr val="0E938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99632" y="2157984"/>
            <a:ext cx="137160" cy="3200400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17" name="Text 15"/>
          <p:cNvSpPr/>
          <p:nvPr/>
        </p:nvSpPr>
        <p:spPr>
          <a:xfrm>
            <a:off x="6510528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직접비 (실제 현금 지출)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10528" y="2779776"/>
            <a:ext cx="4937760" cy="329184"/>
          </a:xfrm>
          <a:prstGeom prst="roundRect">
            <a:avLst>
              <a:gd name="adj" fmla="val 30556"/>
            </a:avLst>
          </a:prstGeom>
          <a:solidFill>
            <a:srgbClr val="FBFDFF"/>
          </a:solidFill>
          <a:ln w="7620">
            <a:solidFill>
              <a:srgbClr val="E6EC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0256" y="277977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Max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015984" y="2779776"/>
            <a:ext cx="1700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₩187,000 ×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98480" y="2779776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37만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10528" y="3145536"/>
            <a:ext cx="4937760" cy="329184"/>
          </a:xfrm>
          <a:prstGeom prst="roundRect">
            <a:avLst>
              <a:gd name="adj" fmla="val 30556"/>
            </a:avLst>
          </a:prstGeom>
          <a:solidFill>
            <a:srgbClr val="F6F9FD"/>
          </a:solidFill>
          <a:ln w="7620">
            <a:solidFill>
              <a:srgbClr val="E6EC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0256" y="31455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 Plus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015984" y="3145536"/>
            <a:ext cx="1700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약 ₩30,000 ×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98480" y="3145536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6만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10528" y="3511296"/>
            <a:ext cx="4937760" cy="329184"/>
          </a:xfrm>
          <a:prstGeom prst="roundRect">
            <a:avLst>
              <a:gd name="adj" fmla="val 30556"/>
            </a:avLst>
          </a:prstGeom>
          <a:solidFill>
            <a:srgbClr val="FBFDFF"/>
          </a:solidFill>
          <a:ln w="7620">
            <a:solidFill>
              <a:srgbClr val="E6EC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0256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API (gpt-5-mini)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015984" y="3511296"/>
            <a:ext cx="1700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종량 · 질의당 ~5원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698480" y="3511296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소액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10528" y="3877056"/>
            <a:ext cx="4937760" cy="329184"/>
          </a:xfrm>
          <a:prstGeom prst="roundRect">
            <a:avLst>
              <a:gd name="adj" fmla="val 30556"/>
            </a:avLst>
          </a:prstGeom>
          <a:solidFill>
            <a:srgbClr val="F6F9FD"/>
          </a:solidFill>
          <a:ln w="7620">
            <a:solidFill>
              <a:srgbClr val="E6EC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0256" y="387705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(EC2·RDS·S3·GPU)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015984" y="3877056"/>
            <a:ext cx="1700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스타트업 크레딧 충당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98480" y="3877056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10528" y="4242816"/>
            <a:ext cx="4937760" cy="329184"/>
          </a:xfrm>
          <a:prstGeom prst="roundRect">
            <a:avLst>
              <a:gd name="adj" fmla="val 30556"/>
            </a:avLst>
          </a:prstGeom>
          <a:solidFill>
            <a:srgbClr val="FBFDFF"/>
          </a:solidFill>
          <a:ln w="7620">
            <a:solidFill>
              <a:srgbClr val="E6EC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20256" y="424281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도메인·SSL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015984" y="4242816"/>
            <a:ext cx="1700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연 소액 · SSL 무료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698480" y="4242816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소액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510528" y="4645152"/>
            <a:ext cx="4937760" cy="566928"/>
          </a:xfrm>
          <a:prstGeom prst="roundRect">
            <a:avLst>
              <a:gd name="adj" fmla="val 17742"/>
            </a:avLst>
          </a:prstGeom>
          <a:solidFill>
            <a:srgbClr val="EAFBF6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0" y="4645152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현금 직접비 ≈ </a:t>
            </a:r>
            <a:pPr indent="0" marL="0">
              <a:buNone/>
            </a:pPr>
            <a:r>
              <a:rPr lang="en-US" sz="1500" b="1" dirty="0">
                <a:solidFill>
                  <a:srgbClr val="0B7268"/>
                </a:solidFill>
              </a:rPr>
              <a:t>약 50만원</a:t>
            </a:r>
            <a:pPr indent="0" marL="0">
              <a:buNone/>
            </a:pPr>
            <a:r>
              <a:rPr lang="en-US" sz="1100" dirty="0">
                <a:solidFill>
                  <a:srgbClr val="98A6BC"/>
                </a:solidFill>
              </a:rPr>
              <a:t> (2개월 합 · 가정)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48640" y="5522976"/>
            <a:ext cx="11091672" cy="786384"/>
          </a:xfrm>
          <a:prstGeom prst="roundRect">
            <a:avLst>
              <a:gd name="adj" fmla="val 12791"/>
            </a:avLst>
          </a:prstGeom>
          <a:solidFill>
            <a:srgbClr val="FEF3E2"/>
          </a:solidFill>
          <a:ln w="15875">
            <a:solidFill>
              <a:srgbClr val="D97A0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" y="5522976"/>
            <a:ext cx="137160" cy="786384"/>
          </a:xfrm>
          <a:prstGeom prst="roundRect">
            <a:avLst>
              <a:gd name="adj" fmla="val 40000"/>
            </a:avLst>
          </a:prstGeom>
          <a:solidFill>
            <a:srgbClr val="D97A06"/>
          </a:solidFill>
          <a:ln/>
        </p:spPr>
      </p:sp>
      <p:sp>
        <p:nvSpPr>
          <p:cNvPr id="42" name="Text 40"/>
          <p:cNvSpPr/>
          <p:nvPr/>
        </p:nvSpPr>
        <p:spPr>
          <a:xfrm>
            <a:off x="877824" y="5522976"/>
            <a:ext cx="10515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E293B"/>
                </a:solidFill>
              </a:rPr>
              <a:t>총 개발 원가 ≈ 약 1,650만원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1607A"/>
                </a:solidFill>
              </a:rPr>
              <a:t>(인건비 1,600만 + 직접비 50만, 가정)    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D97A06"/>
                </a:solidFill>
              </a:rPr>
              <a:t>→ 실제 현금 지출은 ~50만원, 나머지는 팀의 시간(기회비용)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0E9384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수익모델 · 손익분기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무료로 모으고, 구독으로 지속한다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누구나 쓰는 무료 기반 위에 심화 기능을 구독(Pro)으로 — 운영 손익분기는 ‘월 수십 명’ 수준으로 설계했습니다. (가정치)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57984"/>
            <a:ext cx="5486400" cy="4114800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57984"/>
            <a:ext cx="137160" cy="411480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 vs Pro (월 9,900원 · 가정)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1248" y="2743200"/>
            <a:ext cx="4901184" cy="402336"/>
          </a:xfrm>
          <a:prstGeom prst="roundRect">
            <a:avLst>
              <a:gd name="adj" fmla="val 25000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274320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0" y="274320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63440" y="2743200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41248" y="3163824"/>
            <a:ext cx="4901184" cy="420624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6350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9264" y="3163824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기업개요 · 재무 하이라이트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3163824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316382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41248" y="3621024"/>
            <a:ext cx="4901184" cy="420624"/>
          </a:xfrm>
          <a:prstGeom prst="roundRect">
            <a:avLst>
              <a:gd name="adj" fmla="val 23913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" y="3621024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 요약 · 글로벌 시그널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0" y="3621024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0" y="362102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41248" y="4078224"/>
            <a:ext cx="4901184" cy="420624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6350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9264" y="4078224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0" y="4078224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63440" y="407822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무제한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41248" y="4535424"/>
            <a:ext cx="4901184" cy="420624"/>
          </a:xfrm>
          <a:prstGeom prst="roundRect">
            <a:avLst>
              <a:gd name="adj" fmla="val 23913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" y="4535424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 밸류 · 5종 진단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0" y="4535424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63440" y="453542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41248" y="4992624"/>
            <a:ext cx="4901184" cy="420624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6350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69264" y="4992624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관심종목 알림 · 비교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0" y="4992624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63440" y="499262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77824" y="58704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가격·구성은 가정 — 베타 후 시장 검증으로 확정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99632" y="2157984"/>
            <a:ext cx="5440680" cy="2249424"/>
          </a:xfrm>
          <a:prstGeom prst="roundRect">
            <a:avLst>
              <a:gd name="adj" fmla="val 4472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99632" y="2157984"/>
            <a:ext cx="137160" cy="2249424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36" name="Text 34"/>
          <p:cNvSpPr/>
          <p:nvPr/>
        </p:nvSpPr>
        <p:spPr>
          <a:xfrm>
            <a:off x="6510528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손익분기 (BEP) — 운영비 기준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510528" y="2706624"/>
            <a:ext cx="4937760" cy="420624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7620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638544" y="270662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고정 운영비 (가정)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8869680" y="270662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실비+API+도메인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10332720" y="270662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25만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10528" y="3163824"/>
            <a:ext cx="4937760" cy="420624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7620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638544" y="316382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 1인 월 기여</a:t>
            </a:r>
            <a:endParaRPr lang="en-US" sz="1080" dirty="0"/>
          </a:p>
        </p:txBody>
      </p:sp>
      <p:sp>
        <p:nvSpPr>
          <p:cNvPr id="43" name="Text 41"/>
          <p:cNvSpPr/>
          <p:nvPr/>
        </p:nvSpPr>
        <p:spPr>
          <a:xfrm>
            <a:off x="8869680" y="316382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구독료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10332720" y="316382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9,900원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510528" y="3621024"/>
            <a:ext cx="4937760" cy="420624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7620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638544" y="362102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손익분기 고객 수</a:t>
            </a:r>
            <a:endParaRPr lang="en-US" sz="1080" dirty="0"/>
          </a:p>
        </p:txBody>
      </p:sp>
      <p:sp>
        <p:nvSpPr>
          <p:cNvPr id="47" name="Text 45"/>
          <p:cNvSpPr/>
          <p:nvPr/>
        </p:nvSpPr>
        <p:spPr>
          <a:xfrm>
            <a:off x="8869680" y="362102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25만 ÷ 9,900</a:t>
            </a:r>
            <a:endParaRPr lang="en-US" sz="880" dirty="0"/>
          </a:p>
        </p:txBody>
      </p:sp>
      <p:sp>
        <p:nvSpPr>
          <p:cNvPr id="48" name="Text 46"/>
          <p:cNvSpPr/>
          <p:nvPr/>
        </p:nvSpPr>
        <p:spPr>
          <a:xfrm>
            <a:off x="10332720" y="362102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26명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510528" y="4041648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7268"/>
                </a:solidFill>
              </a:rPr>
              <a:t>→ 월 약 26명 Pro면 운영 손익분기  </a:t>
            </a:r>
            <a:pPr indent="0" marL="0">
              <a:buNone/>
            </a:pPr>
            <a:r>
              <a:rPr lang="en-US" sz="1050" dirty="0">
                <a:solidFill>
                  <a:srgbClr val="51607A"/>
                </a:solidFill>
              </a:rPr>
              <a:t>(개발 원가 회수는 수백 명 규모)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199632" y="4535424"/>
            <a:ext cx="5440680" cy="1737360"/>
          </a:xfrm>
          <a:prstGeom prst="roundRect">
            <a:avLst>
              <a:gd name="adj" fmla="val 5789"/>
            </a:avLst>
          </a:prstGeom>
          <a:solidFill>
            <a:srgbClr val="EFF5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99632" y="4535424"/>
            <a:ext cx="137160" cy="1737360"/>
          </a:xfrm>
          <a:prstGeom prst="roundRect">
            <a:avLst>
              <a:gd name="adj" fmla="val 40000"/>
            </a:avLst>
          </a:prstGeom>
          <a:solidFill>
            <a:srgbClr val="1D4ED8"/>
          </a:solidFill>
          <a:ln/>
        </p:spPr>
      </p:sp>
      <p:sp>
        <p:nvSpPr>
          <p:cNvPr id="52" name="Text 50"/>
          <p:cNvSpPr/>
          <p:nvPr/>
        </p:nvSpPr>
        <p:spPr>
          <a:xfrm>
            <a:off x="6510528" y="466344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— 누구를 위한 서비스인가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510528" y="5029200"/>
            <a:ext cx="498348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· 국내 주식 활동계좌 </a:t>
            </a:r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1D4ED8"/>
                </a:solidFill>
              </a:rPr>
              <a:t>수천만 계좌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 규모 (참고)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· 핵심 타깃 = ‘스스로 공부하려는’ 입문·일반 투자자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· 무료로 폭넓게 모으고 → 일부가 Pro로 전환되는 구조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73152" cy="365760"/>
          </a:xfrm>
          <a:prstGeom prst="roundRect">
            <a:avLst>
              <a:gd name="adj" fmla="val 50000"/>
            </a:avLst>
          </a:prstGeom>
          <a:solidFill>
            <a:srgbClr val="0E938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위에서 실제로 돌아가는 서비스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412480" y="420624"/>
            <a:ext cx="3200400" cy="420624"/>
          </a:xfrm>
          <a:prstGeom prst="roundRect">
            <a:avLst>
              <a:gd name="adj" fmla="val 23913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420624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9384"/>
                </a:solidFill>
              </a:rPr>
              <a:t>● LIVE   </a:t>
            </a:r>
            <a:pPr algn="ctr" indent="0" marL="0">
              <a:buNone/>
            </a:pPr>
            <a:r>
              <a:rPr lang="en-US" sz="1200" dirty="0">
                <a:solidFill>
                  <a:srgbClr val="0B7268"/>
                </a:solidFill>
              </a:rPr>
              <a:t>43.203.94.124.nip.io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0896" y="1225296"/>
            <a:ext cx="11576304" cy="420624"/>
          </a:xfrm>
          <a:prstGeom prst="roundRect">
            <a:avLst>
              <a:gd name="adj" fmla="val 23913"/>
            </a:avLst>
          </a:prstGeom>
          <a:solidFill>
            <a:srgbClr val="FEF3E2"/>
          </a:solidFill>
          <a:ln w="15875">
            <a:solidFill>
              <a:srgbClr val="F2D4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225296"/>
            <a:ext cx="11247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A06"/>
                </a:solidFill>
              </a:rPr>
              <a:t>외부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DART 공시 · KRX·yfinance 시세 · ECOS 금리 · 네이버 뉴스 · OpenAI gpt-5-mini(챗봇 답변)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0896" y="2926080"/>
            <a:ext cx="1591056" cy="1371600"/>
          </a:xfrm>
          <a:prstGeom prst="roundRect">
            <a:avLst>
              <a:gd name="adj" fmla="val 7333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" y="3163824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0896" y="3547872"/>
            <a:ext cx="15910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BE9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개인투자자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BE9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(웹 브라우저)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157984" y="1792224"/>
            <a:ext cx="6035040" cy="4297680"/>
          </a:xfrm>
          <a:prstGeom prst="roundRect">
            <a:avLst>
              <a:gd name="adj" fmla="val 2340"/>
            </a:avLst>
          </a:prstGeom>
          <a:solidFill>
            <a:srgbClr val="EFF5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22576" y="1883664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Cloud · 서울(ap-northeast-2)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322576" y="2231136"/>
            <a:ext cx="5705856" cy="1755648"/>
          </a:xfrm>
          <a:prstGeom prst="roundRect">
            <a:avLst>
              <a:gd name="adj" fmla="val 5729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68880" y="23042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 #1 · 웹/API 상시 운영 (24/7)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468880" y="2633472"/>
            <a:ext cx="1737360" cy="1280160"/>
          </a:xfrm>
          <a:prstGeom prst="roundRect">
            <a:avLst>
              <a:gd name="adj" fmla="val 7857"/>
            </a:avLst>
          </a:prstGeom>
          <a:solidFill>
            <a:srgbClr val="F6F9FD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2633472"/>
            <a:ext cx="137160" cy="1280160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18" name="Text 16"/>
          <p:cNvSpPr/>
          <p:nvPr/>
        </p:nvSpPr>
        <p:spPr>
          <a:xfrm>
            <a:off x="2615184" y="2761488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nginx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615184" y="3273552"/>
            <a:ext cx="15179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리버스프록시·HTTPS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0" y="2633472"/>
            <a:ext cx="1737360" cy="1280160"/>
          </a:xfrm>
          <a:prstGeom prst="roundRect">
            <a:avLst>
              <a:gd name="adj" fmla="val 7857"/>
            </a:avLst>
          </a:prstGeom>
          <a:solidFill>
            <a:srgbClr val="F6F9FD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0" y="2633472"/>
            <a:ext cx="137160" cy="128016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4443984" y="2761488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443984" y="3273552"/>
            <a:ext cx="15179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:8090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633472"/>
            <a:ext cx="1737360" cy="1280160"/>
          </a:xfrm>
          <a:prstGeom prst="roundRect">
            <a:avLst>
              <a:gd name="adj" fmla="val 7857"/>
            </a:avLst>
          </a:prstGeom>
          <a:solidFill>
            <a:srgbClr val="F6F9FD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2633472"/>
            <a:ext cx="137160" cy="1280160"/>
          </a:xfrm>
          <a:prstGeom prst="roundRect">
            <a:avLst>
              <a:gd name="adj" fmla="val 40000"/>
            </a:avLst>
          </a:prstGeom>
          <a:solidFill>
            <a:srgbClr val="1D4ED8"/>
          </a:solidFill>
          <a:ln/>
        </p:spPr>
      </p:sp>
      <p:sp>
        <p:nvSpPr>
          <p:cNvPr id="26" name="Text 24"/>
          <p:cNvSpPr/>
          <p:nvPr/>
        </p:nvSpPr>
        <p:spPr>
          <a:xfrm>
            <a:off x="6272784" y="2761488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16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272784" y="3273552"/>
            <a:ext cx="15179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:3000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322576" y="4096512"/>
            <a:ext cx="5705856" cy="1682496"/>
          </a:xfrm>
          <a:prstGeom prst="roundRect">
            <a:avLst>
              <a:gd name="adj" fmla="val 5978"/>
            </a:avLst>
          </a:prstGeom>
          <a:solidFill>
            <a:srgbClr val="FFFFFF"/>
          </a:solidFill>
          <a:ln w="15875">
            <a:solidFill>
              <a:srgbClr val="0E938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468880" y="4169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 #2 · GPU(T4) 챗봇 — 데모 시 start/stop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468880" y="4498848"/>
            <a:ext cx="2688336" cy="1170432"/>
          </a:xfrm>
          <a:prstGeom prst="roundRect">
            <a:avLst>
              <a:gd name="adj" fmla="val 8594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4498848"/>
            <a:ext cx="137160" cy="1170432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32" name="Text 30"/>
          <p:cNvSpPr/>
          <p:nvPr/>
        </p:nvSpPr>
        <p:spPr>
          <a:xfrm>
            <a:off x="2615184" y="4608576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 (RAG)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615184" y="4974336"/>
            <a:ext cx="243230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:8800 · 임베딩·리랭킹·생성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248656" y="4498848"/>
            <a:ext cx="2688336" cy="1170432"/>
          </a:xfrm>
          <a:prstGeom prst="roundRect">
            <a:avLst>
              <a:gd name="adj" fmla="val 8594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48656" y="4498848"/>
            <a:ext cx="137160" cy="1170432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36" name="Text 34"/>
          <p:cNvSpPr/>
          <p:nvPr/>
        </p:nvSpPr>
        <p:spPr>
          <a:xfrm>
            <a:off x="5394960" y="4608576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ChromaDB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94960" y="4974336"/>
            <a:ext cx="243230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사업보고서 벡터 ~40GB · EBS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430768" y="1883664"/>
            <a:ext cx="3456432" cy="841248"/>
          </a:xfrm>
          <a:prstGeom prst="roundRect">
            <a:avLst>
              <a:gd name="adj" fmla="val 11957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430768" y="1883664"/>
            <a:ext cx="137160" cy="84124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40" name="Text 38"/>
          <p:cNvSpPr/>
          <p:nvPr/>
        </p:nvSpPr>
        <p:spPr>
          <a:xfrm>
            <a:off x="8668512" y="1975104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RDS PostgreSQL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668512" y="22860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정형 16테이블 (기업개요·재무·밸류)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8430768" y="2834640"/>
            <a:ext cx="3456432" cy="841248"/>
          </a:xfrm>
          <a:prstGeom prst="roundRect">
            <a:avLst>
              <a:gd name="adj" fmla="val 11957"/>
            </a:avLst>
          </a:prstGeom>
          <a:solidFill>
            <a:srgbClr val="FFFFFF"/>
          </a:solidFill>
          <a:ln w="15875">
            <a:solidFill>
              <a:srgbClr val="0E938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430768" y="2834640"/>
            <a:ext cx="137160" cy="841248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44" name="Text 42"/>
          <p:cNvSpPr/>
          <p:nvPr/>
        </p:nvSpPr>
        <p:spPr>
          <a:xfrm>
            <a:off x="8668512" y="2926080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Atlas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668512" y="3236976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히스토리 브리핑 (화이트리스트)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8430768" y="3785616"/>
            <a:ext cx="3456432" cy="841248"/>
          </a:xfrm>
          <a:prstGeom prst="roundRect">
            <a:avLst>
              <a:gd name="adj" fmla="val 11957"/>
            </a:avLst>
          </a:prstGeom>
          <a:solidFill>
            <a:srgbClr val="FFFFFF"/>
          </a:solidFill>
          <a:ln w="15875">
            <a:solidFill>
              <a:srgbClr val="D97A06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430768" y="3785616"/>
            <a:ext cx="137160" cy="841248"/>
          </a:xfrm>
          <a:prstGeom prst="roundRect">
            <a:avLst>
              <a:gd name="adj" fmla="val 40000"/>
            </a:avLst>
          </a:prstGeom>
          <a:solidFill>
            <a:srgbClr val="D97A06"/>
          </a:solidFill>
          <a:ln/>
        </p:spPr>
      </p:sp>
      <p:sp>
        <p:nvSpPr>
          <p:cNvPr id="48" name="Text 46"/>
          <p:cNvSpPr/>
          <p:nvPr/>
        </p:nvSpPr>
        <p:spPr>
          <a:xfrm>
            <a:off x="8668512" y="3877056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S3 · 라이브 서빙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668512" y="418795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Sankey·밸류 JSON·계열사 SVG</a:t>
            </a:r>
            <a:endParaRPr lang="en-US" sz="980" dirty="0"/>
          </a:p>
        </p:txBody>
      </p:sp>
      <p:sp>
        <p:nvSpPr>
          <p:cNvPr id="50" name="Shape 48"/>
          <p:cNvSpPr/>
          <p:nvPr/>
        </p:nvSpPr>
        <p:spPr>
          <a:xfrm>
            <a:off x="8430768" y="4736592"/>
            <a:ext cx="3456432" cy="841248"/>
          </a:xfrm>
          <a:prstGeom prst="roundRect">
            <a:avLst>
              <a:gd name="adj" fmla="val 11957"/>
            </a:avLst>
          </a:prstGeom>
          <a:solidFill>
            <a:srgbClr val="FFFFFF"/>
          </a:solidFill>
          <a:ln w="15875">
            <a:solidFill>
              <a:srgbClr val="98A6BC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430768" y="4736592"/>
            <a:ext cx="137160" cy="841248"/>
          </a:xfrm>
          <a:prstGeom prst="roundRect">
            <a:avLst>
              <a:gd name="adj" fmla="val 40000"/>
            </a:avLst>
          </a:prstGeom>
          <a:solidFill>
            <a:srgbClr val="98A6BC"/>
          </a:solidFill>
          <a:ln/>
        </p:spPr>
      </p:sp>
      <p:sp>
        <p:nvSpPr>
          <p:cNvPr id="52" name="Text 50"/>
          <p:cNvSpPr/>
          <p:nvPr/>
        </p:nvSpPr>
        <p:spPr>
          <a:xfrm>
            <a:off x="8668512" y="4828032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 로컬 폴백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668512" y="513892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장애 시 자동 대체</a:t>
            </a:r>
            <a:endParaRPr lang="en-US" sz="980" dirty="0"/>
          </a:p>
        </p:txBody>
      </p:sp>
      <p:sp>
        <p:nvSpPr>
          <p:cNvPr id="54" name="Text 52"/>
          <p:cNvSpPr/>
          <p:nvPr/>
        </p:nvSpPr>
        <p:spPr>
          <a:xfrm>
            <a:off x="1828800" y="3310128"/>
            <a:ext cx="384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8119872" y="2194560"/>
            <a:ext cx="402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8119872" y="4114800"/>
            <a:ext cx="402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310896" y="6163056"/>
            <a:ext cx="11576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nginx가 / → Next.js · /api → FastAPI · /chat → 챗봇으로 라우팅 · 데이터는 RDS·Mongo·S3, 평소 S3 서빙(로컬은 폴백)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73152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파이프라인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→ 정규화 → 검증(NO-MOCK) → 적재 → 서빙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10896" y="1481328"/>
            <a:ext cx="2249424" cy="566928"/>
          </a:xfrm>
          <a:prstGeom prst="roundRect">
            <a:avLst>
              <a:gd name="adj" fmla="val 17742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10896" y="1536192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수집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0896" y="1810512"/>
            <a:ext cx="22494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Extract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0896" y="2194560"/>
            <a:ext cx="2249424" cy="603504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2194560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DART 공시·재무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310896" y="2907792"/>
            <a:ext cx="2249424" cy="603504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2907792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사업보고서(XBRL)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310896" y="3621024"/>
            <a:ext cx="2249424" cy="603504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3621024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 KRX·yfinance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310896" y="4334256"/>
            <a:ext cx="2249424" cy="603504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4334256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금리 ECOS·뉴스·WICS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2542032" y="1591056"/>
            <a:ext cx="1645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679192" y="1481328"/>
            <a:ext cx="2249424" cy="566928"/>
          </a:xfrm>
          <a:prstGeom prst="roundRect">
            <a:avLst>
              <a:gd name="adj" fmla="val 17742"/>
            </a:avLst>
          </a:prstGeom>
          <a:solidFill>
            <a:srgbClr val="1D4ED8"/>
          </a:solidFill>
          <a:ln/>
        </p:spPr>
      </p:sp>
      <p:sp>
        <p:nvSpPr>
          <p:cNvPr id="18" name="Text 16"/>
          <p:cNvSpPr/>
          <p:nvPr/>
        </p:nvSpPr>
        <p:spPr>
          <a:xfrm>
            <a:off x="2679192" y="1536192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정규화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679192" y="1810512"/>
            <a:ext cx="22494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Transform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79192" y="2194560"/>
            <a:ext cx="2249424" cy="603504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88920" y="2194560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 표준화(3개년)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2679192" y="2907792"/>
            <a:ext cx="2249424" cy="603504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88920" y="2907792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밸류엔진 FCFF·WACC·DCF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2679192" y="3621024"/>
            <a:ext cx="2249424" cy="603504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88920" y="3621024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손익흐름도(Sankey)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2679192" y="4334256"/>
            <a:ext cx="2249424" cy="603504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88920" y="4334256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임베딩·건전성 신호등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4910328" y="1591056"/>
            <a:ext cx="1645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047488" y="1481328"/>
            <a:ext cx="2249424" cy="566928"/>
          </a:xfrm>
          <a:prstGeom prst="roundRect">
            <a:avLst>
              <a:gd name="adj" fmla="val 17742"/>
            </a:avLst>
          </a:prstGeom>
          <a:solidFill>
            <a:srgbClr val="0E9384"/>
          </a:solidFill>
          <a:ln/>
        </p:spPr>
      </p:sp>
      <p:sp>
        <p:nvSpPr>
          <p:cNvPr id="30" name="Text 28"/>
          <p:cNvSpPr/>
          <p:nvPr/>
        </p:nvSpPr>
        <p:spPr>
          <a:xfrm>
            <a:off x="5047488" y="1536192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047488" y="1810512"/>
            <a:ext cx="22494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NO-MOCK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47488" y="2194560"/>
            <a:ext cx="2249424" cy="603504"/>
          </a:xfrm>
          <a:prstGeom prst="roundRect">
            <a:avLst>
              <a:gd name="adj" fmla="val 16667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57216" y="2194560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대조(DART 원본)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5047488" y="2907792"/>
            <a:ext cx="2249424" cy="603504"/>
          </a:xfrm>
          <a:prstGeom prst="roundRect">
            <a:avLst>
              <a:gd name="adj" fmla="val 16667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57216" y="2907792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브리핑 4-Phase 채점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5047488" y="3621024"/>
            <a:ext cx="2249424" cy="603504"/>
          </a:xfrm>
          <a:prstGeom prst="roundRect">
            <a:avLst>
              <a:gd name="adj" fmla="val 16667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57216" y="3621024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 헬스 28,468건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5047488" y="4334256"/>
            <a:ext cx="2249424" cy="603504"/>
          </a:xfrm>
          <a:prstGeom prst="roundRect">
            <a:avLst>
              <a:gd name="adj" fmla="val 16667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57216" y="4334256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없으면 ‘데이터 없음’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7278624" y="1591056"/>
            <a:ext cx="1645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7415784" y="1481328"/>
            <a:ext cx="2249424" cy="566928"/>
          </a:xfrm>
          <a:prstGeom prst="roundRect">
            <a:avLst>
              <a:gd name="adj" fmla="val 17742"/>
            </a:avLst>
          </a:prstGeom>
          <a:solidFill>
            <a:srgbClr val="D97A06"/>
          </a:solidFill>
          <a:ln/>
        </p:spPr>
      </p:sp>
      <p:sp>
        <p:nvSpPr>
          <p:cNvPr id="42" name="Text 40"/>
          <p:cNvSpPr/>
          <p:nvPr/>
        </p:nvSpPr>
        <p:spPr>
          <a:xfrm>
            <a:off x="7415784" y="1536192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적재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7415784" y="1810512"/>
            <a:ext cx="22494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Load · 4-DB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415784" y="2194560"/>
            <a:ext cx="2249424" cy="603504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25512" y="2194560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RDS PostgreSQL(정형)</a:t>
            </a:r>
            <a:endParaRPr lang="en-US" sz="1080" dirty="0"/>
          </a:p>
        </p:txBody>
      </p:sp>
      <p:sp>
        <p:nvSpPr>
          <p:cNvPr id="46" name="Shape 44"/>
          <p:cNvSpPr/>
          <p:nvPr/>
        </p:nvSpPr>
        <p:spPr>
          <a:xfrm>
            <a:off x="7415784" y="2907792"/>
            <a:ext cx="2249424" cy="603504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25512" y="2907792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MongoDB(브리핑)</a:t>
            </a:r>
            <a:endParaRPr lang="en-US" sz="1080" dirty="0"/>
          </a:p>
        </p:txBody>
      </p:sp>
      <p:sp>
        <p:nvSpPr>
          <p:cNvPr id="48" name="Shape 46"/>
          <p:cNvSpPr/>
          <p:nvPr/>
        </p:nvSpPr>
        <p:spPr>
          <a:xfrm>
            <a:off x="7415784" y="3621024"/>
            <a:ext cx="2249424" cy="603504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25512" y="3621024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ChromaDB(벡터)</a:t>
            </a:r>
            <a:endParaRPr lang="en-US" sz="1080" dirty="0"/>
          </a:p>
        </p:txBody>
      </p:sp>
      <p:sp>
        <p:nvSpPr>
          <p:cNvPr id="50" name="Shape 48"/>
          <p:cNvSpPr/>
          <p:nvPr/>
        </p:nvSpPr>
        <p:spPr>
          <a:xfrm>
            <a:off x="7415784" y="4334256"/>
            <a:ext cx="2249424" cy="603504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25512" y="4334256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S3(파일) · 멱등 UPSERT</a:t>
            </a:r>
            <a:endParaRPr lang="en-US" sz="1080" dirty="0"/>
          </a:p>
        </p:txBody>
      </p:sp>
      <p:sp>
        <p:nvSpPr>
          <p:cNvPr id="52" name="Text 50"/>
          <p:cNvSpPr/>
          <p:nvPr/>
        </p:nvSpPr>
        <p:spPr>
          <a:xfrm>
            <a:off x="9646920" y="1591056"/>
            <a:ext cx="1645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9784080" y="1481328"/>
            <a:ext cx="2249424" cy="566928"/>
          </a:xfrm>
          <a:prstGeom prst="roundRect">
            <a:avLst>
              <a:gd name="adj" fmla="val 17742"/>
            </a:avLst>
          </a:prstGeom>
          <a:solidFill>
            <a:srgbClr val="7C3AED"/>
          </a:solidFill>
          <a:ln/>
        </p:spPr>
      </p:sp>
      <p:sp>
        <p:nvSpPr>
          <p:cNvPr id="54" name="Text 52"/>
          <p:cNvSpPr/>
          <p:nvPr/>
        </p:nvSpPr>
        <p:spPr>
          <a:xfrm>
            <a:off x="9784080" y="1536192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서빙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9784080" y="1810512"/>
            <a:ext cx="22494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784080" y="2194560"/>
            <a:ext cx="2249424" cy="603504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893808" y="2194560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REST</a:t>
            </a:r>
            <a:endParaRPr lang="en-US" sz="1080" dirty="0"/>
          </a:p>
        </p:txBody>
      </p:sp>
      <p:sp>
        <p:nvSpPr>
          <p:cNvPr id="58" name="Shape 56"/>
          <p:cNvSpPr/>
          <p:nvPr/>
        </p:nvSpPr>
        <p:spPr>
          <a:xfrm>
            <a:off x="9784080" y="2907792"/>
            <a:ext cx="2249424" cy="603504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893808" y="2907792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서비스</a:t>
            </a:r>
            <a:endParaRPr lang="en-US" sz="1080" dirty="0"/>
          </a:p>
        </p:txBody>
      </p:sp>
      <p:sp>
        <p:nvSpPr>
          <p:cNvPr id="60" name="Shape 58"/>
          <p:cNvSpPr/>
          <p:nvPr/>
        </p:nvSpPr>
        <p:spPr>
          <a:xfrm>
            <a:off x="9784080" y="3621024"/>
            <a:ext cx="2249424" cy="603504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893808" y="3621024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캐시·폴백</a:t>
            </a:r>
            <a:endParaRPr lang="en-US" sz="1080" dirty="0"/>
          </a:p>
        </p:txBody>
      </p:sp>
      <p:sp>
        <p:nvSpPr>
          <p:cNvPr id="62" name="Shape 60"/>
          <p:cNvSpPr/>
          <p:nvPr/>
        </p:nvSpPr>
        <p:spPr>
          <a:xfrm>
            <a:off x="9784080" y="4334256"/>
            <a:ext cx="2249424" cy="603504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893808" y="4334256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화면(사용자)</a:t>
            </a:r>
            <a:endParaRPr lang="en-US" sz="1080" dirty="0"/>
          </a:p>
        </p:txBody>
      </p:sp>
      <p:sp>
        <p:nvSpPr>
          <p:cNvPr id="64" name="Shape 62"/>
          <p:cNvSpPr/>
          <p:nvPr/>
        </p:nvSpPr>
        <p:spPr>
          <a:xfrm>
            <a:off x="310896" y="5029200"/>
            <a:ext cx="11576304" cy="548640"/>
          </a:xfrm>
          <a:prstGeom prst="roundRect">
            <a:avLst>
              <a:gd name="adj" fmla="val 18333"/>
            </a:avLst>
          </a:prstGeom>
          <a:solidFill>
            <a:srgbClr val="EFF5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640" y="5029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⏱ 배치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주가 OHLCV 매 거래일 16:00 자동 동기화 · 사업보고서 갱신 시 재적재(멱등)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310896" y="5669280"/>
            <a:ext cx="11576304" cy="548640"/>
          </a:xfrm>
          <a:prstGeom prst="roundRect">
            <a:avLst>
              <a:gd name="adj" fmla="val 18333"/>
            </a:avLst>
          </a:prstGeom>
          <a:solidFill>
            <a:srgbClr val="EAFBF6"/>
          </a:solidFill>
          <a:ln w="13970">
            <a:solidFill>
              <a:srgbClr val="0E938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8640" y="56692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7268"/>
                </a:solidFill>
              </a:rPr>
              <a:t>⚡ 실시간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실시간 시세(yfinance) · 글로벌 마켓 시그널 · 전자공시 라이브(DART) · AI 챗봇 질의응답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73152" cy="365760"/>
          </a:xfrm>
          <a:prstGeom prst="roundRect">
            <a:avLst>
              <a:gd name="adj" fmla="val 50000"/>
            </a:avLst>
          </a:prstGeom>
          <a:solidFill>
            <a:srgbClr val="D97A0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구조 · ERD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폴리글랏 4-DB · 종목코드로 묶인 16테이블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060704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관계형 코어(RDS): company_info를 루트로 13개 운영 테이블이 stock_code(FK)로 1:N 연결 · 문서·벡터·파일은 논리 연결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0896" y="2286000"/>
            <a:ext cx="2212848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1E293B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10896" y="2286000"/>
            <a:ext cx="2212848" cy="384048"/>
          </a:xfrm>
          <a:prstGeom prst="roundRect">
            <a:avLst>
              <a:gd name="adj" fmla="val 26190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" y="22860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company_info ★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A06"/>
                </a:solidFill>
              </a:rPr>
              <a:t>PK 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stock_code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054096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corp_name·market·sector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ceo·상장일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3,965행 · 모든 표의 부모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42032" y="31638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: 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54096" y="1371600"/>
            <a:ext cx="8833104" cy="1371600"/>
          </a:xfrm>
          <a:prstGeom prst="roundRect">
            <a:avLst>
              <a:gd name="adj" fmla="val 7333"/>
            </a:avLst>
          </a:prstGeom>
          <a:solidFill>
            <a:srgbClr val="EFF5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82112" y="1426464"/>
            <a:ext cx="8650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재무·가치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0" y="1737360"/>
            <a:ext cx="2103120" cy="9144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737360"/>
            <a:ext cx="2103120" cy="256032"/>
          </a:xfrm>
          <a:prstGeom prst="roundRect">
            <a:avLst>
              <a:gd name="adj" fmla="val 21429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3273552" y="17373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financials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0" y="1737360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E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10,933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73552" y="2029968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FK </a:t>
            </a:r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</a:rPr>
              <a:t>stock_code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73552" y="2267712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매출·영업이익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13248" y="1737360"/>
            <a:ext cx="2103120" cy="9144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13248" y="1737360"/>
            <a:ext cx="2103120" cy="256032"/>
          </a:xfrm>
          <a:prstGeom prst="roundRect">
            <a:avLst>
              <a:gd name="adj" fmla="val 21429"/>
            </a:avLst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0" y="17373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financial_detail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13248" y="1737360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E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956K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0" y="2029968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FK </a:t>
            </a:r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</a:rPr>
              <a:t>stock_code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486400" y="2267712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B/S·I/S 상세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626096" y="1737360"/>
            <a:ext cx="2103120" cy="9144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626096" y="1737360"/>
            <a:ext cx="2103120" cy="256032"/>
          </a:xfrm>
          <a:prstGeom prst="roundRect">
            <a:avLst>
              <a:gd name="adj" fmla="val 21429"/>
            </a:avLst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7699248" y="17373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valuation_summary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26096" y="1737360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E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2,224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699248" y="2029968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FK </a:t>
            </a:r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</a:rPr>
              <a:t>stock_code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699248" y="2267712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적정가·등급·WACC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838944" y="1737360"/>
            <a:ext cx="2103120" cy="9144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838944" y="1737360"/>
            <a:ext cx="2103120" cy="256032"/>
          </a:xfrm>
          <a:prstGeom prst="roundRect">
            <a:avLst>
              <a:gd name="adj" fmla="val 21429"/>
            </a:avLst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9912096" y="17373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wics_keywords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838944" y="1737360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E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9912096" y="2029968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FK </a:t>
            </a:r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</a:rPr>
              <a:t>stock_code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9912096" y="2267712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업종 키워드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054096" y="2798064"/>
            <a:ext cx="8833104" cy="1371600"/>
          </a:xfrm>
          <a:prstGeom prst="roundRect">
            <a:avLst>
              <a:gd name="adj" fmla="val 7333"/>
            </a:avLst>
          </a:prstGeom>
          <a:solidFill>
            <a:srgbClr val="EAFBF6"/>
          </a:solidFill>
          <a:ln w="13970">
            <a:solidFill>
              <a:srgbClr val="0E938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82112" y="2852928"/>
            <a:ext cx="8650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인물·관계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3200400" y="3163824"/>
            <a:ext cx="2103120" cy="9144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0" y="3163824"/>
            <a:ext cx="2103120" cy="256032"/>
          </a:xfrm>
          <a:prstGeom prst="roundRect">
            <a:avLst>
              <a:gd name="adj" fmla="val 21429"/>
            </a:avLst>
          </a:prstGeom>
          <a:solidFill>
            <a:srgbClr val="0E9384"/>
          </a:solidFill>
          <a:ln/>
        </p:spPr>
      </p:sp>
      <p:sp>
        <p:nvSpPr>
          <p:cNvPr id="43" name="Text 41"/>
          <p:cNvSpPr/>
          <p:nvPr/>
        </p:nvSpPr>
        <p:spPr>
          <a:xfrm>
            <a:off x="3273552" y="316382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shareholders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200400" y="316382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E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47,001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273552" y="3456432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FK </a:t>
            </a:r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</a:rPr>
              <a:t>stock_code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273552" y="3694176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주주·지분율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413248" y="3163824"/>
            <a:ext cx="2103120" cy="9144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413248" y="3163824"/>
            <a:ext cx="2103120" cy="256032"/>
          </a:xfrm>
          <a:prstGeom prst="roundRect">
            <a:avLst>
              <a:gd name="adj" fmla="val 21429"/>
            </a:avLst>
          </a:prstGeom>
          <a:solidFill>
            <a:srgbClr val="0E9384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0" y="316382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executives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413248" y="316382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E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34,966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486400" y="3456432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FK </a:t>
            </a:r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</a:rPr>
              <a:t>stock_code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486400" y="3694176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임원·직위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626096" y="3163824"/>
            <a:ext cx="2103120" cy="9144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626096" y="3163824"/>
            <a:ext cx="2103120" cy="256032"/>
          </a:xfrm>
          <a:prstGeom prst="roundRect">
            <a:avLst>
              <a:gd name="adj" fmla="val 21429"/>
            </a:avLst>
          </a:prstGeom>
          <a:solidFill>
            <a:srgbClr val="0E9384"/>
          </a:solidFill>
          <a:ln/>
        </p:spPr>
      </p:sp>
      <p:sp>
        <p:nvSpPr>
          <p:cNvPr id="55" name="Text 53"/>
          <p:cNvSpPr/>
          <p:nvPr/>
        </p:nvSpPr>
        <p:spPr>
          <a:xfrm>
            <a:off x="7699248" y="316382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peer_competitors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626096" y="316382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E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3,282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699248" y="3456432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FK </a:t>
            </a:r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</a:rPr>
              <a:t>stock_code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7699248" y="3694176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경쟁사(피어)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9838944" y="3163824"/>
            <a:ext cx="2103120" cy="9144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9838944" y="3163824"/>
            <a:ext cx="2103120" cy="256032"/>
          </a:xfrm>
          <a:prstGeom prst="roundRect">
            <a:avLst>
              <a:gd name="adj" fmla="val 21429"/>
            </a:avLst>
          </a:prstGeom>
          <a:solidFill>
            <a:srgbClr val="0E9384"/>
          </a:solidFill>
          <a:ln/>
        </p:spPr>
      </p:sp>
      <p:sp>
        <p:nvSpPr>
          <p:cNvPr id="61" name="Text 59"/>
          <p:cNvSpPr/>
          <p:nvPr/>
        </p:nvSpPr>
        <p:spPr>
          <a:xfrm>
            <a:off x="9912096" y="316382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company_customers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838944" y="316382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E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2,455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9912096" y="3456432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FK </a:t>
            </a:r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</a:rPr>
              <a:t>stock_code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9912096" y="3694176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054096" y="4224528"/>
            <a:ext cx="8833104" cy="1371600"/>
          </a:xfrm>
          <a:prstGeom prst="roundRect">
            <a:avLst>
              <a:gd name="adj" fmla="val 7333"/>
            </a:avLst>
          </a:prstGeom>
          <a:solidFill>
            <a:srgbClr val="FEF3E2"/>
          </a:solidFill>
          <a:ln w="13970">
            <a:solidFill>
              <a:srgbClr val="D97A0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182112" y="4279392"/>
            <a:ext cx="8650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주가·시장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3200400" y="4590288"/>
            <a:ext cx="2103120" cy="9144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3200400" y="4590288"/>
            <a:ext cx="2103120" cy="256032"/>
          </a:xfrm>
          <a:prstGeom prst="roundRect">
            <a:avLst>
              <a:gd name="adj" fmla="val 21429"/>
            </a:avLst>
          </a:prstGeom>
          <a:solidFill>
            <a:srgbClr val="D97A06"/>
          </a:solidFill>
          <a:ln/>
        </p:spPr>
      </p:sp>
      <p:sp>
        <p:nvSpPr>
          <p:cNvPr id="69" name="Text 67"/>
          <p:cNvSpPr/>
          <p:nvPr/>
        </p:nvSpPr>
        <p:spPr>
          <a:xfrm>
            <a:off x="3273552" y="45902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ohlcv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3200400" y="459028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E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1,069만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3273552" y="4882896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FK </a:t>
            </a:r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</a:rPr>
              <a:t>stock_code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3273552" y="5120640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일봉 OHLCV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5413248" y="4590288"/>
            <a:ext cx="2103120" cy="9144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5413248" y="4590288"/>
            <a:ext cx="2103120" cy="256032"/>
          </a:xfrm>
          <a:prstGeom prst="roundRect">
            <a:avLst>
              <a:gd name="adj" fmla="val 21429"/>
            </a:avLst>
          </a:prstGeom>
          <a:solidFill>
            <a:srgbClr val="D97A06"/>
          </a:solidFill>
          <a:ln/>
        </p:spPr>
      </p:sp>
      <p:sp>
        <p:nvSpPr>
          <p:cNvPr id="75" name="Text 73"/>
          <p:cNvSpPr/>
          <p:nvPr/>
        </p:nvSpPr>
        <p:spPr>
          <a:xfrm>
            <a:off x="5486400" y="45902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stock_status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5413248" y="459028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E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4,083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486400" y="4882896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FK </a:t>
            </a:r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</a:rPr>
              <a:t>stock_code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486400" y="5120640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상장·관리상태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7626096" y="4590288"/>
            <a:ext cx="2103120" cy="9144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7626096" y="4590288"/>
            <a:ext cx="2103120" cy="256032"/>
          </a:xfrm>
          <a:prstGeom prst="roundRect">
            <a:avLst>
              <a:gd name="adj" fmla="val 21429"/>
            </a:avLst>
          </a:prstGeom>
          <a:solidFill>
            <a:srgbClr val="D97A06"/>
          </a:solidFill>
          <a:ln/>
        </p:spPr>
      </p:sp>
      <p:sp>
        <p:nvSpPr>
          <p:cNvPr id="81" name="Text 79"/>
          <p:cNvSpPr/>
          <p:nvPr/>
        </p:nvSpPr>
        <p:spPr>
          <a:xfrm>
            <a:off x="7699248" y="45902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dart_halt_events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626096" y="459028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E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2,594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7699248" y="4882896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FK </a:t>
            </a:r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</a:rPr>
              <a:t>stock_code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7699248" y="5120640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거래정지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9838944" y="4590288"/>
            <a:ext cx="2103120" cy="9144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9838944" y="4590288"/>
            <a:ext cx="2103120" cy="256032"/>
          </a:xfrm>
          <a:prstGeom prst="roundRect">
            <a:avLst>
              <a:gd name="adj" fmla="val 21429"/>
            </a:avLst>
          </a:prstGeom>
          <a:solidFill>
            <a:srgbClr val="D97A06"/>
          </a:solidFill>
          <a:ln/>
        </p:spPr>
      </p:sp>
      <p:sp>
        <p:nvSpPr>
          <p:cNvPr id="87" name="Text 85"/>
          <p:cNvSpPr/>
          <p:nvPr/>
        </p:nvSpPr>
        <p:spPr>
          <a:xfrm>
            <a:off x="9912096" y="45902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ticker_suffix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9838944" y="459028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E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2,877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9912096" y="4882896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FK </a:t>
            </a:r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</a:rPr>
              <a:t>stock_code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9912096" y="5120640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우선주 분류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310896" y="5650992"/>
            <a:ext cx="11576304" cy="713232"/>
          </a:xfrm>
          <a:prstGeom prst="roundRect">
            <a:avLst>
              <a:gd name="adj" fmla="val 14103"/>
            </a:avLst>
          </a:prstGeom>
          <a:solidFill>
            <a:srgbClr val="F6F9FD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57200" y="570585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비관계형 (RDS 아님 · 종목코드로 논리 연결)</a:t>
            </a:r>
            <a:endParaRPr lang="en-US" sz="1050" dirty="0"/>
          </a:p>
        </p:txBody>
      </p:sp>
      <p:sp>
        <p:nvSpPr>
          <p:cNvPr id="93" name="Shape 91"/>
          <p:cNvSpPr/>
          <p:nvPr/>
        </p:nvSpPr>
        <p:spPr>
          <a:xfrm>
            <a:off x="457200" y="5980176"/>
            <a:ext cx="3611880" cy="329184"/>
          </a:xfrm>
          <a:prstGeom prst="roundRect">
            <a:avLst>
              <a:gd name="adj" fmla="val 30556"/>
            </a:avLst>
          </a:prstGeom>
          <a:solidFill>
            <a:srgbClr val="FFFFFF"/>
          </a:solidFill>
          <a:ln w="12700">
            <a:solidFill>
              <a:srgbClr val="0E938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94" name="Text 92"/>
          <p:cNvSpPr/>
          <p:nvPr/>
        </p:nvSpPr>
        <p:spPr>
          <a:xfrm>
            <a:off x="566928" y="598017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384"/>
                </a:solidFill>
              </a:rPr>
              <a:t>■ MongoDB Atlas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히스토리 브리핑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4251960" y="5980176"/>
            <a:ext cx="3611880" cy="329184"/>
          </a:xfrm>
          <a:prstGeom prst="roundRect">
            <a:avLst>
              <a:gd name="adj" fmla="val 30556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96" name="Text 94"/>
          <p:cNvSpPr/>
          <p:nvPr/>
        </p:nvSpPr>
        <p:spPr>
          <a:xfrm>
            <a:off x="4361688" y="598017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■ ChromaDB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사업보고서 벡터(RAG)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8046720" y="5980176"/>
            <a:ext cx="3611880" cy="329184"/>
          </a:xfrm>
          <a:prstGeom prst="roundRect">
            <a:avLst>
              <a:gd name="adj" fmla="val 30556"/>
            </a:avLst>
          </a:prstGeom>
          <a:solidFill>
            <a:srgbClr val="FFFFFF"/>
          </a:solidFill>
          <a:ln w="12700">
            <a:solidFill>
              <a:srgbClr val="D97A06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98" name="Text 96"/>
          <p:cNvSpPr/>
          <p:nvPr/>
        </p:nvSpPr>
        <p:spPr>
          <a:xfrm>
            <a:off x="8156448" y="598017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A06"/>
                </a:solidFill>
              </a:rPr>
              <a:t>■ AWS S3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Sankey·밸류·계열사 파일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무엇으로 만들었나 — 계층별 선택과 이유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계층마다 ‘가볍고·검증됐고·확장 가능한’ 표준 도구를 골랐습니다. AI는 자체 파이프라인으로 제어합니다.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212848"/>
            <a:ext cx="3529584" cy="1865376"/>
          </a:xfrm>
          <a:prstGeom prst="roundRect">
            <a:avLst>
              <a:gd name="adj" fmla="val 5392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4944" y="2212848"/>
            <a:ext cx="3236976" cy="128016"/>
          </a:xfrm>
          <a:prstGeom prst="roundRect">
            <a:avLst>
              <a:gd name="adj" fmla="val 35714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34086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04672" y="2761488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</a:rPr>
              <a:t>Next.js 16 · React 19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1607A"/>
                </a:solidFill>
              </a:rPr>
              <a:t>SSR·standalone 배포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04672" y="3182112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</a:rPr>
              <a:t>TypeScript · Tailwind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1607A"/>
                </a:solidFill>
              </a:rPr>
              <a:t>타입 안전·반응형 UI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04672" y="3602736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</a:rPr>
              <a:t>recharts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1607A"/>
                </a:solidFill>
              </a:rPr>
              <a:t>차트·시각화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61104" y="2212848"/>
            <a:ext cx="3529584" cy="1865376"/>
          </a:xfrm>
          <a:prstGeom prst="roundRect">
            <a:avLst>
              <a:gd name="adj" fmla="val 5392"/>
            </a:avLst>
          </a:prstGeom>
          <a:solidFill>
            <a:srgbClr val="FFFFFF"/>
          </a:solidFill>
          <a:ln w="15875">
            <a:solidFill>
              <a:srgbClr val="0E938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07408" y="2212848"/>
            <a:ext cx="3236976" cy="128016"/>
          </a:xfrm>
          <a:prstGeom prst="roundRect">
            <a:avLst>
              <a:gd name="adj" fmla="val 35714"/>
            </a:avLst>
          </a:prstGeom>
          <a:solidFill>
            <a:srgbClr val="0E9384"/>
          </a:solidFill>
          <a:ln/>
        </p:spPr>
      </p:sp>
      <p:sp>
        <p:nvSpPr>
          <p:cNvPr id="14" name="Text 12"/>
          <p:cNvSpPr/>
          <p:nvPr/>
        </p:nvSpPr>
        <p:spPr>
          <a:xfrm>
            <a:off x="4517136" y="234086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· API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517136" y="2761488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</a:rPr>
              <a:t>FastAPI (Python)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1607A"/>
                </a:solidFill>
              </a:rPr>
              <a:t>REST :8090 · 비동기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17136" y="3182112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</a:rPr>
              <a:t>psycopg3 · pymongo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1607A"/>
                </a:solidFill>
              </a:rPr>
              <a:t>DB 드라이버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17136" y="3602736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</a:rPr>
              <a:t>systemd · nginx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1607A"/>
                </a:solidFill>
              </a:rPr>
              <a:t>서비스 기동·프록시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973568" y="2212848"/>
            <a:ext cx="3529584" cy="1865376"/>
          </a:xfrm>
          <a:prstGeom prst="roundRect">
            <a:avLst>
              <a:gd name="adj" fmla="val 5392"/>
            </a:avLst>
          </a:prstGeom>
          <a:solidFill>
            <a:srgbClr val="FFFFFF"/>
          </a:solidFill>
          <a:ln w="15875">
            <a:solidFill>
              <a:srgbClr val="D97A06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19872" y="2212848"/>
            <a:ext cx="3236976" cy="128016"/>
          </a:xfrm>
          <a:prstGeom prst="roundRect">
            <a:avLst>
              <a:gd name="adj" fmla="val 35714"/>
            </a:avLst>
          </a:prstGeom>
          <a:solidFill>
            <a:srgbClr val="D97A06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234086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· 저장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229600" y="2761488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</a:rPr>
              <a:t>PostgreSQL(RDS)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1607A"/>
                </a:solidFill>
              </a:rPr>
              <a:t>정형 16테이블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0" y="3182112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</a:rPr>
              <a:t>MongoDB·ChromaDB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1607A"/>
                </a:solidFill>
              </a:rPr>
              <a:t>문서·벡터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29600" y="3602736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</a:rPr>
              <a:t>AWS S3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1607A"/>
                </a:solidFill>
              </a:rPr>
              <a:t>파일 서빙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206240"/>
            <a:ext cx="3529584" cy="1865376"/>
          </a:xfrm>
          <a:prstGeom prst="roundRect">
            <a:avLst>
              <a:gd name="adj" fmla="val 5392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4944" y="4206240"/>
            <a:ext cx="3236976" cy="128016"/>
          </a:xfrm>
          <a:prstGeom prst="roundRect">
            <a:avLst>
              <a:gd name="adj" fmla="val 35714"/>
            </a:avLst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433425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· RAG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04672" y="4754880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</a:rPr>
              <a:t>BGE-M3 1024d · 리랭커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1607A"/>
                </a:solidFill>
              </a:rPr>
              <a:t>임베딩·재정렬(로컬 GPU)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04672" y="5175504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</a:rPr>
              <a:t>OpenAI gpt-5-mini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1607A"/>
                </a:solidFill>
              </a:rPr>
              <a:t>답변 생성·진단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04672" y="5596128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</a:rPr>
              <a:t>자체 RAG 파이프라인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1607A"/>
                </a:solidFill>
              </a:rPr>
              <a:t>LangChain 미사용·경량 제어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261104" y="4206240"/>
            <a:ext cx="3529584" cy="1865376"/>
          </a:xfrm>
          <a:prstGeom prst="roundRect">
            <a:avLst>
              <a:gd name="adj" fmla="val 5392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407408" y="4206240"/>
            <a:ext cx="3236976" cy="128016"/>
          </a:xfrm>
          <a:prstGeom prst="roundRect">
            <a:avLst>
              <a:gd name="adj" fmla="val 35714"/>
            </a:avLst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4517136" y="433425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· 운영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4517136" y="4754880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</a:rPr>
              <a:t>AWS EC2(GPU)·RDS·S3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1607A"/>
                </a:solidFill>
              </a:rPr>
              <a:t>클라우드 배포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17136" y="5175504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</a:rPr>
              <a:t>HTTPS·Let’s Encrypt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1607A"/>
                </a:solidFill>
              </a:rPr>
              <a:t>전구간 암호화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17136" y="5596128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</a:rPr>
              <a:t>.env 런타임 로드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1607A"/>
                </a:solidFill>
              </a:rPr>
              <a:t>시크릿 하드코딩 0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973568" y="4206240"/>
            <a:ext cx="3529584" cy="1865376"/>
          </a:xfrm>
          <a:prstGeom prst="roundRect">
            <a:avLst>
              <a:gd name="adj" fmla="val 5392"/>
            </a:avLst>
          </a:prstGeom>
          <a:solidFill>
            <a:srgbClr val="FFFFFF"/>
          </a:solidFill>
          <a:ln w="15875">
            <a:solidFill>
              <a:srgbClr val="0E938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119872" y="4206240"/>
            <a:ext cx="3236976" cy="128016"/>
          </a:xfrm>
          <a:prstGeom prst="roundRect">
            <a:avLst>
              <a:gd name="adj" fmla="val 35714"/>
            </a:avLst>
          </a:prstGeom>
          <a:solidFill>
            <a:srgbClr val="0E9384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0" y="433425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· 협업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8229600" y="4754880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</a:rPr>
              <a:t>Claude Code·Design·v0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1607A"/>
                </a:solidFill>
              </a:rPr>
              <a:t>개발·디자인 가속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229600" y="5175504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</a:rPr>
              <a:t>GitHub · feature+PR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1607A"/>
                </a:solidFill>
              </a:rPr>
              <a:t>main 직접 금지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229600" y="5596128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</a:rPr>
              <a:t>Notion · Drive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1607A"/>
                </a:solidFill>
              </a:rPr>
              <a:t>문서·산출물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73152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밸류에이션 ① 상대가치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‘옆 회사와 비교’ — 지금 비싼가 싼가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회사들이 받는 가격과 견줘, 우리 회사가 비싼지 싼지를 봅니다. (상세 산식은 별도 밸류 PPT)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440680" cy="4754880"/>
          </a:xfrm>
          <a:prstGeom prst="roundRect">
            <a:avLst>
              <a:gd name="adj" fmla="val 2115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481328"/>
            <a:ext cx="5074920" cy="128016"/>
          </a:xfrm>
          <a:prstGeom prst="roundRect">
            <a:avLst>
              <a:gd name="adj" fmla="val 35714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64208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멀티플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2157984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무엇인가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432304"/>
            <a:ext cx="489204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회사들이 시장에서 받는 ‘가격 배수’(PER·EV/EBITDA·EV/Sales·PBR)를 우리 회사에 적용해 적정가를 매기는 방법이에요. 네 잣대로 보고 가운데값으로 종합합니다.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6384" y="3639312"/>
            <a:ext cx="4965192" cy="2395728"/>
          </a:xfrm>
          <a:prstGeom prst="roundRect">
            <a:avLst>
              <a:gd name="adj" fmla="val 4198"/>
            </a:avLst>
          </a:prstGeom>
          <a:solidFill>
            <a:srgbClr val="EFF5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785616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읽으세요 (일반투자자)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05840" y="4187952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D4ED8"/>
                </a:solidFill>
              </a:rPr>
              <a:t>· 적정가 &gt; 현재가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동종 대비 ‘싼 편’(상승 여지) · 반대면 ‘비싼 편’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05840" y="4791456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D4ED8"/>
                </a:solidFill>
              </a:rPr>
              <a:t>· 맹신 금지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‘반드시 오른다’는 아님 — 같은 업종·이익 안정·여러 잣대가 같은 방향일 때 신뢰↑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05840" y="5394960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D4ED8"/>
                </a:solidFill>
              </a:rPr>
              <a:t>· 주의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적자·고성장주는 이익이 흔들려 이 값도 출렁 → 참고로만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99632" y="1481328"/>
            <a:ext cx="5440680" cy="4754880"/>
          </a:xfrm>
          <a:prstGeom prst="roundRect">
            <a:avLst>
              <a:gd name="adj" fmla="val 2115"/>
            </a:avLst>
          </a:prstGeom>
          <a:solidFill>
            <a:srgbClr val="FFFFFF"/>
          </a:solidFill>
          <a:ln w="15875">
            <a:solidFill>
              <a:srgbClr val="0E938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64224" y="1481328"/>
            <a:ext cx="5074920" cy="128016"/>
          </a:xfrm>
          <a:prstGeom prst="roundRect">
            <a:avLst>
              <a:gd name="adj" fmla="val 35714"/>
            </a:avLst>
          </a:prstGeom>
          <a:solidFill>
            <a:srgbClr val="0E9384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1664208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피어기업 선정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473952" y="2157984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 기준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73952" y="2432304"/>
            <a:ext cx="489204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누구와 비교하느냐가 결과의 절반이에요. WICS 업종 + 사업 유사도(AI) 등 10가지를 가중 채점(업종18·시총15·사업내용10·수익성·성장·매출…)해 40점 넘는 상위 3사를 자동 선정합니다.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37376" y="3639312"/>
            <a:ext cx="4965192" cy="2395728"/>
          </a:xfrm>
          <a:prstGeom prst="roundRect">
            <a:avLst>
              <a:gd name="adj" fmla="val 4198"/>
            </a:avLst>
          </a:prstGeom>
          <a:solidFill>
            <a:srgbClr val="EAFBF6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56832" y="3785616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읽으세요 (일반투자자)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656832" y="4187952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B7268"/>
                </a:solidFill>
              </a:rPr>
              <a:t>· 신뢰도 A~E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‘이번 비교를 얼마나 잘 골랐나’ — A면 안심, 낮으면 멀티플 결과도 조심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656832" y="4791456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B7268"/>
                </a:solidFill>
              </a:rPr>
              <a:t>· 한계 인지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자동 선정이라 가끔 다른 업종이 섞일 수 있어요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656832" y="5394960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B7268"/>
                </a:solidFill>
              </a:rPr>
              <a:t>· 확인 습관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비교에 쓴 회사 목록을 직접 보고 납득되는지 확인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73152" cy="365760"/>
          </a:xfrm>
          <a:prstGeom prst="roundRect">
            <a:avLst>
              <a:gd name="adj" fmla="val 50000"/>
            </a:avLst>
          </a:prstGeom>
          <a:solidFill>
            <a:srgbClr val="D97A0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밸류에이션 ② 절대가치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‘미래에 벌 돈’의 오늘 값 — 내재가치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회사가 앞으로 벌 현금을 직접 계산해 오늘 가치로 환산합니다. 옆 회사와 무관한 ‘회사 본연의 값’이에요.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440680" cy="4754880"/>
          </a:xfrm>
          <a:prstGeom prst="roundRect">
            <a:avLst>
              <a:gd name="adj" fmla="val 2115"/>
            </a:avLst>
          </a:prstGeom>
          <a:solidFill>
            <a:srgbClr val="FFFFFF"/>
          </a:solidFill>
          <a:ln w="15875">
            <a:solidFill>
              <a:srgbClr val="D97A06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481328"/>
            <a:ext cx="5074920" cy="128016"/>
          </a:xfrm>
          <a:prstGeom prst="roundRect">
            <a:avLst>
              <a:gd name="adj" fmla="val 35714"/>
            </a:avLst>
          </a:prstGeom>
          <a:solidFill>
            <a:srgbClr val="D97A0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64208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DCF · 절대가치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2157984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무엇인가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432304"/>
            <a:ext cx="489204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회사가 앞으로 벌어들일 현금(FCFF)을 5년 예측하고, 그 이후는 영구가치로 묶어, 할인율(WACC)로 깎아 ‘오늘 값’으로 환산한 내재가치예요. 미래를 가정하므로 비관·기본·낙관 ‘범위’로 제시합니다.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6384" y="3639312"/>
            <a:ext cx="4965192" cy="2395728"/>
          </a:xfrm>
          <a:prstGeom prst="roundRect">
            <a:avLst>
              <a:gd name="adj" fmla="val 4198"/>
            </a:avLst>
          </a:prstGeom>
          <a:solidFill>
            <a:srgbClr val="FEF3E2"/>
          </a:solidFill>
          <a:ln w="12700">
            <a:solidFill>
              <a:srgbClr val="D97A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785616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읽으세요 (일반투자자)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05840" y="4187952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B45309"/>
                </a:solidFill>
              </a:rPr>
              <a:t>· ‘정답 가격’ 아님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가정에 민감해 현재가와 차이 클 수 있어 — 하나의 숫자보다 ‘범위’로 보세요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05840" y="4791456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B45309"/>
                </a:solidFill>
              </a:rPr>
              <a:t>· 괴리 = 시장 기대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내재가치&lt;현재가=시장이 낙관(거품 주의) · &gt;현재가=보수적(기회일 수도)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05840" y="5394960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B45309"/>
                </a:solidFill>
              </a:rPr>
              <a:t>· 단단한 신호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‘필요 성장률’ — 경제성장(~3%)보다 너무 높으면 거품, 낮으면 저평가 신호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99632" y="1481328"/>
            <a:ext cx="5440680" cy="4754880"/>
          </a:xfrm>
          <a:prstGeom prst="roundRect">
            <a:avLst>
              <a:gd name="adj" fmla="val 2115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64224" y="1481328"/>
            <a:ext cx="5074920" cy="128016"/>
          </a:xfrm>
          <a:prstGeom prst="roundRect">
            <a:avLst>
              <a:gd name="adj" fmla="val 35714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1664208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2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WACC · 할인율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473952" y="2157984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무엇인가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73952" y="2432304"/>
            <a:ext cx="489204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회사가 자본(주주 돈 + 빌린 돈)을 끌어다 쓰는 데 드는 평균 비용이자, 미래의 돈을 오늘 값으로 깎는 ‘할인율’이에요. 보통 8~13% 범위입니다.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37376" y="3639312"/>
            <a:ext cx="4965192" cy="2395728"/>
          </a:xfrm>
          <a:prstGeom prst="roundRect">
            <a:avLst>
              <a:gd name="adj" fmla="val 4198"/>
            </a:avLst>
          </a:prstGeom>
          <a:solidFill>
            <a:srgbClr val="F4F0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56832" y="3785616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2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읽으세요 (일반투자자)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656832" y="4187952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5B21B6"/>
                </a:solidFill>
              </a:rPr>
              <a:t>· 최소 합격선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회사가 넘어야 할 기준 — ROIC &gt; WACC면 ‘가치 창출’(좋은 회사)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656832" y="4791456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5B21B6"/>
                </a:solidFill>
              </a:rPr>
              <a:t>· 높을수록 깐깐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위험한 회사일수록 WACC↑ → 미래 이익을 더 작게 봐 내재가치↓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656832" y="5394960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5B21B6"/>
                </a:solidFill>
              </a:rPr>
              <a:t>· 주의 (Ke와 구분)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주주 개인의 최소 요구수익률은 WACC가 아니라 Ke(자기자본비용) · 보통 Ke&gt;WACC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2926080"/>
            <a:ext cx="5120640" cy="5120640"/>
          </a:xfrm>
          <a:prstGeom prst="ellipse">
            <a:avLst/>
          </a:prstGeom>
          <a:solidFill>
            <a:srgbClr val="0E9384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1463040"/>
            <a:ext cx="3840480" cy="384048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E11D48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시연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서비스에 접속해서 보여드립니다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10469880" y="5029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/>
        </p:spPr>
      </p:sp>
      <p:sp>
        <p:nvSpPr>
          <p:cNvPr id="8" name="Text 6"/>
          <p:cNvSpPr/>
          <p:nvPr/>
        </p:nvSpPr>
        <p:spPr>
          <a:xfrm>
            <a:off x="10469880" y="502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라이브 시연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1627632"/>
            <a:ext cx="11091672" cy="548640"/>
          </a:xfrm>
          <a:prstGeom prst="roundRect">
            <a:avLst>
              <a:gd name="adj" fmla="val 18333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27632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384"/>
                </a:solidFill>
              </a:rPr>
              <a:t>● LIVE   </a:t>
            </a:r>
            <a:pPr algn="ctr" indent="0" marL="0">
              <a:buNone/>
            </a:pPr>
            <a:r>
              <a:rPr lang="en-US" sz="1350" dirty="0">
                <a:solidFill>
                  <a:srgbClr val="0B7268"/>
                </a:solidFill>
              </a:rPr>
              <a:t>https://43.203.94.124.nip.io   — 김초심의 질문을 순서대로 따라갑니다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340864"/>
            <a:ext cx="11091672" cy="804672"/>
          </a:xfrm>
          <a:prstGeom prst="roundRect">
            <a:avLst>
              <a:gd name="adj" fmla="val 12500"/>
            </a:avLst>
          </a:prstGeom>
          <a:solidFill>
            <a:srgbClr val="EFF5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340864"/>
            <a:ext cx="137160" cy="804672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768096" y="2505456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25054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32" dirty="0"/>
          </a:p>
        </p:txBody>
      </p:sp>
      <p:sp>
        <p:nvSpPr>
          <p:cNvPr id="15" name="Text 13"/>
          <p:cNvSpPr/>
          <p:nvPr/>
        </p:nvSpPr>
        <p:spPr>
          <a:xfrm>
            <a:off x="1426464" y="2340864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기업개요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40480" y="2340864"/>
            <a:ext cx="7589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‘뭐 하는 회사?’ — 회사정보·재무 하이라이트·전자공시·AI 브리핑·손익흐름도·계열사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255264"/>
            <a:ext cx="11091672" cy="804672"/>
          </a:xfrm>
          <a:prstGeom prst="roundRect">
            <a:avLst>
              <a:gd name="adj" fmla="val 12500"/>
            </a:avLst>
          </a:prstGeom>
          <a:solidFill>
            <a:srgbClr val="FEF3E2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255264"/>
            <a:ext cx="137160" cy="804672"/>
          </a:xfrm>
          <a:prstGeom prst="roundRect">
            <a:avLst>
              <a:gd name="adj" fmla="val 40000"/>
            </a:avLst>
          </a:prstGeom>
          <a:solidFill>
            <a:srgbClr val="D97A06"/>
          </a:solidFill>
          <a:ln/>
        </p:spPr>
      </p:sp>
      <p:sp>
        <p:nvSpPr>
          <p:cNvPr id="19" name="Shape 17"/>
          <p:cNvSpPr/>
          <p:nvPr/>
        </p:nvSpPr>
        <p:spPr>
          <a:xfrm>
            <a:off x="768096" y="3419856"/>
            <a:ext cx="475488" cy="475488"/>
          </a:xfrm>
          <a:prstGeom prst="ellipse">
            <a:avLst/>
          </a:prstGeom>
          <a:solidFill>
            <a:srgbClr val="D97A06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" y="34198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32" dirty="0"/>
          </a:p>
        </p:txBody>
      </p:sp>
      <p:sp>
        <p:nvSpPr>
          <p:cNvPr id="21" name="Text 19"/>
          <p:cNvSpPr/>
          <p:nvPr/>
        </p:nvSpPr>
        <p:spPr>
          <a:xfrm>
            <a:off x="1426464" y="3255264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밸류에이션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840480" y="3255264"/>
            <a:ext cx="7589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‘비싼가 싼가?’ — 적정가 스코어카드·멀티플·DCF·WACC·ROIC (2-Tier)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169664"/>
            <a:ext cx="11091672" cy="804672"/>
          </a:xfrm>
          <a:prstGeom prst="roundRect">
            <a:avLst>
              <a:gd name="adj" fmla="val 12500"/>
            </a:avLst>
          </a:prstGeom>
          <a:solidFill>
            <a:srgbClr val="EAFBF6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169664"/>
            <a:ext cx="137160" cy="804672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25" name="Shape 23"/>
          <p:cNvSpPr/>
          <p:nvPr/>
        </p:nvSpPr>
        <p:spPr>
          <a:xfrm>
            <a:off x="768096" y="4334256"/>
            <a:ext cx="475488" cy="475488"/>
          </a:xfrm>
          <a:prstGeom prst="ellipse">
            <a:avLst/>
          </a:prstGeom>
          <a:solidFill>
            <a:srgbClr val="0E9384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" y="43342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32" dirty="0"/>
          </a:p>
        </p:txBody>
      </p:sp>
      <p:sp>
        <p:nvSpPr>
          <p:cNvPr id="27" name="Text 25"/>
          <p:cNvSpPr/>
          <p:nvPr/>
        </p:nvSpPr>
        <p:spPr>
          <a:xfrm>
            <a:off x="1426464" y="4169664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840480" y="4169664"/>
            <a:ext cx="7589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‘궁금한 건?’ — 사업보고서 근거로 답변 + 출처 카드·DART 링크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084064"/>
            <a:ext cx="11091672" cy="804672"/>
          </a:xfrm>
          <a:prstGeom prst="roundRect">
            <a:avLst>
              <a:gd name="adj" fmla="val 12500"/>
            </a:avLst>
          </a:prstGeom>
          <a:solidFill>
            <a:srgbClr val="F4F0FE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5084064"/>
            <a:ext cx="137160" cy="804672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/>
        </p:spPr>
      </p:sp>
      <p:sp>
        <p:nvSpPr>
          <p:cNvPr id="31" name="Shape 29"/>
          <p:cNvSpPr/>
          <p:nvPr/>
        </p:nvSpPr>
        <p:spPr>
          <a:xfrm>
            <a:off x="768096" y="5248656"/>
            <a:ext cx="475488" cy="47548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768096" y="52486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32" dirty="0"/>
          </a:p>
        </p:txBody>
      </p:sp>
      <p:sp>
        <p:nvSpPr>
          <p:cNvPr id="33" name="Text 31"/>
          <p:cNvSpPr/>
          <p:nvPr/>
        </p:nvSpPr>
        <p:spPr>
          <a:xfrm>
            <a:off x="1426464" y="5084064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페이지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840480" y="5084064"/>
            <a:ext cx="7589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‘믿을 수 있나?’ — 데이터 기준일·출처·전수검수·AI 통제(하네스)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6071616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별도 시연 슬라이드 없이, 실제 화면으로 진행합니다. — 이어서 Appendix(기술 상세)로 넘어갑니다.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6583680" cy="6583680"/>
          </a:xfrm>
          <a:prstGeom prst="ellipse">
            <a:avLst/>
          </a:prstGeom>
          <a:solidFill>
            <a:srgbClr val="2563E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657600"/>
            <a:ext cx="4023360" cy="4023360"/>
          </a:xfrm>
          <a:prstGeom prst="ellipse">
            <a:avLst/>
          </a:prstGeom>
          <a:solidFill>
            <a:srgbClr val="0E9384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206240"/>
            <a:ext cx="4206240" cy="4206240"/>
          </a:xfrm>
          <a:prstGeom prst="ellipse">
            <a:avLst/>
          </a:prstGeom>
          <a:solidFill>
            <a:srgbClr val="D97A06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200" kern="0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749808" y="3346704"/>
            <a:ext cx="3017520" cy="73152"/>
          </a:xfrm>
          <a:prstGeom prst="roundRect">
            <a:avLst>
              <a:gd name="adj" fmla="val 50000"/>
            </a:avLst>
          </a:prstGeom>
          <a:solidFill>
            <a:srgbClr val="0E9384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529584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상세 부록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94944" y="422452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기술 · 밸류에이션 6대 공식 · RAG 파이프라인 · 검증 체계 · 데이터 맵 · 인프라 · NO-MOCK · 용어사전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94944" y="5029200"/>
            <a:ext cx="2578608" cy="822960"/>
          </a:xfrm>
          <a:prstGeom prst="roundRect">
            <a:avLst>
              <a:gd name="adj" fmla="val 12222"/>
            </a:avLst>
          </a:prstGeom>
          <a:solidFill>
            <a:srgbClr val="EFF5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51389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AI·RAG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14400" y="5486400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임베딩·리랭킹·생성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38144" y="5029200"/>
            <a:ext cx="2578608" cy="822960"/>
          </a:xfrm>
          <a:prstGeom prst="roundRect">
            <a:avLst>
              <a:gd name="adj" fmla="val 12222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51389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 방법론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657600" y="5486400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6대 공식·4-Way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81344" y="5029200"/>
            <a:ext cx="2578608" cy="822960"/>
          </a:xfrm>
          <a:prstGeom prst="roundRect">
            <a:avLst>
              <a:gd name="adj" fmla="val 12222"/>
            </a:avLst>
          </a:prstGeom>
          <a:solidFill>
            <a:srgbClr val="FEF3E2"/>
          </a:solidFill>
          <a:ln w="15875">
            <a:solidFill>
              <a:srgbClr val="D97A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51389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신뢰성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0" y="5486400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전수검수·NO-MOCK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24544" y="5029200"/>
            <a:ext cx="2578608" cy="822960"/>
          </a:xfrm>
          <a:prstGeom prst="roundRect">
            <a:avLst>
              <a:gd name="adj" fmla="val 12222"/>
            </a:avLst>
          </a:prstGeom>
          <a:solidFill>
            <a:srgbClr val="F4F0F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0" y="51389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데이터·인프라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144000" y="5486400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4-DB·AWS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C · AI 기술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· 무슨 AI를 · 어떻게 썼나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4297680"/>
                <a:gridCol w="1600200"/>
                <a:gridCol w="3410712"/>
              </a:tblGrid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기술 / 모델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OpenAI gpt-5-mini (보조 gpt-4o-mini)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챗봇·백엔드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브리핑·챗봇 답변·밸류 진단 해설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검색증강생성 (보고서→Chroma→리랭킹→LLM)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챗봇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기반 답변·환각 차단·출처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임베딩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BGE-M3 (1024차원)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챗봇·피어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의미 벡터화·유사도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리랭커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bge-reranker-v2-m3 (cross-encoder)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챗봇 GPU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 후보 재정렬(로컬 무료)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벡터 DB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ChromaDB · 사업보고서 청크 약 377만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EC2(GPU)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 기반 문서 검색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온톨로지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ontology_b (회사·도메인 지식)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챗봇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질의 의도 보강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멀티모달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gpt-4o (첨부 이미지·PDF) — 신규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챗봇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첨부파일 질의 처리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평가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RAGAS · LLM Judge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브리핑 검증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브리핑 신뢰도 4-Phase 채점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피어 선정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임베딩 + 산업분류(WICS)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밸류 엔진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유사기업 자동 선정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도구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Code · Claude Design · v0.dev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코드·디자인 가속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7" name="Text 4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미사용 명시: LangChain = 미사용(자체 파이프라인으로 제어·경량화). 전통 ML = 미사용(베타 추정은 통계기법).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C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D · 방법론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밸류에이션 6대 공식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91056"/>
            <a:ext cx="5449824" cy="1335024"/>
          </a:xfrm>
          <a:prstGeom prst="roundRect">
            <a:avLst>
              <a:gd name="adj" fmla="val 6849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91056"/>
            <a:ext cx="137160" cy="13350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00784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DCF — 기업가치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04825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 = Σ FCFF(t)/(1+WACC)^t + TV/(1+WACC)ⁿ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적정주가 = (EV − 순부채) ÷ 발행주식수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0488" y="1591056"/>
            <a:ext cx="5449824" cy="1335024"/>
          </a:xfrm>
          <a:prstGeom prst="roundRect">
            <a:avLst>
              <a:gd name="adj" fmla="val 6849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90488" y="1591056"/>
            <a:ext cx="137160" cy="13350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808" y="1700784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FCFF — 잉여현금흐름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64808" y="204825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FCFF = EBIT(1−Tc) + D&amp;A − CapEx − ΔNWC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64808" y="246888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‘장부이익’ 아닌 ‘실제 남는 현금’ · 리포트로 보정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072384"/>
            <a:ext cx="5449824" cy="1335024"/>
          </a:xfrm>
          <a:prstGeom prst="roundRect">
            <a:avLst>
              <a:gd name="adj" fmla="val 6849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072384"/>
            <a:ext cx="137160" cy="1335024"/>
          </a:xfrm>
          <a:prstGeom prst="roundRect">
            <a:avLst>
              <a:gd name="adj" fmla="val 40000"/>
            </a:avLst>
          </a:prstGeom>
          <a:solidFill>
            <a:srgbClr val="16314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182112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터미널밸류 — 영구가치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2960" y="352958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TV = FCFF(n+1) ÷ (WACC − g)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395020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고든성장 · 조건 WACC&gt;g · g 1~3% 보수적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0488" y="3072384"/>
            <a:ext cx="5449824" cy="1335024"/>
          </a:xfrm>
          <a:prstGeom prst="roundRect">
            <a:avLst>
              <a:gd name="adj" fmla="val 6849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0488" y="3072384"/>
            <a:ext cx="137160" cy="13350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22" name="Text 20"/>
          <p:cNvSpPr/>
          <p:nvPr/>
        </p:nvSpPr>
        <p:spPr>
          <a:xfrm>
            <a:off x="6464808" y="3182112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WACC — 할인율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64808" y="352958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WACC = (E/V)·Re + (D/V)·Rd·(1−Tc)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64808" y="395020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주주·채권자 비용을 자본비중으로 가중평균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553712"/>
            <a:ext cx="5449824" cy="1335024"/>
          </a:xfrm>
          <a:prstGeom prst="roundRect">
            <a:avLst>
              <a:gd name="adj" fmla="val 6849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553712"/>
            <a:ext cx="137160" cy="13350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663440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CAPM — 자기자본비용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22960" y="50109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 = Rf + β·(Rm − Rf)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22960" y="543153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 국고채(ECOS) · β 피어추정 후 Blume·Hamada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90488" y="4553712"/>
            <a:ext cx="5449824" cy="1335024"/>
          </a:xfrm>
          <a:prstGeom prst="roundRect">
            <a:avLst>
              <a:gd name="adj" fmla="val 6849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90488" y="4553712"/>
            <a:ext cx="137160" cy="1335024"/>
          </a:xfrm>
          <a:prstGeom prst="roundRect">
            <a:avLst>
              <a:gd name="adj" fmla="val 40000"/>
            </a:avLst>
          </a:prstGeom>
          <a:solidFill>
            <a:srgbClr val="16314F"/>
          </a:solidFill>
          <a:ln/>
        </p:spPr>
      </p:sp>
      <p:sp>
        <p:nvSpPr>
          <p:cNvPr id="32" name="Text 30"/>
          <p:cNvSpPr/>
          <p:nvPr/>
        </p:nvSpPr>
        <p:spPr>
          <a:xfrm>
            <a:off x="6464808" y="4663440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멀티플 — 4-Way 교차검증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464808" y="50109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적정가 = 피어 중위배수 × 타깃지표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464808" y="543153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PER·PBR·EV/EBITDA 역산 + DCF = 4-Way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6" name="Text 34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 5단계: 재무 수집·표준화 → FCFF 추정 → WACC 산출 → DCF 할인·3시나리오 → 4-Way 교차검증. DCF는 가정 기반 ‘참고치’ → 범위로 제시.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D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14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E · AI 챗봇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파이프라인 — 9단계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FB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답하기 전 신뢰 문서를 먼저 찾아 그 근거 위에서만 답을 생성 → 환각 차단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4505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50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1389888" y="23042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수집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389888" y="27249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종목 사업보고서 원문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21214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12" name="Shape 10"/>
          <p:cNvSpPr/>
          <p:nvPr/>
        </p:nvSpPr>
        <p:spPr>
          <a:xfrm>
            <a:off x="4480560" y="24505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450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5138928" y="23042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 분할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138928" y="27249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검색·임베딩 단위로 분절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21214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0" y="24505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2450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8887968" y="23042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887968" y="27249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BGE-M3 의미 벡터화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4930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38221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822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1389888" y="36758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벡터DB 적재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389888" y="40965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ChromaDB(~40GB·약 377만)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97680" y="34930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27" name="Shape 25"/>
          <p:cNvSpPr/>
          <p:nvPr/>
        </p:nvSpPr>
        <p:spPr>
          <a:xfrm>
            <a:off x="4480560" y="38221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28" name="Text 26"/>
          <p:cNvSpPr/>
          <p:nvPr/>
        </p:nvSpPr>
        <p:spPr>
          <a:xfrm>
            <a:off x="4480560" y="3822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5138928" y="36758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 임베딩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5138928" y="40965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질문을 같은 벡터공간으로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46720" y="34930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32" name="Shape 30"/>
          <p:cNvSpPr/>
          <p:nvPr/>
        </p:nvSpPr>
        <p:spPr>
          <a:xfrm>
            <a:off x="8229600" y="38221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0" y="3822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60" dirty="0"/>
          </a:p>
        </p:txBody>
      </p:sp>
      <p:sp>
        <p:nvSpPr>
          <p:cNvPr id="34" name="Text 32"/>
          <p:cNvSpPr/>
          <p:nvPr/>
        </p:nvSpPr>
        <p:spPr>
          <a:xfrm>
            <a:off x="8887968" y="36758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검색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8887968" y="40965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코사인 유사도 후보 추출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48646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37" name="Shape 35"/>
          <p:cNvSpPr/>
          <p:nvPr/>
        </p:nvSpPr>
        <p:spPr>
          <a:xfrm>
            <a:off x="731520" y="51937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51937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1389888" y="50474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리랭킹</a:t>
            </a:r>
            <a:endParaRPr lang="en-US" sz="1550" dirty="0"/>
          </a:p>
        </p:txBody>
      </p:sp>
      <p:sp>
        <p:nvSpPr>
          <p:cNvPr id="40" name="Text 38"/>
          <p:cNvSpPr/>
          <p:nvPr/>
        </p:nvSpPr>
        <p:spPr>
          <a:xfrm>
            <a:off x="1389888" y="54681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리랭커 재정렬(무료)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297680" y="48646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42" name="Shape 40"/>
          <p:cNvSpPr/>
          <p:nvPr/>
        </p:nvSpPr>
        <p:spPr>
          <a:xfrm>
            <a:off x="4480560" y="51937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43" name="Text 41"/>
          <p:cNvSpPr/>
          <p:nvPr/>
        </p:nvSpPr>
        <p:spPr>
          <a:xfrm>
            <a:off x="4480560" y="51937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60" dirty="0"/>
          </a:p>
        </p:txBody>
      </p:sp>
      <p:sp>
        <p:nvSpPr>
          <p:cNvPr id="44" name="Text 42"/>
          <p:cNvSpPr/>
          <p:nvPr/>
        </p:nvSpPr>
        <p:spPr>
          <a:xfrm>
            <a:off x="5138928" y="50474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구성</a:t>
            </a:r>
            <a:endParaRPr lang="en-US" sz="1550" dirty="0"/>
          </a:p>
        </p:txBody>
      </p:sp>
      <p:sp>
        <p:nvSpPr>
          <p:cNvPr id="45" name="Text 43"/>
          <p:cNvSpPr/>
          <p:nvPr/>
        </p:nvSpPr>
        <p:spPr>
          <a:xfrm>
            <a:off x="5138928" y="54681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청크 + 질문 결합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046720" y="48646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47" name="Shape 45"/>
          <p:cNvSpPr/>
          <p:nvPr/>
        </p:nvSpPr>
        <p:spPr>
          <a:xfrm>
            <a:off x="8229600" y="5193792"/>
            <a:ext cx="548640" cy="548640"/>
          </a:xfrm>
          <a:prstGeom prst="ellipse">
            <a:avLst/>
          </a:prstGeom>
          <a:solidFill>
            <a:srgbClr val="C7922E"/>
          </a:solidFill>
          <a:ln/>
        </p:spPr>
      </p:sp>
      <p:sp>
        <p:nvSpPr>
          <p:cNvPr id="48" name="Text 46"/>
          <p:cNvSpPr/>
          <p:nvPr/>
        </p:nvSpPr>
        <p:spPr>
          <a:xfrm>
            <a:off x="8229600" y="51937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60" dirty="0"/>
          </a:p>
        </p:txBody>
      </p:sp>
      <p:sp>
        <p:nvSpPr>
          <p:cNvPr id="49" name="Text 47"/>
          <p:cNvSpPr/>
          <p:nvPr/>
        </p:nvSpPr>
        <p:spPr>
          <a:xfrm>
            <a:off x="8887968" y="50474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생성·출처</a:t>
            </a:r>
            <a:endParaRPr lang="en-US" sz="1550" dirty="0"/>
          </a:p>
        </p:txBody>
      </p:sp>
      <p:sp>
        <p:nvSpPr>
          <p:cNvPr id="50" name="Text 48"/>
          <p:cNvSpPr/>
          <p:nvPr/>
        </p:nvSpPr>
        <p:spPr>
          <a:xfrm>
            <a:off x="8887968" y="54681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답변 + 출처·DART 링크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48640" y="6089904"/>
            <a:ext cx="11091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7FB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비용: 임베딩·리랭킹은 로컬 GPU(무료), LLM 답변 호출만 유료(질의당 ~5원). 답변마다 출처를 함께 제시.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E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F · 신뢰성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히스토리 브리핑 — 4-Phase 검증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사업보고서를 RAG로 요약한 ‘히스토리 브리핑’의 신뢰도를 4단계로 자동 채점·등급화.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615184" cy="2505456"/>
          </a:xfrm>
          <a:prstGeom prst="roundRect">
            <a:avLst>
              <a:gd name="adj" fmla="val 3650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03120"/>
            <a:ext cx="137160" cy="2505456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26771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261518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매칭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804672" y="3108960"/>
            <a:ext cx="22128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브리핑 속 숫자가 원본과 일치하는지 대조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337560" y="2103120"/>
            <a:ext cx="2615184" cy="2505456"/>
          </a:xfrm>
          <a:prstGeom prst="roundRect">
            <a:avLst>
              <a:gd name="adj" fmla="val 3650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2103120"/>
            <a:ext cx="137160" cy="2505456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3" name="Text 11"/>
          <p:cNvSpPr/>
          <p:nvPr/>
        </p:nvSpPr>
        <p:spPr>
          <a:xfrm>
            <a:off x="3593592" y="226771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93592" y="261518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검증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3593592" y="3108960"/>
            <a:ext cx="22128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서술이 실제 문서 근거에 기반하는지 확인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26480" y="2103120"/>
            <a:ext cx="2615184" cy="2505456"/>
          </a:xfrm>
          <a:prstGeom prst="roundRect">
            <a:avLst>
              <a:gd name="adj" fmla="val 3650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2103120"/>
            <a:ext cx="137160" cy="2505456"/>
          </a:xfrm>
          <a:prstGeom prst="roundRect">
            <a:avLst>
              <a:gd name="adj" fmla="val 40000"/>
            </a:avLst>
          </a:prstGeom>
          <a:solidFill>
            <a:srgbClr val="16314F"/>
          </a:solidFill>
          <a:ln/>
        </p:spPr>
      </p:sp>
      <p:sp>
        <p:nvSpPr>
          <p:cNvPr id="18" name="Text 16"/>
          <p:cNvSpPr/>
          <p:nvPr/>
        </p:nvSpPr>
        <p:spPr>
          <a:xfrm>
            <a:off x="6382512" y="226771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82512" y="261518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RAGAS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6382512" y="3108960"/>
            <a:ext cx="22128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검색·생성 적합성을 정량 평가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915400" y="2103120"/>
            <a:ext cx="2615184" cy="2505456"/>
          </a:xfrm>
          <a:prstGeom prst="roundRect">
            <a:avLst>
              <a:gd name="adj" fmla="val 3650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15400" y="2103120"/>
            <a:ext cx="137160" cy="2505456"/>
          </a:xfrm>
          <a:prstGeom prst="roundRect">
            <a:avLst>
              <a:gd name="adj" fmla="val 40000"/>
            </a:avLst>
          </a:prstGeom>
          <a:solidFill>
            <a:srgbClr val="6B4FA8"/>
          </a:solidFill>
          <a:ln/>
        </p:spPr>
      </p:sp>
      <p:sp>
        <p:nvSpPr>
          <p:cNvPr id="23" name="Text 21"/>
          <p:cNvSpPr/>
          <p:nvPr/>
        </p:nvSpPr>
        <p:spPr>
          <a:xfrm>
            <a:off x="9171432" y="226771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71432" y="261518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Judge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9171432" y="3108960"/>
            <a:ext cx="22128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전체 품질을 종합 채점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48640" y="4882896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16314F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4882896"/>
            <a:ext cx="137160" cy="1280160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C976"/>
                </a:solidFill>
              </a:rPr>
              <a:t>약 2,526종 </a:t>
            </a:r>
            <a:pPr indent="0" marL="0">
              <a:buNone/>
            </a:pPr>
            <a:r>
              <a:rPr lang="en-US" sz="1600" dirty="0">
                <a:solidFill>
                  <a:srgbClr val="E9F1FB"/>
                </a:solidFill>
              </a:rPr>
              <a:t>브리핑 적재 · 평균 </a:t>
            </a:r>
            <a:pPr indent="0" marL="0">
              <a:buNone/>
            </a:pPr>
            <a:r>
              <a:rPr lang="en-US" sz="2200" b="1" dirty="0">
                <a:solidFill>
                  <a:srgbClr val="EAC976"/>
                </a:solidFill>
              </a:rPr>
              <a:t>77.1점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14400" y="554126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저점수 항목은 2-pass 재생성으로 보강 · 관리자 ‘신뢰도 검증’ 탭에서 원본 대조·오류율 관리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F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G · 신뢰성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 검수 — ‘아무 종목이나 눌러도 안 깨진다’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서비스를 전 종목 × 핵심 기능으로 자동 검증 (2026-06-17, AWS 라이브).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2048256"/>
            <a:ext cx="5486400" cy="3657600"/>
          </a:xfrm>
          <a:prstGeom prst="roundRect">
            <a:avLst>
              <a:gd name="adj" fmla="val 2500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48256"/>
            <a:ext cx="137160" cy="3657600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22128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59536" y="2706624"/>
            <a:ext cx="5029200" cy="2926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대상</a:t>
            </a:r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활성 2,588종목 × 핵심 11개 API = 28,468건 호출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분류</a:t>
            </a:r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OK / EMPTY(데이터 갭·정직표기) / FAIL(5xx·타임아웃·파싱오류=버그)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멱등</a:t>
            </a:r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데이터 적재는 재실행해도 결과 동일(UPSERT)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163056" y="2048256"/>
            <a:ext cx="5477256" cy="3657600"/>
          </a:xfrm>
          <a:prstGeom prst="roundRect">
            <a:avLst>
              <a:gd name="adj" fmla="val 2500"/>
            </a:avLst>
          </a:prstGeom>
          <a:solidFill>
            <a:srgbClr val="F0FBF4"/>
          </a:solidFill>
          <a:ln w="19050">
            <a:solidFill>
              <a:srgbClr val="B6E3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63056" y="2048256"/>
            <a:ext cx="137160" cy="3657600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12" name="Text 10"/>
          <p:cNvSpPr/>
          <p:nvPr/>
        </p:nvSpPr>
        <p:spPr>
          <a:xfrm>
            <a:off x="6473952" y="22128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73952" y="268833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검사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50224" y="268833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28,468건 (741초)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73952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버그(FAIL)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50224" y="3200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8건 → 전수 추적 결과 무해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73952" y="371246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타임아웃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50224" y="371246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2건 (재검사 시 정상)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73952" y="42245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우선주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50224" y="42245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6건 (검색 비노출·무해)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73952" y="4882896"/>
            <a:ext cx="4892040" cy="713232"/>
          </a:xfrm>
          <a:prstGeom prst="roundRect">
            <a:avLst>
              <a:gd name="adj" fmla="val 12821"/>
            </a:avLst>
          </a:prstGeom>
          <a:solidFill>
            <a:srgbClr val="16314F"/>
          </a:solidFill>
          <a:ln/>
        </p:spPr>
      </p:sp>
      <p:sp>
        <p:nvSpPr>
          <p:cNvPr id="22" name="Text 20"/>
          <p:cNvSpPr/>
          <p:nvPr/>
        </p:nvSpPr>
        <p:spPr>
          <a:xfrm>
            <a:off x="6473952" y="4882896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C976"/>
                </a:solidFill>
              </a:rPr>
              <a:t>데모 차단 버그 0건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  ·  정상률 99.97%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valuation EMPTY는 NO-MOCK 정상(적정가 보유 약 2,223종만 표시). 화면 전자공시는 라이브 DART 사용 → DB 공란과 무관.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G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H · 데이터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원천 지도 — 모든 수치의 출처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03120"/>
                <a:gridCol w="4480560"/>
                <a:gridCol w="21305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수집 데이터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갱신 주기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DART OpenAPI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금융감독원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재무제표·사업보고서·공시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/ 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KRX (pykrx)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한국거래소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일봉 OHLCV(시·고·저·종·거래량)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 거래일 16:00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yfinance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글로벌 시세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시세·글로벌 지수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ECOS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한국은행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국고채 금리 등 거시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 / 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WICS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FnGuide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산업분류(78업종)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네이버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뉴스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종목 뉴스·환율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KOFIA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금융투자협회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회사채 금리(WACC 타인자본비용)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11091672" cy="969264"/>
          </a:xfrm>
          <a:prstGeom prst="roundRect">
            <a:avLst>
              <a:gd name="adj" fmla="val 9434"/>
            </a:avLst>
          </a:prstGeom>
          <a:solidFill>
            <a:srgbClr val="F0FBF4"/>
          </a:solidFill>
          <a:ln w="19050">
            <a:solidFill>
              <a:srgbClr val="B6E3C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5212080"/>
            <a:ext cx="137160" cy="96926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8" name="Text 5"/>
          <p:cNvSpPr/>
          <p:nvPr/>
        </p:nvSpPr>
        <p:spPr>
          <a:xfrm>
            <a:off x="877824" y="5212080"/>
            <a:ext cx="105156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8E54"/>
                </a:solidFill>
              </a:rPr>
              <a:t>NO-MOCK 원칙 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E3A47"/>
                </a:solidFill>
              </a:rPr>
              <a:t>모든 수치·문장은 위 공식 출처와 계산식에 근거. 없으면 ‘데이터 없음’ 정직 표기.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10" name="Text 7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면책: 본 서비스 정보는 투자 참고용이며, 투자 판단·책임은 이용자 본인에게 있습니다.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H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I · 아키텍처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아키텍처 — 도메인 계층 (Client → Storage)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10896" y="1499616"/>
            <a:ext cx="11576304" cy="987552"/>
          </a:xfrm>
          <a:prstGeom prst="roundRect">
            <a:avLst>
              <a:gd name="adj" fmla="val 9259"/>
            </a:avLst>
          </a:prstGeom>
          <a:solidFill>
            <a:srgbClr val="F7FAFD"/>
          </a:solidFill>
          <a:ln w="19050">
            <a:solidFill>
              <a:srgbClr val="1631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" y="1499616"/>
            <a:ext cx="137160" cy="987552"/>
          </a:xfrm>
          <a:prstGeom prst="roundRect">
            <a:avLst>
              <a:gd name="adj" fmla="val 40000"/>
            </a:avLst>
          </a:prstGeom>
          <a:solidFill>
            <a:srgbClr val="16314F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68249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30352" y="2066544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진입점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42032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9464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검색·자동완성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056888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84320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 탐색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71744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99176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마켓 시그널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86600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14032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 상세 (3탭)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01456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28888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116312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EF3C7"/>
          </a:solidFill>
          <a:ln w="12700">
            <a:solidFill>
              <a:srgbClr val="E8C4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43744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07024" y="245059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10896" y="2615184"/>
            <a:ext cx="11576304" cy="987552"/>
          </a:xfrm>
          <a:prstGeom prst="roundRect">
            <a:avLst>
              <a:gd name="adj" fmla="val 9259"/>
            </a:avLst>
          </a:prstGeom>
          <a:solidFill>
            <a:srgbClr val="F7FAFD"/>
          </a:solidFill>
          <a:ln w="19050">
            <a:solidFill>
              <a:srgbClr val="2D6C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0896" y="2615184"/>
            <a:ext cx="137160" cy="987552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279806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라우터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30352" y="3182112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엔드포인트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42032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9464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/api/overview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840480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67912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/api/valuation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138928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/api/sectors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37376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64808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/api/morning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735824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63256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/api/dart_*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034272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61704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/api/affiliate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332720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EF3C7"/>
          </a:solidFill>
          <a:ln w="12700">
            <a:solidFill>
              <a:srgbClr val="E8C46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360152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/chat · :8800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907024" y="356616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10896" y="3730752"/>
            <a:ext cx="11576304" cy="987552"/>
          </a:xfrm>
          <a:prstGeom prst="roundRect">
            <a:avLst>
              <a:gd name="adj" fmla="val 9259"/>
            </a:avLst>
          </a:prstGeom>
          <a:solidFill>
            <a:srgbClr val="F7FAFD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10896" y="3730752"/>
            <a:ext cx="137160" cy="987552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/>
        </p:spPr>
      </p:sp>
      <p:sp>
        <p:nvSpPr>
          <p:cNvPr id="43" name="Text 41"/>
          <p:cNvSpPr/>
          <p:nvPr/>
        </p:nvSpPr>
        <p:spPr>
          <a:xfrm>
            <a:off x="530352" y="39136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서비스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530352" y="429768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로직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542032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69464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조회·집계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056888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84320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 엔진 연계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571744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99176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(15분 TTL)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086600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14032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폴백·적재 생성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601456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628888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검증·모니터링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10116312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EF3C7"/>
          </a:solidFill>
          <a:ln w="12700">
            <a:solidFill>
              <a:srgbClr val="E8C46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143744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서비스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907024" y="468172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10896" y="4846320"/>
            <a:ext cx="11576304" cy="987552"/>
          </a:xfrm>
          <a:prstGeom prst="roundRect">
            <a:avLst>
              <a:gd name="adj" fmla="val 9259"/>
            </a:avLst>
          </a:prstGeom>
          <a:solidFill>
            <a:srgbClr val="F7FAFD"/>
          </a:solidFill>
          <a:ln w="19050">
            <a:solidFill>
              <a:srgbClr val="1E8E5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10896" y="4846320"/>
            <a:ext cx="137160" cy="987552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60" name="Text 58"/>
          <p:cNvSpPr/>
          <p:nvPr/>
        </p:nvSpPr>
        <p:spPr>
          <a:xfrm>
            <a:off x="530352" y="5029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</a:t>
            </a:r>
            <a:endParaRPr lang="en-US" sz="1450" dirty="0"/>
          </a:p>
        </p:txBody>
      </p:sp>
      <p:sp>
        <p:nvSpPr>
          <p:cNvPr id="61" name="Text 59"/>
          <p:cNvSpPr/>
          <p:nvPr/>
        </p:nvSpPr>
        <p:spPr>
          <a:xfrm>
            <a:off x="530352" y="541324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4-DB 폴리글랏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2542032" y="5029200"/>
            <a:ext cx="2162556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569464" y="5029200"/>
            <a:ext cx="21076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RDS PostgreSQL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814316" y="5029200"/>
            <a:ext cx="2162556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41748" y="5029200"/>
            <a:ext cx="21076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Atlas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7086600" y="5029200"/>
            <a:ext cx="2162556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114032" y="5029200"/>
            <a:ext cx="21076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ChromaDB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9358884" y="5029200"/>
            <a:ext cx="2162556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386316" y="5029200"/>
            <a:ext cx="21076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S3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310896" y="5998464"/>
            <a:ext cx="1157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챗봇은 별도 마이크로서비스(:8800 · GPU EC2) — 메인 API와 분리된 경로로 RAG 검색·생성 · 캐시·폴백으로 응답 가속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I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J · 데이터 스터디 (1/3)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데이터 — 어디에 활용 · 어느 DB · 언제 갱신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520440"/>
                <a:gridCol w="3063240"/>
                <a:gridCol w="16733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 활용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(DB · 테이블)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업데이트 주기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종가 (KRX)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현재가 · 시가총액(E) · 상승여력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RDS ohlcv · 엔진 market_snapshot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영업일 16:00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47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무위험금리 Rf (ECOS)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WACC 자기자본비용(Ke) 기저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rf_rates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47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회사채금리 Kd (KOFIA)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WACC 세후 타인자본비용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kofia_bond_yields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47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재무제표 (DART XBRL)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DCF 정상화 · 멀티플 · NOA 입력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RDS financials · financial_detail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분기손익 (TTM)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DCF 손익 신선화 · 멀티플 분모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quarterly_standalone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발행/유통주식수 (DART API)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시가총액 · 적정주가 분모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shares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신용등급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타인자본비용(Kd) 등급 선택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credit_ratings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22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7" name="Text 4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색=주기:  빨강 영업일(매일) · 금색 공시 시.   ‘엔진’=밸류 엔진 valuation.db(SQLite) → 배포 시 RDS·Mongo·Chroma·S3로 적재.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J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K · 데이터 스터디 (2/3)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 지표·챗봇 — 어디에 활용 · 어느 DB · 언제 갱신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3383280"/>
                <a:gridCol w="3337560"/>
                <a:gridCol w="167335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 활용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(DB · 테이블)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업데이트 주기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베타 β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 계수 (피어 βU · Blume·Hamada)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beta_results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WACC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DCF 할인율 · EPV 분모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wacc_results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FCFF / FCF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DCF 5년 명시예측 현금흐름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dcf_results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DCF 적정주가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내재가치 (ΣPV + 터미널)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RDS valuation_summary · 엔진 equity_results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멀티플 4종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피어 중위배수 역산 적정가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mongo_docs (통합 doc)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EPV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현재가 적절성 진단 (성장 0)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diagnostics_results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NOA · 과대 가드 (v9)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DCF 부적합 · 점추정 차단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통합 doc (summary)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v9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CB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히스토리 브리핑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 스토리 요약 (RAG)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MongoDB histories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2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청크 · 임베딩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 의미검색 (BGE-M3)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ChromaDB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22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7" name="Text 4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 지표는 입력이 바뀔 때마다 평가별(eval_date)로 재계산 · v9 가드는 모델 버전 변경 시 일괄 반영.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K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L · 데이터 스터디 (3/3)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업데이트 주기 한눈에 — 무엇을 언제 갱신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데이터마다 갱신 주기가 다릅니다. 색으로 구분한 4가지 주기를 한 장에 정리합니다.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2139696"/>
            <a:ext cx="5449824" cy="1682496"/>
          </a:xfrm>
          <a:prstGeom prst="roundRect">
            <a:avLst>
              <a:gd name="adj" fmla="val 5435"/>
            </a:avLst>
          </a:prstGeom>
          <a:solidFill>
            <a:srgbClr val="F4F8FD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39696"/>
            <a:ext cx="5449824" cy="128016"/>
          </a:xfrm>
          <a:prstGeom prst="roundRect">
            <a:avLst>
              <a:gd name="adj" fmla="val 35714"/>
            </a:avLst>
          </a:prstGeom>
          <a:solidFill>
            <a:srgbClr val="C0473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59152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C047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(영업일)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822960" y="2779776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데이터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종가(KRX) · 무위험금리 Rf(ECOS) · 회사채금리 Kd(KOFIA) → 평가 시점 당일/직전영업일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90488" y="2139696"/>
            <a:ext cx="5449824" cy="1682496"/>
          </a:xfrm>
          <a:prstGeom prst="roundRect">
            <a:avLst>
              <a:gd name="adj" fmla="val 5435"/>
            </a:avLst>
          </a:prstGeom>
          <a:solidFill>
            <a:srgbClr val="F4F8FD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90488" y="2139696"/>
            <a:ext cx="5449824" cy="128016"/>
          </a:xfrm>
          <a:prstGeom prst="roundRect">
            <a:avLst>
              <a:gd name="adj" fmla="val 35714"/>
            </a:avLst>
          </a:prstGeom>
          <a:solidFill>
            <a:srgbClr val="C792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64808" y="2359152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 시 (분기·반기·결산)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464808" y="2779776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 · 원천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64808" y="3108960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재무제표 · 분기손익 · 발행주식수 · 신용등급 · 사업보고서 청크·임베딩 · AI 브리핑 (영구 캐시)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005072"/>
            <a:ext cx="5449824" cy="1682496"/>
          </a:xfrm>
          <a:prstGeom prst="roundRect">
            <a:avLst>
              <a:gd name="adj" fmla="val 5435"/>
            </a:avLst>
          </a:prstGeom>
          <a:solidFill>
            <a:srgbClr val="F4F8FD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005072"/>
            <a:ext cx="5449824" cy="128016"/>
          </a:xfrm>
          <a:prstGeom prst="roundRect">
            <a:avLst>
              <a:gd name="adj" fmla="val 35714"/>
            </a:avLst>
          </a:prstGeom>
          <a:solidFill>
            <a:srgbClr val="1E8E5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224528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평가 (eval_date)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822960" y="4645152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 지표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974336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β · WACC · FCFF/DCF · 멀티플 · EPV · 적정주가 — 입력이 바뀌면 재계산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90488" y="4005072"/>
            <a:ext cx="5449824" cy="1682496"/>
          </a:xfrm>
          <a:prstGeom prst="roundRect">
            <a:avLst>
              <a:gd name="adj" fmla="val 5435"/>
            </a:avLst>
          </a:prstGeom>
          <a:solidFill>
            <a:srgbClr val="F4F8FD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90488" y="4005072"/>
            <a:ext cx="5449824" cy="128016"/>
          </a:xfrm>
          <a:prstGeom prst="roundRect">
            <a:avLst>
              <a:gd name="adj" fmla="val 35714"/>
            </a:avLst>
          </a:prstGeom>
          <a:solidFill>
            <a:srgbClr val="2D6CB5"/>
          </a:solidFill>
          <a:ln/>
        </p:spPr>
      </p:sp>
      <p:sp>
        <p:nvSpPr>
          <p:cNvPr id="23" name="Text 21"/>
          <p:cNvSpPr/>
          <p:nvPr/>
        </p:nvSpPr>
        <p:spPr>
          <a:xfrm>
            <a:off x="6464808" y="4224528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버전 (v9)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6464808" y="4645152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무효화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64808" y="4974336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NOA·과대 가드 등 로직 변경 → 강제 재평가(--no-resume) 또는 조회 시 자동 갱신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정적(거의 불변): ERP·CRP·세율·임베딩 모델(BGE-M3) — 코드 수정 시에만.  ⚠ resume은 행 존재만 보므로, v9 일괄반영은 --no-resume 필요.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L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O · 인프라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인프라 &amp; 무중단·보안 설계</a:t>
            </a:r>
            <a:endParaRPr lang="en-US" sz="3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572000"/>
                <a:gridCol w="377647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구성요소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EC2 (프론트/백엔드)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Next.js · FastAPI 구동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systemd 자동 기동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EC2 GPU (챗봇)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 임베딩·리랭킹·LLM 연계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데모 시에만 가동 → 정지(과금 최소화)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RDS PostgreSQL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정형 16테이블 · 약 1,175만 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관리형 백업·보안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AWS S3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Sankey·밸류·계열사 파일 서빙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대용량 객체 · 18,397객체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MongoDB Atlas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히스토리 브리핑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화이트리스트 접근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nginx + HTTPS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리버스프록시 · SSL(Let's Encrypt)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/api→백엔드, /→프론트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스케줄러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주가 OHLCV 매 거래일 16:00 갱신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무중단 최신화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11091672" cy="969264"/>
          </a:xfrm>
          <a:prstGeom prst="roundRect">
            <a:avLst>
              <a:gd name="adj" fmla="val 9434"/>
            </a:avLst>
          </a:prstGeom>
          <a:solidFill>
            <a:srgbClr val="F0F6FF"/>
          </a:solidFill>
          <a:ln w="15875">
            <a:solidFill>
              <a:srgbClr val="C7DB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5212080"/>
            <a:ext cx="137160" cy="96926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5212080"/>
            <a:ext cx="105156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D6CB5"/>
                </a:solidFill>
              </a:rPr>
              <a:t>보안·가용성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E3A47"/>
                </a:solidFill>
              </a:rPr>
              <a:t>장애 격리(프론트·백엔드·챗봇·DB 분리) · DB 보안그룹 화이트리스트 · 비밀키 .env 런타임 로드(하드코딩·커밋 0) · GPU 정지 시 과금 0 · HTTPS 전구간 암호화 · 관리자 토큰 인증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O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P · 신뢰성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NO-MOCK — ‘추정하지 않는다, 출처로 말한다’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없는 한 글자·숫자도 만들지 않습니다. 이 원칙이 FINSIGHT의 최대 차별점입니다.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2139696"/>
            <a:ext cx="5449824" cy="1426464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39696"/>
            <a:ext cx="137160" cy="142646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30428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출처 의무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41248" y="2724912"/>
            <a:ext cx="498348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수치·문장은 DART·DB·계산식 근거. 챗봇 답변은 출처 카드·DART 링크 동반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90488" y="2139696"/>
            <a:ext cx="5449824" cy="1426464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90488" y="2139696"/>
            <a:ext cx="137160" cy="142646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12" name="Text 10"/>
          <p:cNvSpPr/>
          <p:nvPr/>
        </p:nvSpPr>
        <p:spPr>
          <a:xfrm>
            <a:off x="6483096" y="230428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정직한 공백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483096" y="2724912"/>
            <a:ext cx="498348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없으면 가짜로 채우지 않고 ‘데이터 없음/검증중’으로 표기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730752"/>
            <a:ext cx="5449824" cy="1426464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730752"/>
            <a:ext cx="137160" cy="142646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89534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관리자 검증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41248" y="4315968"/>
            <a:ext cx="498348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파트(브리핑·주가/재무·밸류·챗봇) 샘플을 원본과 대조해 오류율 추적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90488" y="3730752"/>
            <a:ext cx="5449824" cy="1426464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0488" y="3730752"/>
            <a:ext cx="137160" cy="1426464"/>
          </a:xfrm>
          <a:prstGeom prst="roundRect">
            <a:avLst>
              <a:gd name="adj" fmla="val 40000"/>
            </a:avLst>
          </a:prstGeom>
          <a:solidFill>
            <a:srgbClr val="6B4FA8"/>
          </a:solidFill>
          <a:ln/>
        </p:spPr>
      </p:sp>
      <p:sp>
        <p:nvSpPr>
          <p:cNvPr id="20" name="Text 18"/>
          <p:cNvSpPr/>
          <p:nvPr/>
        </p:nvSpPr>
        <p:spPr>
          <a:xfrm>
            <a:off x="6483096" y="389534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6B4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전수 헬스체크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483096" y="4315968"/>
            <a:ext cx="498348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 2,588종 × 11 API = 28,468건 점검 · 데모 차단 버그 0 (99.97%)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5431536"/>
            <a:ext cx="11091672" cy="749808"/>
          </a:xfrm>
          <a:prstGeom prst="roundRect">
            <a:avLst>
              <a:gd name="adj" fmla="val 12195"/>
            </a:avLst>
          </a:prstGeom>
          <a:solidFill>
            <a:srgbClr val="FFF9EC"/>
          </a:solidFill>
          <a:ln w="15875">
            <a:solidFill>
              <a:srgbClr val="EAD8A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5431536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5431536"/>
            <a:ext cx="10515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B12"/>
                </a:solidFill>
              </a:rPr>
              <a:t>면책  </a:t>
            </a:r>
            <a:pPr indent="0" marL="0">
              <a:buNone/>
            </a:pPr>
            <a:r>
              <a:rPr lang="en-US" sz="1350" dirty="0">
                <a:solidFill>
                  <a:srgbClr val="5C4410"/>
                </a:solidFill>
              </a:rPr>
              <a:t>본 서비스 정보는 투자 참고용이며, 투자 판단·책임은 이용자 본인에게 있습니다.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P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Q · 사용법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🔰 초보자 튜토리얼 — FINSIGHT 5분 사용법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11091672" cy="1060704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17904"/>
            <a:ext cx="137160" cy="106070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719072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2D6CB5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19072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31720" y="1664208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— 회사 찾기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26480" y="1664208"/>
            <a:ext cx="53035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검색창에 회사명·업종 입력 → 그룹 결과 · 추천종목 캐러셀 · 글로벌 마켓 시그널 · ★관심종목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11091672" cy="1060704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688336"/>
            <a:ext cx="137160" cy="106070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2889504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1E8E54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2889504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331720" y="2834640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 상세 — 3탭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26480" y="2834640"/>
            <a:ext cx="53035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기업개요(뭐 하는 회사·돈 잘 벎) · 밸류에이션(싼지 비싼지) · AI 챗봇(궁금한 것)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858768"/>
            <a:ext cx="11091672" cy="1060704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858768"/>
            <a:ext cx="137160" cy="106070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9" name="Shape 17"/>
          <p:cNvSpPr/>
          <p:nvPr/>
        </p:nvSpPr>
        <p:spPr>
          <a:xfrm>
            <a:off x="749808" y="4059936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C7922E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4059936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331720" y="4005072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읽는 법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26480" y="4005072"/>
            <a:ext cx="53035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‘YoY’=작년 대비 증감 · ‘상승여력 +20%’=적정가가 20% 높음(저평가 신호) · ‘데이터 없음’=정직 표기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029200"/>
            <a:ext cx="11091672" cy="1060704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029200"/>
            <a:ext cx="137160" cy="1060704"/>
          </a:xfrm>
          <a:prstGeom prst="roundRect">
            <a:avLst>
              <a:gd name="adj" fmla="val 40000"/>
            </a:avLst>
          </a:prstGeom>
          <a:solidFill>
            <a:srgbClr val="6B4FA8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30368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6B4FA8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30368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331720" y="5175504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챗봇에 물어보기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26480" y="5175504"/>
            <a:ext cx="53035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‘삼성전자 최근 실적 어때?’ → 사업보고서 근거로 요약 + 출처·DART 링크로 직접 확인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속 (i) 아이콘에 마우스를 올리면 용어 한 줄 설명이 뜹니다. 더 자세한 건 [용어사전]을 참고하세요.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Q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R · 용어사전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용어 빠른 풀이 — 전문가의 정확성 + 초보자의 눈높이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72768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664208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1993392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 ÷ 주당순이익 — 이익의 몇 배 가격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61104" y="1572768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61104" y="1572768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11" name="Text 9"/>
          <p:cNvSpPr/>
          <p:nvPr/>
        </p:nvSpPr>
        <p:spPr>
          <a:xfrm>
            <a:off x="4517136" y="1664208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PBR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17136" y="1993392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 ÷ 주당순자산 — 1배 미만이면 청산가치 이하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73568" y="1572768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73568" y="1572768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1664208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B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EV/EBITDA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29600" y="1993392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빚·세금·감가상각 지운 ‘순수 영업체력’ 비교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2542032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542032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2633472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EBITDA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04672" y="2962656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영업이익 + 감가상각 — 현금창출력 근사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61104" y="2542032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61104" y="2542032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23" name="Text 21"/>
          <p:cNvSpPr/>
          <p:nvPr/>
        </p:nvSpPr>
        <p:spPr>
          <a:xfrm>
            <a:off x="4517136" y="2633472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베타 β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517136" y="2962656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대비 출렁임 — 높을수록 멀미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73568" y="2542032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73568" y="2542032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0" y="2633472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B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CAPM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229600" y="2962656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이자 + 위험 보상 = 주주 요구수익률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3511296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3511296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31" name="Text 29"/>
          <p:cNvSpPr/>
          <p:nvPr/>
        </p:nvSpPr>
        <p:spPr>
          <a:xfrm>
            <a:off x="804672" y="3602736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FCF/FCFF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04672" y="3931920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운영·투자 다 쓰고 ‘자유롭게 남긴 현금’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261104" y="3511296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61104" y="3511296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35" name="Text 33"/>
          <p:cNvSpPr/>
          <p:nvPr/>
        </p:nvSpPr>
        <p:spPr>
          <a:xfrm>
            <a:off x="4517136" y="3602736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터미널밸류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4517136" y="3931920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예측기간 이후 ‘영구 가치’ 한 덩어리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973568" y="3511296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73568" y="3511296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0" y="3602736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B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EPV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8229600" y="3931920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 0 가정 수익력 가치 — 현재가 적절성 진단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48640" y="4480560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" y="4480560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43" name="Text 41"/>
          <p:cNvSpPr/>
          <p:nvPr/>
        </p:nvSpPr>
        <p:spPr>
          <a:xfrm>
            <a:off x="804672" y="4572000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XBRL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804672" y="490118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재무제표에 ‘바코드’ — 기계가 읽는 공시 포맷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261104" y="4480560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61104" y="4480560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47" name="Text 45"/>
          <p:cNvSpPr/>
          <p:nvPr/>
        </p:nvSpPr>
        <p:spPr>
          <a:xfrm>
            <a:off x="4517136" y="4572000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벡터DB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4517136" y="490118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뜻이 비슷한 글을 찾아주는 AI 도서관(Chroma)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7973568" y="4480560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73568" y="4480560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51" name="Text 49"/>
          <p:cNvSpPr/>
          <p:nvPr/>
        </p:nvSpPr>
        <p:spPr>
          <a:xfrm>
            <a:off x="8229600" y="4572000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B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리랭킹</a:t>
            </a:r>
            <a:endParaRPr lang="en-US" sz="1450" dirty="0"/>
          </a:p>
        </p:txBody>
      </p:sp>
      <p:sp>
        <p:nvSpPr>
          <p:cNvPr id="52" name="Text 50"/>
          <p:cNvSpPr/>
          <p:nvPr/>
        </p:nvSpPr>
        <p:spPr>
          <a:xfrm>
            <a:off x="8229600" y="490118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결과를 한 번 더 정교히 줄 세우기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548640" y="5449824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8640" y="5449824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55" name="Text 53"/>
          <p:cNvSpPr/>
          <p:nvPr/>
        </p:nvSpPr>
        <p:spPr>
          <a:xfrm>
            <a:off x="804672" y="5541264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endParaRPr lang="en-US" sz="1450" dirty="0"/>
          </a:p>
        </p:txBody>
      </p:sp>
      <p:sp>
        <p:nvSpPr>
          <p:cNvPr id="56" name="Text 54"/>
          <p:cNvSpPr/>
          <p:nvPr/>
        </p:nvSpPr>
        <p:spPr>
          <a:xfrm>
            <a:off x="804672" y="587044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먼저 찾고 그 근거로만 답 — 환각 차단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4261104" y="5449824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261104" y="5449824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59" name="Text 57"/>
          <p:cNvSpPr/>
          <p:nvPr/>
        </p:nvSpPr>
        <p:spPr>
          <a:xfrm>
            <a:off x="4517136" y="5541264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폴리글랏</a:t>
            </a:r>
            <a:endParaRPr lang="en-US" sz="1450" dirty="0"/>
          </a:p>
        </p:txBody>
      </p:sp>
      <p:sp>
        <p:nvSpPr>
          <p:cNvPr id="60" name="Text 58"/>
          <p:cNvSpPr/>
          <p:nvPr/>
        </p:nvSpPr>
        <p:spPr>
          <a:xfrm>
            <a:off x="4517136" y="587044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데이터마다 맞는 그릇(4-DB) 따로 쓰기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7973568" y="5449824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973568" y="5449824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63" name="Text 61"/>
          <p:cNvSpPr/>
          <p:nvPr/>
        </p:nvSpPr>
        <p:spPr>
          <a:xfrm>
            <a:off x="8229600" y="5541264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B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멱등성</a:t>
            </a:r>
            <a:endParaRPr lang="en-US" sz="1450" dirty="0"/>
          </a:p>
        </p:txBody>
      </p:sp>
      <p:sp>
        <p:nvSpPr>
          <p:cNvPr id="64" name="Text 62"/>
          <p:cNvSpPr/>
          <p:nvPr/>
        </p:nvSpPr>
        <p:spPr>
          <a:xfrm>
            <a:off x="8229600" y="587044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번 해도 결과 같음 — 재적재 안전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66" name="Text 64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본편 ‘쉬운 말 사전’(12개)의 확장판. 전체 용어집은 통합산출물/FINSIGHT_용어사전_백과사전 참고.</a:t>
            </a:r>
            <a:endParaRPr lang="en-US" sz="1250" dirty="0"/>
          </a:p>
        </p:txBody>
      </p:sp>
      <p:sp>
        <p:nvSpPr>
          <p:cNvPr id="67" name="Text 6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R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14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FINSIGHT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768096" y="2834640"/>
            <a:ext cx="2926080" cy="73152"/>
          </a:xfrm>
          <a:prstGeom prst="roundRect">
            <a:avLst>
              <a:gd name="adj" fmla="val 50000"/>
            </a:avLst>
          </a:prstGeom>
          <a:solidFill>
            <a:srgbClr val="C7922E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3017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C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전문가의 정보를, 모두에게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3694176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출처(DART·KRX) · 쉬운 두 깊이 · 스스로 판단 — 정보 격차를 줄이는 첫걸음.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" y="4480560"/>
            <a:ext cx="4206240" cy="877824"/>
          </a:xfrm>
          <a:prstGeom prst="roundRect">
            <a:avLst>
              <a:gd name="adj" fmla="val 10417"/>
            </a:avLst>
          </a:prstGeom>
          <a:solidFill>
            <a:srgbClr val="20436B"/>
          </a:solidFill>
          <a:ln w="15875">
            <a:solidFill>
              <a:srgbClr val="C792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480560"/>
            <a:ext cx="42062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감사합니다   </a:t>
            </a:r>
            <a:pPr algn="ctr" indent="0" marL="0">
              <a:buNone/>
            </a:pPr>
            <a:r>
              <a:rPr lang="en-US" sz="2600" b="1" dirty="0">
                <a:solidFill>
                  <a:srgbClr val="EAC976"/>
                </a:solidFill>
              </a:rPr>
              <a:t>Q &amp; 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12080" y="4736592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FB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LIVE   https://43.203.94.124.nip.io   ·   FILMN9 Inc.   ·   2026.06.20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FINSIGHT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FILMN9</dc:creator>
  <cp:lastModifiedBy>FILMN9</cp:lastModifiedBy>
  <cp:revision>1</cp:revision>
  <dcterms:created xsi:type="dcterms:W3CDTF">2026-06-18T08:36:22Z</dcterms:created>
  <dcterms:modified xsi:type="dcterms:W3CDTF">2026-06-18T08:36:22Z</dcterms:modified>
</cp:coreProperties>
</file>