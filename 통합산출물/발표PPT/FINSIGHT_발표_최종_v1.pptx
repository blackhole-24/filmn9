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0" r:id="rId41"/>
    <p:sldId id="265" r:id="rId11"/>
    <p:sldId id="266" r:id="rId12"/>
    <p:sldId id="267" r:id="rId13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273" r:id="rId19"/>
    <p:sldId id="289" r:id="rId40"/>
    <p:sldId id="274" r:id="rId20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949440" cy="69494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206240" cy="4206240"/>
          </a:xfrm>
          <a:prstGeom prst="ellipse">
            <a:avLst/>
          </a:prstGeom>
          <a:solidFill>
            <a:srgbClr val="0E938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480560"/>
            <a:ext cx="4754880" cy="475488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49808" y="3163824"/>
            <a:ext cx="338328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3467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4944" y="407822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DART·KRX 같은 신뢰 정보로 — 누구나 종목을 쉽게 공부하고, 투자 전에 스스로 판단하도록.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94944" y="4754880"/>
            <a:ext cx="3200400" cy="420624"/>
          </a:xfrm>
          <a:prstGeom prst="roundRect">
            <a:avLst>
              <a:gd name="adj" fmla="val 2391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47548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200" dirty="0">
                <a:solidFill>
                  <a:srgbClr val="0B7268"/>
                </a:solidFill>
              </a:rPr>
              <a:t>43.203.94.124.nip.io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475488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배포·운영 중 (KOSPI·KOSDAQ 약 2,600개 상장사)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신뢰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DART·KRX·NO-MOCK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384"/>
                </a:solidFill>
              </a:rPr>
              <a:t>쉬움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비전공자도 이해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36992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A06"/>
                </a:solidFill>
              </a:rPr>
              <a:t>스스로 판단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정답 강요 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" y="634593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FILMN9 Inc.   ·   통합 투자정보 서비스 (기업개요 · 밸류에이션 · AI 챗봇)   ·   2026.06.20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937760" cy="493776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937760"/>
            <a:ext cx="3840480" cy="3840480"/>
          </a:xfrm>
          <a:prstGeom prst="ellipse">
            <a:avLst/>
          </a:prstGeom>
          <a:solidFill>
            <a:srgbClr val="0E938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페르소나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45920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해결방안 — 왜·누구를 위해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9632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96912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· 포지셔닝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96912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서비스 비교 → 우리의 차별점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45920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킥오프~최종발표 · 5 스프린트 88작업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96912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역할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296912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기업개요 · 밸류에이션 · AI 챗봇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45920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개발비용 · 수익모델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645920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개발원가 · Free/Pro · 손익분기(BEP)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9632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96912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· 데이터 · 기술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296912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시스템·파이프라인·ERD·기술 스택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645920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(별도)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1645920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멀티플·피어·DCF·WACC + 관리자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9632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99632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296912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296912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기업개요·밸류·챗봇·관리자 (실접속)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48640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" y="5486400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645920" y="55961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1645920" y="59070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 — 공식·RAG·검증·인프라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99632" y="5486400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53" name="Shape 51"/>
          <p:cNvSpPr/>
          <p:nvPr/>
        </p:nvSpPr>
        <p:spPr>
          <a:xfrm>
            <a:off x="6199632" y="548640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5486400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296912" y="55961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7296912" y="59070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문제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‘주식, 시작은 했는데…’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83080"/>
            <a:ext cx="457200" cy="45720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A06"/>
                </a:solidFill>
              </a:rPr>
              <a:t>김초심 · 32세 직장인 · 주식 1년차    </a:t>
            </a:r>
            <a:pPr indent="0" marL="0">
              <a:buNone/>
            </a:pPr>
            <a:r>
              <a:rPr lang="en-US" sz="1600" i="1" dirty="0">
                <a:solidFill>
                  <a:srgbClr val="7A5212"/>
                </a:solidFill>
              </a:rPr>
              <a:t>“월급만으론 안 될 것 같아 시작했는데… 뭐부터, 어디서 봐야 하지?”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2542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개인투자자 1,400만 시대 — 누구나 시작하지만, ‘제대로 공부할 도구’는 여전히 전문가의 것입니다.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FF1F4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E11D48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공시는 DART, 시세는 증권앱, 뉴스는 포털 — 한곳에 모이지 않아 매번 창을 옮겨다닌다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5196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6285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용어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6285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PER·DCF·WACC… 비전공자에겐 외국어. 뜻을 찾다 지쳐 결국 ‘느낌’으로 산다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95528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믿을 출처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유튜브·단톡방의 ‘카더라’와 추천. 근거를 확인할 길이 없어 불안하다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413248"/>
            <a:ext cx="11091672" cy="877824"/>
          </a:xfrm>
          <a:prstGeom prst="roundRect">
            <a:avLst>
              <a:gd name="adj" fmla="val 114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1324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413248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563EB"/>
                </a:solidFill>
              </a:rPr>
              <a:t>→ 결국 문제는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E293B"/>
                </a:solidFill>
              </a:rPr>
              <a:t>‘정보 비대칭’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 — 전문가는 알고, 일반투자자는 모른다.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7268"/>
                </a:solidFill>
              </a:rPr>
              <a:t>우리는 이 격차를 줄이려 합니다.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‘김초심’을 위해 만듭니다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전문가용 정밀 분석을 떠올렸지만, 정말 도움이 필요한 사람은 ‘이제 막 시작한 일반투자자’였습니다 (피벗).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029200" cy="3931920"/>
          </a:xfrm>
          <a:prstGeom prst="roundRect">
            <a:avLst>
              <a:gd name="adj" fmla="val 25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3931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395728"/>
            <a:ext cx="822960" cy="82296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395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10512" y="24323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김초심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88950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32세 · 직장인 · 주식 1년차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341985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상황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여윳돈으로 재테크 시작 · 종목은 뉴스·지인 추천으로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05993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고민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“이 회사 괜찮은 거야? 지금 사도 안 늦었나?”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70001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불안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용어가 어렵고, 정보 출처를 믿어도 될지 모르겠다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34009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바람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누가 ‘쉽게, 근거까지’ 알려주면 스스로 판단하고 싶다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2160" y="213969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F6F9FD"/>
          </a:solidFill>
          <a:ln w="15875">
            <a:solidFill>
              <a:srgbClr val="E6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13969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98A6B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· 전문가용 정밀 분석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270662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지표·시나리오 중심 · 진입장벽이 높아 ‘아는 사람만’ 쓰는 도구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52160" y="360273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60273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· 일반투자자 ‘김초심’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63056" y="416966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설명 + 신뢰 출처 + 스스로 판단 — 정보 비대칭을 줄이는 데 집중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52160" y="5065776"/>
            <a:ext cx="5788152" cy="1005840"/>
          </a:xfrm>
          <a:prstGeom prst="roundRect">
            <a:avLst>
              <a:gd name="adj" fmla="val 10000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5065776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7268"/>
                </a:solidFill>
              </a:rPr>
              <a:t>왜 일반투자자인가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전문가는 이미 도구가 많습니다. 정작 ‘처음 시작한 다수’에게는 쉽고 믿을 만한 길잡이가 없었습니다.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4023360" cy="402336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· 해결방안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격차를 줄이는 첫걸음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92224"/>
            <a:ext cx="11091672" cy="1517904"/>
          </a:xfrm>
          <a:prstGeom prst="roundRect">
            <a:avLst>
              <a:gd name="adj" fmla="val 6627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92224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75104"/>
            <a:ext cx="102412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공식 정보(DART·KRX)를 한곳에 모아,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쉽게 공부하고 ‘스스로 판단’하도록 돕는다.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처음부터 끝까지 지킨 3원칙 (핵심 요구사항)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쉬움 (2-Tier)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화면을 ‘초보(신호등·쉬운 말)’와 ‘전문가(근거·지표)’ 두 깊이로 — 비전공자도, 더 알고 싶은 사람도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(NO-MOCK)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값은 DART·KRX·계산식 출처. 없으면 지어내지 않고 ‘데이터 없음’으로 정직 표기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판단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‘정답 가격’을 강요하지 않음. 적정가도 참고 범위로 주고 한계를 함께 고지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754880" cy="475488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937760"/>
            <a:ext cx="3840480" cy="3840480"/>
          </a:xfrm>
          <a:prstGeom prst="ellipse">
            <a:avLst/>
          </a:prstGeom>
          <a:solidFill>
            <a:srgbClr val="0E93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비전 · 과제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멈추지 않습니다 — 더 정확하게, 더 넓게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7393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73936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비전   </a:t>
            </a:r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</a:rPr>
              <a:t>전 종목·전 업종을 정확하게 — 누구나 믿고 쓰는 ‘한국형 밸류에이션 표준’으로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피어기업 정교화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638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 업종 + 사업 유사도(임베딩) 10기준 자동선정 · 신뢰도 A~E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563EB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임베딩·온톨로지 고도화 · 동적 가중치 · 글로벌 피어 확장 · 신뢰도 등급 정밀화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1655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금융·지주 밸류에이션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48970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600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금융·지주는 FCFF가 맞지 않아 DCF 제외 → 멀티플·NAV로 유도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2628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970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0E9384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금융 DDM·RIM·P-B-ROE · 지주 NAV/SOTP 전용 모델 → 전 업종 커버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1987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FCFF·DCF 정교화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19302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932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FCFF=EBIT(1−t)+D&amp;A−CapEx−ΔNWC · 5년 예측 · 해자·중간시점 보정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19302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D97A06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애널리스트 컨센서스 연동 · 시나리오 확률가중 · 업종별 정상화·세그먼트 분해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· 포지셔닝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서비스가 못 채운 자리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공시를 ‘읽어주는’ 서비스, 시세를 ‘보여주는’ 서비스는 있어도 — ‘쉽게+근거+스스로 판단’을 한곳에 주는 곳은 드뭅니다.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365760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2494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/ 서비스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2249424"/>
            <a:ext cx="146304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249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 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249424"/>
            <a:ext cx="146304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249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증권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2249424"/>
            <a:ext cx="1764792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249424"/>
            <a:ext cx="1764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7112" y="2249424"/>
            <a:ext cx="2743200" cy="438912"/>
          </a:xfrm>
          <a:prstGeom prst="roundRect">
            <a:avLst>
              <a:gd name="adj" fmla="val 22917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897112" y="224942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6883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자동 밸류에이션(적정가)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2688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688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688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688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26883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6883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97112" y="26883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7112" y="2688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약 2,200종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1455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1455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공시 분석 · 히스토리 브리핑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31455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145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0" y="31455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145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0" y="31455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1455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97112" y="31455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97112" y="31455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2,526종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6027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36027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RAG 챗봇 (출처 표시)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06240" y="36027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602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69280" y="36027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3602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132320" y="36027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36027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97112" y="36027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97112" y="3602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DART 출처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0599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" y="40599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검증 (NO-MOCK·전수검수)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206240" y="40599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4059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0" y="40599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4059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132320" y="40599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40599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897112" y="40599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97112" y="4059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28,468건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45171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45171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 친화 (2-Tier)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206240" y="45171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4517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669280" y="45171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4517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132320" y="45171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45171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△(전문가)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897112" y="45171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97112" y="4517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초보+전문가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48640" y="49743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" y="49743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시각화 · 통합 한 화면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206240" y="4974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669280" y="4974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132320" y="49743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32320" y="49743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897112" y="49743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97112" y="4974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2,362종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제공 · △ 부분/제한 · ✕ 없음   |   다트포인트AI = 공시 분석 특화(전문가 효율) · FINSIGHT = 밸류에이션+신뢰성+일반투자자 판단지원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‘공시를 읽어주는’ 곳을 넘어, ‘판단을 돕는’ 곳으로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5440680" cy="2286000"/>
          </a:xfrm>
          <a:prstGeom prst="roundRect">
            <a:avLst>
              <a:gd name="adj" fmla="val 4400"/>
            </a:avLst>
          </a:prstGeom>
          <a:solidFill>
            <a:srgbClr val="F6F9FD"/>
          </a:solidFill>
          <a:ln w="15875">
            <a:solidFill>
              <a:srgbClr val="E6E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137160" cy="22860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 (사이냅소프트)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214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전자공시 기반 AI 기업정보 서비스 (’24.12 베타·’25.06 MCP)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25237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강점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수백 쪽 공시를 대화형으로 요약 · 보고서·엑셀 변환 · MCP(Claude·Cursor) 연동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2980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초점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분석가·실무자의 ‘공시 분석 업무 효율’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빈자리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적정주가(밸류에이션) 없음 · 환각/신뢰성 검증 약함 · 일반투자자 친화 낮음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9344"/>
            <a:ext cx="5468112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587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2011680"/>
            <a:ext cx="0" cy="1737360"/>
          </a:xfrm>
          <a:prstGeom prst="line">
            <a:avLst/>
          </a:prstGeom>
          <a:noFill/>
          <a:ln w="12700">
            <a:solidFill>
              <a:srgbClr val="E6E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2880360"/>
            <a:ext cx="4754880" cy="0"/>
          </a:xfrm>
          <a:prstGeom prst="line">
            <a:avLst/>
          </a:prstGeom>
          <a:noFill/>
          <a:ln w="12700">
            <a:solidFill>
              <a:srgbClr val="E6EC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9751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20840" y="36027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17336" y="277063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분석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9144" y="2770632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지원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22677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3145536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314553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FINSIGHT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3182112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98A6B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1821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증권사앱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078224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78224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1879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밸류에이션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55371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DCF·멀티플 4-Way 적정가 — 공시 요약을 넘어 ‘싼지 비싼지’까지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99632" y="4078224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4078224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41879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신뢰성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73952" y="455371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강제 + 전수검수 28,468건 + 관리자 검증 — 환각 대신 근거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138928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 2-Tier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" y="561441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초보(신호등)·전문가(지표) 두 깊이 — 비전공자도 이해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99632" y="5138928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5138928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한 화면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561441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기업개요+밸류+챗봇+계열사 — 창을 옮겨다닐 필요 없음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· 역할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명의 기여자 · 네 개의 영역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파트별로 책임 영역을 나누되, 공통 데이터 계약(NO-MOCK·종목코드 키)으로 하나처럼 움직였습니다.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공통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51960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FF5FF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기획·조율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이형주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헌장·기획서·요구사항 정의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WBS·일정·멘토링 반영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QA·비기능 검증·발표 총괄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설계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메인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902952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AFB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02952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데이터·화면·인프라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이형주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재무 하이라이트·주가차트·B/S·I/S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Sankey 손익흐름도·전자공시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메인페이지·통합검색·관리자(기업개요)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AWS 배포(RDS·EC2·S3·HTTPS)·전수검수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· AI 챗봇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51960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가치평가 · RAG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유태상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DCF 3시나리오·WACC·멀티플·피어 4-Way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스코어카드·밸류 UI·관리자(밸류)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챗봇 RAG·임베딩·리랭킹·출처카드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PPT 초안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9632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 · 계열사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902952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4F0FE"/>
          </a:solidFill>
          <a:ln/>
        </p:spPr>
      </p:sp>
      <p:sp>
        <p:nvSpPr>
          <p:cNvPr id="40" name="Text 38"/>
          <p:cNvSpPr/>
          <p:nvPr/>
        </p:nvSpPr>
        <p:spPr>
          <a:xfrm>
            <a:off x="9902952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스토리·관계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73952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고휘주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히스토리 브리핑(RAG)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92240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최신 뉴스 수집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계열사 시각화 자동 생성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0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4-Phase 검증·MongoDB Atlas 적재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적게 들여, 빠르게 — 약 2개월 개발 원가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인원을 좁게 운영하고, 클라우드 크레딧·로컬 GPU·구독형 AI 도구로 ‘현금 직접비’를 최소화했습니다. (단가는 가정치 · NO-MOCK)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인건비 (맨먼스 기준)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투입 인원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초기 4명 → 현재 2명 (PM·QA·백엔드·프론트)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기간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약 2개월 (킥오프 4/22 ~ 발표 6/20)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환산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평균 2명 × 2개월 = 4 M/M (맨먼스)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가정 단가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1 M/M ≈ 400만원 (시장 평균 가정)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645152"/>
            <a:ext cx="4901184" cy="566928"/>
          </a:xfrm>
          <a:prstGeom prst="roundRect">
            <a:avLst>
              <a:gd name="adj" fmla="val 17742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인건비 ≈ 4 M/M × 400만 =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약 1,600만원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(가정)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2157984"/>
            <a:ext cx="544068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직접비 (실제 현금 지출)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0528" y="277977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7797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Max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15984" y="277977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₩187,000 ×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27797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37만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10528" y="314553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31455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Plus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15984" y="314553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약 ₩30,000 ×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314553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6만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10528" y="351129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 (gpt-5-mini)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15984" y="351129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종량 · 질의당 ~5원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351129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10528" y="387705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8770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(EC2·RDS·S3·GPU)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15984" y="387705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스타트업 크레딧 충당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38770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0528" y="424281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42428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도메인·SSL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15984" y="424281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연 소액 · SSL 무료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424281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4645152"/>
            <a:ext cx="4937760" cy="566928"/>
          </a:xfrm>
          <a:prstGeom prst="roundRect">
            <a:avLst>
              <a:gd name="adj" fmla="val 17742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현금 직접비 ≈ </a:t>
            </a:r>
            <a:pPr indent="0" marL="0">
              <a:buNone/>
            </a:pPr>
            <a:r>
              <a:rPr lang="en-US" sz="1500" b="1" dirty="0">
                <a:solidFill>
                  <a:srgbClr val="0B7268"/>
                </a:solidFill>
              </a:rPr>
              <a:t>약 50만원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(2개월 합 · 가정)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52297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52297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" y="5522976"/>
            <a:ext cx="10515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총 개발 원가 ≈ 약 1,650만원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7A"/>
                </a:solidFill>
              </a:rPr>
              <a:t>(인건비 1,600만 + 직접비 50만, 가정)  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97A06"/>
                </a:solidFill>
              </a:rPr>
              <a:t>→ 실제 현금 지출은 ~50만원, 나머지는 팀의 시간(기회비용)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손익분기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모으고, 구독으로 지속한다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쓰는 무료 기반 위에 심화 기능을 구독(Pro)으로 — 운영 손익분기는 ‘월 수십 명’ 수준으로 설계했습니다. (가정치)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411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vs Pro (월 9,900원 · 가정)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4901184" cy="402336"/>
          </a:xfrm>
          <a:prstGeom prst="roundRect">
            <a:avLst>
              <a:gd name="adj" fmla="val 25000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7432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31638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9264" y="31638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재무 하이라이트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638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6210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6210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요약 · 글로벌 시그널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6210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40782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9264" y="40782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0782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" y="45354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5354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밸류 · 5종 진단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5354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45354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" y="49926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9264" y="49926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관심종목 알림 · 비교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49926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4992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58704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가격·구성은 가정 — 베타 후 시장 검증으로 확정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2157984"/>
            <a:ext cx="5440680" cy="2249424"/>
          </a:xfrm>
          <a:prstGeom prst="roundRect">
            <a:avLst>
              <a:gd name="adj" fmla="val 447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157984"/>
            <a:ext cx="137160" cy="22494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(BEP) — 운영비 기준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0528" y="27066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38544" y="27066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고정 운영비 (가정)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869680" y="27066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실비+API+도메인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0332720" y="2706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25만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10528" y="31638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38544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1인 월 기여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869680" y="31638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구독료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1033272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9,900원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10528" y="36210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638544" y="36210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 수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869680" y="36210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25만 ÷ 9,900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1033272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26명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10528" y="40416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268"/>
                </a:solidFill>
              </a:rPr>
              <a:t>→ 월 약 26명 Pro면 운영 손익분기  </a:t>
            </a:r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</a:rPr>
              <a:t>(개발 원가 회수는 수백 명 규모)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99632" y="4535424"/>
            <a:ext cx="5440680" cy="1737360"/>
          </a:xfrm>
          <a:prstGeom prst="roundRect">
            <a:avLst>
              <a:gd name="adj" fmla="val 5789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4535424"/>
            <a:ext cx="137160" cy="173736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6510528" y="46634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— 누구를 위한 서비스인가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10528" y="5029200"/>
            <a:ext cx="4983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국내 주식 활동계좌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수천만 계좌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규모 (참고)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핵심 타깃 = ‘스스로 공부하려는’ 입문·일반 투자자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무료로 폭넓게 모으고 → 일부가 Pro로 전환되는 구조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92608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463040"/>
            <a:ext cx="3840480" cy="384048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서비스에 접속해서 보여드립니다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46988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1046988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라이브 시연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091672" cy="548640"/>
          </a:xfrm>
          <a:prstGeom prst="roundRect">
            <a:avLst>
              <a:gd name="adj" fmla="val 1833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350" dirty="0">
                <a:solidFill>
                  <a:srgbClr val="0B7268"/>
                </a:solidFill>
              </a:rPr>
              <a:t>https://43.203.94.124.nip.io   — 김초심의 질문을 순서대로 따라갑니다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FF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408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2505456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2" dirty="0"/>
          </a:p>
        </p:txBody>
      </p:sp>
      <p:sp>
        <p:nvSpPr>
          <p:cNvPr id="15" name="Text 13"/>
          <p:cNvSpPr/>
          <p:nvPr/>
        </p:nvSpPr>
        <p:spPr>
          <a:xfrm>
            <a:off x="1426464" y="23408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3408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‘뭐 하는 회사?’ — 회사정보·재무 하이라이트·전자공시·AI 브리핑·손익흐름도·계열사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552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3419856"/>
            <a:ext cx="475488" cy="475488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32" dirty="0"/>
          </a:p>
        </p:txBody>
      </p:sp>
      <p:sp>
        <p:nvSpPr>
          <p:cNvPr id="21" name="Text 19"/>
          <p:cNvSpPr/>
          <p:nvPr/>
        </p:nvSpPr>
        <p:spPr>
          <a:xfrm>
            <a:off x="1426464" y="32552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32552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‘비싼가 싼가?’ — 적정가 스코어카드·멀티플·DCF·WACC·ROIC (2-Tier)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96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AFB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696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334256"/>
            <a:ext cx="475488" cy="47548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334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32" dirty="0"/>
          </a:p>
        </p:txBody>
      </p:sp>
      <p:sp>
        <p:nvSpPr>
          <p:cNvPr id="27" name="Text 25"/>
          <p:cNvSpPr/>
          <p:nvPr/>
        </p:nvSpPr>
        <p:spPr>
          <a:xfrm>
            <a:off x="1426464" y="41696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41696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‘궁금한 건?’ — 사업보고서 근거로 답변 + 출처 카드·DART 링크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840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4F0FE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0840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" y="5248656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5248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426464" y="50840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0480" y="50840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‘믿을 수 있나?’ — 데이터 기준일·출처·전수검수·AI 통제(하네스)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071616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별도 시연 슬라이드 없이, 실제 화면으로 진행합니다. — 이어서 Appendix(기술 상세)로 넘어갑니다.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583680" cy="658368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0"/>
            <a:ext cx="4023360" cy="4023360"/>
          </a:xfrm>
          <a:prstGeom prst="ellipse">
            <a:avLst/>
          </a:prstGeom>
          <a:solidFill>
            <a:srgbClr val="0E938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49808" y="3346704"/>
            <a:ext cx="301752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52958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42245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 · 밸류에이션 6대 공식 · RAG 파이프라인 · 검증 체계 · 데이터 맵 · 인프라 · NO-MOCK · 용어사전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49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AI·RAG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임베딩·리랭킹·생성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381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방법론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 공식·4-Way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전수검수·NO-MOCK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245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데이터·인프라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4-DB·AWS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 · AI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· 무슨 AI를 · 어떻게 썼나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97680"/>
                <a:gridCol w="1600200"/>
                <a:gridCol w="3410712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기술 / 모델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gpt-5-mini (보조 gpt-4o-mini)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브리핑·챗봇 답변·밸류 진단 해설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검색증강생성 (보고서→Chroma→리랭킹→LLM)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답변·환각 차단·출처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(1024차원)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챗봇·피어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의미 벡터화·유사도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리랭커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GPU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후보 재정렬(로컬 무료)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 · 사업보고서 청크 약 377만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EC2(GPU)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기반 문서 검색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ontology_b (회사·도메인 지식)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의도 보강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gpt-4o (첨부 이미지·PDF) — 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첨부파일 질의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RAGAS · LLM Judge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신뢰도 4-Phase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+ 산업분류(WICS)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밸류 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유사기업 자동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Claude Design · v0.dev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코드·디자인 가속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명시: LangChain = 미사용(자체 파이프라인으로 제어·경량화). 전통 ML = 미사용(베타 추정은 통계기법).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 · 방법론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6대 공식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DCF — 기업가치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Σ FCFF(t)/(1+WACC)^t + TV/(1+WACC)ⁿ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적정주가 = (EV − 순부채) ÷ 발행주식수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FCFF — 잉여현금흐름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= EBIT(1−Tc) + D&amp;A − CapEx − ΔNWC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‘장부이익’ 아닌 ‘실제 남는 현금’ · 리포트로 보정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터미널밸류 — 영구가치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FCFF(n+1) ÷ (WACC − 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고든성장 · 조건 WACC&gt;g · g 1~3% 보수적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— 할인율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(E/V)·Re + (D/V)·Rd·(1−Tc)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4808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주주·채권자 비용을 자본비중으로 가중평균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CAPM — 자기자본비용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= Rf + β·(Rm − Rf)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국고채(ECOS) · β 피어추정 후 Blume·Hamada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0488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멀티플 — 4-Way 교차검증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적정가 = 피어 중위배수 × 타깃지표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64808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PER·PBR·EV/EBITDA 역산 + DCF = 4-Way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5단계: 재무 수집·표준화 → FCFF 추정 → WACC 산출 → DCF 할인·3시나리오 → 4-Way 교차검증. DCF는 가정 기반 ‘참고치’ → 범위로 제시.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 · AI 챗봇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 — 9단계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 신뢰 문서를 먼저 찾아 그 근거 위에서만 답을 생성 → 환각 차단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종목 사업보고서 원문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3892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분할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검색·임베딩 단위로 분절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8796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8796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의미 벡터화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38988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적재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ChromaDB(~40GB·약 377만)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임베딩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3892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벡터공간으로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88796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8796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후보 추출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38988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8988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리랭커 재정렬(무료)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13892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13892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질문 결합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5193792"/>
            <a:ext cx="548640" cy="548640"/>
          </a:xfrm>
          <a:prstGeom prst="ellipse">
            <a:avLst/>
          </a:prstGeom>
          <a:solidFill>
            <a:srgbClr val="C7922E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888796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생성·출처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88796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출처·DART 링크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89904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임베딩·리랭킹은 로컬 GPU(무료), LLM 답변 호출만 유료(질의당 ~5원). 답변마다 출처를 함께 제시.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 — 4-Phase 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사업보고서를 RAG로 요약한 ‘히스토리 브리핑’의 신뢰도를 4단계로 자동 채점·등급화.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매칭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속 숫자가 원본과 일치하는지 대조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9359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실제 문서 근거에 기반하는지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적합성을 정량 평가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전체 품질을 종합 채점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6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82896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약 2,526종 </a:t>
            </a:r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</a:rPr>
              <a:t>브리핑 적재 · 평균 </a:t>
            </a:r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77.1점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저점수 항목은 2-pass 재생성으로 보강 · 관리자 ‘신뢰도 검증’ 탭에서 원본 대조·오류율 관리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검수 — ‘아무 종목이나 눌러도 안 깨진다’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서비스를 전 종목 × 핵심 기능으로 자동 검증 (2026-06-17, AWS 라이브).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50292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대상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활성 2,588종목 × 핵심 11개 API = 28,468건 호출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분류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OK / EMPTY(데이터 갭·정직표기) / FAIL(5xx·타임아웃·파싱오류=버그)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멱등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적재는 재실행해도 결과 동일(UPSERT)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63056" y="2048256"/>
            <a:ext cx="5477256" cy="3657600"/>
          </a:xfrm>
          <a:prstGeom prst="roundRect">
            <a:avLst>
              <a:gd name="adj" fmla="val 2500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검사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50224" y="2688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28,468건 (741초)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버그(FAIL)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→ 전수 추적 결과 무해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50224" y="3712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(재검사 시 정상)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0224" y="4224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 (검색 비노출·무해)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4882896"/>
            <a:ext cx="4892040" cy="713232"/>
          </a:xfrm>
          <a:prstGeom prst="roundRect">
            <a:avLst>
              <a:gd name="adj" fmla="val 12821"/>
            </a:avLst>
          </a:prstGeom>
          <a:solidFill>
            <a:srgbClr val="1631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8828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C976"/>
                </a:solidFill>
              </a:rPr>
              <a:t>데모 차단 버그 0건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·  정상률 99.97%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 EMPTY는 NO-MOCK 정상(적정가 보유 약 2,223종만 표시). 화면 전자공시는 라이브 DART 사용 → DB 공란과 무관.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 · 데이터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지도 — 모든 수치의 출처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OpenAPI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재무제표·사업보고서·공시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/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 (pykrx)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한국거래소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일봉 OHLCV(시·고·저·종·거래량)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거래일 16:00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yfinance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시세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시세·글로벌 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한국은행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국고채 금리 등 거시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WICS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FnGuide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산업분류(78업종)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뉴스·환율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KOFIA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금융투자협회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 금리(WACC 타인자본비용)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8E54"/>
                </a:solidFill>
              </a:rPr>
              <a:t>NO-MOCK 원칙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3A47"/>
                </a:solidFill>
              </a:rPr>
              <a:t>모든 수치·문장은 위 공식 출처와 계산식에 근거. 없으면 ‘데이터 없음’ 정직 표기.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면책: 본 서비스 정보는 투자 참고용이며, 투자 판단·책임은 이용자 본인에게 있습니다.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 ·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 · 데이터 스터디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 — 어디에 활용 · 어느 DB · 언제 갱신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30632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(KRX)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· 시가총액(E) · 상승여력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ohlcv · 엔진 market_snapshot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 16:00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무위험금리 Rf (ECOS)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자기자본비용(Ke) 기저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rf_rates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회사채금리 Kd (KOFIA)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세후 타인자본비용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kofia_bond_yields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 (DART XBRL)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정상화 · 멀티플 · NOA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financials · financial_detail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분기손익 (TTM)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손익 신선화 · 멀티플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quarterly_standalone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발행/유통주식수 (DART API)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· 적정주가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shares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타인자본비용(Kd) 등급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credit_ratings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색=주기:  빨강 영업일(매일) · 금색 공시 시.   ‘엔진’=밸류 엔진 valuation.db(SQLite) → 배포 시 RDS·Mongo·Chroma·S3로 적재.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 · 데이터 스터디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지표·챗봇 — 어디에 활용 · 어느 DB · 언제 갱신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383280"/>
                <a:gridCol w="333756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β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 계수 (피어 βU · Blume·Hamada)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beta_results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할인율 · EPV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wacc_results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FCFF / FCF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5년 명시예측 현금흐름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dcf_results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적정주가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내재가치 (ΣPV + 터미널)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valuation_summary · 엔진 equity_results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멀티플 4종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중위배수 역산 적정가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mongo_docs (통합 doc)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적절성 진단 (성장 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diagnostics_results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NOA · 과대 가드 (v9)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부적합 · 점추정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doc (summary)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v9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스토리 요약 (RAG)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histories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· 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의미검색 (BGE-M3)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지표는 입력이 바뀔 때마다 평가별(eval_date)로 재계산 · v9 가드는 모델 버전 변경 시 일괄 반영.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 · 데이터 스터디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주기 한눈에 — 무엇을 언제 갱신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갱신 주기가 다릅니다. 색으로 구분한 4가지 주기를 한 장에 정리합니다.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047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4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(영업일)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종가(KRX) · 무위험금리 Rf(ECOS) · 회사채금리 Kd(KOFIA) → 평가 시점 당일/직전영업일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시 (분기·반기·결산)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64808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원천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· 분기손익 · 발행주식수 · 신용등급 · 사업보고서 청크·임베딩 · AI 브리핑 (영구 캐시)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1E8E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평가 (eval_date)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 · WACC · FCFF/DCF · 멀티플 · EPV · 적정주가 — 입력이 바뀌면 재계산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0488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(v9)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4808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무효화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NOA·과대 가드 등 로직 변경 → 강제 재평가(--no-resume) 또는 조회 시 자동 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정적(거의 불변): ERP·CRP·세율·임베딩 모델(BGE-M3) — 코드 수정 시에만.  ⚠ resume은 행 존재만 보므로, v9 일괄반영은 --no-resume 필요.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 · 인프라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인프라 &amp; 무중단·보안 설계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(프론트/백엔드)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· FastAPI 구동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systemd 자동 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GPU (챗봇)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임베딩·리랭킹·LLM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시에만 가동 → 정지(과금 최소화)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PostgreSQL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 16테이블 · 약 1,175만 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백업·보안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 S3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Sankey·밸류·계열사 파일 서빙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객체 · 18,397객체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Atlas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화이트리스트 접근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+ HTTPS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리버스프록시 · SSL(Let's Encrypt)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/api→백엔드, /→프론트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OHLCV 매 거래일 16:00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 최신화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6FF"/>
          </a:solidFill>
          <a:ln w="15875">
            <a:solidFill>
              <a:srgbClr val="C7DB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6CB5"/>
                </a:solidFill>
              </a:rPr>
              <a:t>보안·가용성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3A47"/>
                </a:solidFill>
              </a:rPr>
              <a:t>장애 격리(프론트·백엔드·챗봇·DB 분리) · DB 보안그룹 화이트리스트 · 비밀키 .env 런타임 로드(하드코딩·커밋 0) · GPU 정지 시 과금 0 · HTTPS 전구간 암호화 · 관리자 토큰 인증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— ‘추정하지 않는다, 출처로 말한다’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한 글자·숫자도 만들지 않습니다. 이 원칙이 FINSIGHT의 최대 차별점입니다.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 의무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수치·문장은 DART·DB·계산식 근거. 챗봇 답변은 출처 카드·DART 링크 동반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정직한 공백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83096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가짜로 채우지 않고 ‘데이터 없음/검증중’으로 표기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관리자 검증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1248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파트(브리핑·주가/재무·밸류·챗봇) 샘플을 원본과 대조해 오류율 추적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0488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전수 헬스체크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83096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2,588종 × 11 API = 28,468건 점검 · 데모 차단 버그 0 (99.97%)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9EC"/>
          </a:solidFill>
          <a:ln w="15875">
            <a:solidFill>
              <a:srgbClr val="EAD8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3153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31536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12"/>
                </a:solidFill>
              </a:rPr>
              <a:t>면책  </a:t>
            </a:r>
            <a:pPr indent="0" marL="0">
              <a:buNone/>
            </a:pPr>
            <a:r>
              <a:rPr lang="en-US" sz="1350" dirty="0">
                <a:solidFill>
                  <a:srgbClr val="5C4410"/>
                </a:solidFill>
              </a:rPr>
              <a:t>본 서비스 정보는 투자 참고용이며, 투자 판단·책임은 이용자 본인에게 있습니다.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 · 사용법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🔰 초보자 튜토리얼 — FINSIGHT 5분 사용법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회사 찾기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회사명·업종 입력 → 그룹 결과 · 추천종목 캐러셀 · 글로벌 마켓 시그널 · ★관심종목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9504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1E8E5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8346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— 3탭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기업개요(뭐 하는 회사·돈 잘 벎) · 밸류에이션(싼지 비싼지) · AI 챗봇(궁금한 것)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59936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7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050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4005072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‘YoY’=작년 대비 증감 · ‘상승여력 +20%’=적정가가 20% 높음(저평가 신호) · ‘데이터 없음’=정직 표기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03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4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7550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물어보기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‘삼성전자 최근 실적 어때?’ → 사업보고서 근거로 요약 + 출처·DART 링크로 직접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(i) 아이콘에 마우스를 올리면 용어 한 줄 설명이 뜹니다. 더 자세한 건 [용어사전]을 참고하세요.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 · 용어사전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빠른 풀이 — 전문가의 정확성 + 초보자의 눈높이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주당순이익 — 이익의 몇 배 가격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주당순자산 — 1배 미만이면 청산가치 이하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73568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EV/EBITDA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빚·세금·감가상각 지운 ‘순수 영업체력’ 비교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+ 감가상각 — 현금창출력 근사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출렁임 — 높을수록 멀미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이자 + 위험 보상 = 주주 요구수익률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FCF/FCFF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4672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 다 쓰고 ‘자유롭게 남긴 현금’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1104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7136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터미널밸류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17136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예측기간 이후 ‘영구 가치’ 한 덩어리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73568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EPV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0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0 가정 수익력 가치 — 현재가 적절성 진단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04672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재무제표에 ‘바코드’ — 기계가 읽는 공시 포맷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61104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4517136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17136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글을 찾아주는 AI 도서관(Chroma)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73568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29600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한 번 더 정교히 줄 세우기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04672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먼저 찾고 그 근거로만 답 — 환각 차단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61104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1104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9" name="Text 57"/>
          <p:cNvSpPr/>
          <p:nvPr/>
        </p:nvSpPr>
        <p:spPr>
          <a:xfrm>
            <a:off x="4517136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4517136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맞는 그릇(4-DB) 따로 쓰기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973568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73568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8229600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결과 같음 — 재적재 안전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본편 ‘쉬운 말 사전’(12개)의 확장판. 전체 용어집은 통합산출물/FINSIGHT_용어사전_백과사전 참고.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68096" y="2834640"/>
            <a:ext cx="2926080" cy="73152"/>
          </a:xfrm>
          <a:prstGeom prst="roundRect">
            <a:avLst>
              <a:gd name="adj" fmla="val 50000"/>
            </a:avLst>
          </a:prstGeom>
          <a:solidFill>
            <a:srgbClr val="C7922E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6941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출처(DART·KRX) · 쉬운 두 깊이 · 스스로 판단 — 정보 격차를 줄이는 첫걸음.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20436B"/>
          </a:solidFill>
          <a:ln w="15875">
            <a:solidFill>
              <a:srgbClr val="C7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80560"/>
            <a:ext cx="4206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감사합니다   </a:t>
            </a:r>
            <a:pPr algn="ctr" indent="0" marL="0">
              <a:buNone/>
            </a:pPr>
            <a:r>
              <a:rPr lang="en-US" sz="2600" b="1" dirty="0">
                <a:solidFill>
                  <a:srgbClr val="EAC976"/>
                </a:solidFill>
              </a:rPr>
              <a:t>Q &amp;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47365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LIVE   https://43.203.94.124.nip.io   ·   FILMN9 Inc.   ·   2026.06.20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S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개발 여정 · WBS</a:t>
            </a:r>
          </a:p>
          <a:p>
            <a:r>
              <a:rPr sz="2800" b="1">
                <a:solidFill>
                  <a:srgbClr val="1F3A5F"/>
                </a:solidFill>
              </a:rPr>
              <a:t>킥오프(4/22) → 최종 발표(6/20) · 5 스프린트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17320"/>
          <a:ext cx="1124712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035040"/>
                <a:gridCol w="18288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단계 (기간)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핵심 Task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담당 파트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상태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킥오프 (4/22~4/24)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프로젝트 헌장 · 페르소나 · WBS 초안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PM·공통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1 (4/27~4/28)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기획서 · 요구사항정의서 · 협업환경 구축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PM·공통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2 (4/29~5/9)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개발환경 · 데이터 수집 · 밸류엔진(WACC·DCF·멀티플)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밸류에이션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3 (5/12~5/22)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기업개요 · AI 히스토리 브리핑 · Next.js UI · 1차 배포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기업개요·AI챗봇·밸류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4 (5/26~6/5)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재무 정확성(3개년) · 브리핑 전수화 · 4-Way 밸류 · 관리자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5 (6/8~6/19)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DB 클라우드 이관 · 계열사 전종목 · 메인 리디자인 · 챗봇 GPU · AWS+HTTPS · QA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06000"/>
                          </a:solidFill>
                        </a:rPr>
                        <a:t>완료/진행</a:t>
                      </a:r>
                    </a:p>
                  </a:txBody>
                  <a:tcPr anchor="ctr" marL="91440" marR="54864" marT="36576" marB="36576"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최종 발표 (6/20)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발표 PPT · 스크립트 · 리허설 · 라이브 시연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08080"/>
                          </a:solidFill>
                        </a:rPr>
                        <a:t>예정</a:t>
                      </a:r>
                    </a:p>
                  </a:txBody>
                  <a:tcPr anchor="ctr" marL="91440" marR="54864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‘리스크 큰 것부터 증명하고, 정확히 만들고, 세상에 올린다’ — 5개 스프린트 · 멘토링 4회 피드백 반영 · 담당: PM·공통 / 기업개요 / 밸류에이션 / AI 챗봇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시스템 아키텍처</a:t>
            </a:r>
          </a:p>
          <a:p>
            <a:r>
              <a:rPr sz="2800" b="1">
                <a:solidFill>
                  <a:srgbClr val="1F3A5F"/>
                </a:solidFill>
              </a:rPr>
              <a:t>AWS 위에서 실제로 돌아가는 서비스</a:t>
            </a:r>
          </a:p>
        </p:txBody>
      </p:sp>
      <p:pic>
        <p:nvPicPr>
          <p:cNvPr id="3" name="Picture 2" descr="system_architecture_0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50" y="1325880"/>
            <a:ext cx="89349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데이터 파이프라인</a:t>
            </a:r>
          </a:p>
          <a:p>
            <a:r>
              <a:rPr sz="2800" b="1">
                <a:solidFill>
                  <a:srgbClr val="1F3A5F"/>
                </a:solidFill>
              </a:rPr>
              <a:t>수집 → 정규화·생성 → 검증(NO-MOCK) → 적재 → 서빙</a:t>
            </a:r>
          </a:p>
        </p:txBody>
      </p:sp>
      <p:pic>
        <p:nvPicPr>
          <p:cNvPr id="3" name="Picture 2" descr="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325880"/>
            <a:ext cx="87782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데이터 구조 · ERD</a:t>
            </a:r>
          </a:p>
          <a:p>
            <a:r>
              <a:rPr sz="2800" b="1">
                <a:solidFill>
                  <a:srgbClr val="1F3A5F"/>
                </a:solidFill>
              </a:rPr>
              <a:t>폴리글랏 4-DB · 종목코드로 묶인 16테이블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34" y="1325880"/>
            <a:ext cx="90584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기술 스택</a:t>
            </a:r>
          </a:p>
          <a:p>
            <a:r>
              <a:rPr sz="2800" b="1">
                <a:solidFill>
                  <a:srgbClr val="1F3A5F"/>
                </a:solidFill>
              </a:rPr>
              <a:t>무엇으로 만들었나 — 계층별 선택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프론트엔드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Next.js 16 · React 19 (SSR·standalone)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TypeScript · Tailwind CSS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recharts 차트·시각화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5112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백엔드 · API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FastAPI (Python) · REST :8090 비동기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psycopg3 · pymongo (DB 드라이버)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systemd · nginx (기동·프록시)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93024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데이터 · 저장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PostgreSQL (RDS) · 16테이블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MongoDB · ChromaDB (문서·벡터)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AWS S3 (파일 서빙)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AI · RAG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BGE-M3 1024d · 리랭커 (로컬 GPU)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OpenAI gpt-5-mini (답변·진단)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자체 RAG 파이프라인 (LangChain 미사용)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5112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인프라 · 운영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AWS EC2(GPU) · RDS · S3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HTTPS · Let's Encrypt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.env 런타임 로드 (시크릿 0 커밋)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4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개발 · 협업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Claude Code · Design · v0.dev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GitHub (feature + PR)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Notion · Google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AI는 자체 파이프라인으로 제어 — LangChain 미사용·경량화 / 모든 시크릿은 .env 런타임 로드(하드코딩·커밋 0)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① 상대가치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‘옆 회사와 비교’ — 지금 비싼가 싼가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받는 가격과 견줘, 우리 회사가 비싼지 싼지를 봅니다. (상세 산식은 별도 밸류 PPT)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멀티플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시장에서 받는 ‘가격 배수’(PER·EV/EBITDA·EV/Sales·PBR)를 우리 회사에 적용해 적정가를 매기는 방법이에요. 네 잣대로 보고 가운데값으로 종합합니다.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적정가 &gt; 현재가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동종 대비 ‘싼 편’(상승 여지) · 반대면 ‘비싼 편’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맹신 금지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‘반드시 오른다’는 아님 — 같은 업종·이익 안정·여러 잣대가 같은 방향일 때 신뢰↑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주의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적자·고성장주는 이익이 흔들려 이 값도 출렁 → 참고로만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피어기업 선정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비교하느냐가 결과의 절반이에요. WICS 업종 + 사업 유사도(AI) 등 10가지를 가중 채점(업종18·시총15·사업내용10·수익성·성장·매출…)해 40점 넘는 상위 3사를 자동 선정합니다.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신뢰도 A~E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‘이번 비교를 얼마나 잘 골랐나’ — A면 안심, 낮으면 멀티플 결과도 조심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한계 인지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자동 선정이라 가끔 다른 업종이 섞일 수 있어요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확인 습관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비교에 쓴 회사 목록을 직접 보고 납득되는지 확인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② 절대가치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‘미래에 벌 돈’의 오늘 값 — 내재가치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 현금을 직접 계산해 오늘 가치로 환산합니다. 옆 회사와 무관한 ‘회사 본연의 값’이에요.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DCF · 절대가치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벌어들일 현금(FCFF)을 5년 예측하고, 그 이후는 영구가치로 묶어, 할인율(WACC)로 깎아 ‘오늘 값’으로 환산한 내재가치예요. 미래를 가정하므로 비관·기본·낙관 ‘범위’로 제시합니다.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‘정답 가격’ 아님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가정에 민감해 현재가와 차이 클 수 있어 — 하나의 숫자보다 ‘범위’로 보세요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괴리 = 시장 기대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내재가치&lt;현재가=시장이 낙관(거품 주의) · &gt;현재가=보수적(기회일 수도)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단단한 신호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‘필요 성장률’ — 경제성장(~3%)보다 너무 높으면 거품, 낮으면 저평가 신호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· 할인율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자본(주주 돈 + 빌린 돈)을 끌어다 쓰는 데 드는 평균 비용이자, 미래의 돈을 오늘 값으로 깎는 ‘할인율’이에요. 보통 8~13% 범위입니다.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4F0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최소 합격선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회사가 넘어야 할 기준 — ROIC &gt; WACC면 ‘가치 창출’(좋은 회사)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높을수록 깐깐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위험한 회사일수록 WACC↑ → 미래 이익을 더 작게 봐 내재가치↓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주의 (Ke와 구분)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주주 개인의 최소 요구수익률은 WACC가 아니라 Ke(자기자본비용) · 보통 Ke&gt;WACC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관리자 페이지 — 운영·검증 콘솔</a:t>
            </a:r>
          </a:p>
          <a:p>
            <a:r>
              <a:rPr sz="1400">
                <a:solidFill>
                  <a:srgbClr val="D7DBF5"/>
                </a:solidFill>
              </a:rPr>
              <a:t>PoC가 아니라, 운영·검증까지 만들었습니다 — 신뢰를 코드로 증명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① 기업개요 운영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데이터가 어디서 와서
지금 정상인지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2152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② 기업개요 검증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화면 숫자가 맞는지
버튼으로 즉석 증명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79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③ 밸류에이션 운영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기준일·출처·AI 하네스
(환각 통제)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399" y="1554480"/>
            <a:ext cx="260604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1" y="16916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46E5"/>
                </a:solidFill>
              </a:rPr>
              <a:t>④ 밸류에이션 테스트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088"/>
                </a:solidFill>
              </a:rPr>
              <a:t>헬스·5종 판정·챗봇 QA
직접 실행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solidFill>
            <a:srgbClr val="F7F8FD"/>
          </a:solidFill>
          <a:ln w="12700">
            <a:solidFill>
              <a:srgbClr val="E0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E2236"/>
                </a:solidFill>
              </a:rPr>
              <a:t>핵심 — 신뢰를 '말'이 아니라 '구조'로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모든 수치 = 누르는 순간 실제 DB·파일·포트를 조회한 실측값 (NO-MOCK, 가짜 0)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비어 있으면 가짜로 채우지 않고 '없음/준비중'으로 정직 표기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검증 탭에서 재무 항등식·DART 원문 대조를 즉석 실행 → 누구나 원본으로 팩트체크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① ② 기업개요 — 운영 · 검증</a:t>
            </a:r>
          </a:p>
          <a:p>
            <a:r>
              <a:rPr sz="1400">
                <a:solidFill>
                  <a:srgbClr val="D7DBF5"/>
                </a:solidFill>
              </a:rPr>
              <a:t>데이터 원천→화면 작동 확인  +  화면 숫자의 정합성 즉석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4F46E5"/>
                </a:solidFill>
              </a:rPr>
              <a:t>운영 (monitor)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기능 모듈 현황 — 각 기능이 DART·KRX 원천→화면까지, 지금 정상인지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커버리지 · DB 현황 — 전 종목 보유율 · 16테이블 행수(빈칸=빨강, 정직)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데이터 신선도 — 주가 16:00 자동 갱신 등 최신 시각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스모크 테스트 — 샘플 종목이 종목상세에 필요한 데이터 보유 점검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AI 챗봇·AWS 비용 운영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5803D"/>
                </a:solidFill>
              </a:rPr>
              <a:t>검증 (verify) — 버튼으로 증명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내부 정합성 — 재무 항등식(자산=부채+자본)·주가 유효성·완전성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088"/>
                </a:solidFill>
              </a:rPr>
              <a:t>  → 검사·통과·불일치·오류율 표시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DART 원문 대조 — 요약 재무 ↔ 사업보고서 XBRL 일치율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히스토리브리핑·챗봇·계열사 산출물 검증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2236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5803D"/>
                </a:solidFill>
              </a:rPr>
              <a:t>결과: 오류율 0% = NO-MOCK 일치 ✓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③ ④ 밸류에이션 — 운영 · 테스트</a:t>
            </a:r>
          </a:p>
          <a:p>
            <a:r>
              <a:rPr sz="1400">
                <a:solidFill>
                  <a:srgbClr val="D7DBF5"/>
                </a:solidFill>
              </a:rPr>
              <a:t>어떤 데이터를 언제·어디서 받아 AI를 통제했나  +  직접 실행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4F46E5"/>
                </a:solidFill>
              </a:rPr>
              <a:t>운영 (밸류 admin)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데이터 기준일 — 평가일·금리(ECOS)·시총(KRX) 숨김없이 공개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출처 8종 — DART·KRX·ECOS·KOFIA 등 공신력 원천만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테스트 환경 — DCF·EPV·멀티플 엔진 / RAG 챗봇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AI 하네스 — 환각 통제 8장치(실데이터·추출/판단 분리·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088"/>
                </a:solidFill>
              </a:rPr>
              <a:t>  출처 강제·저온도·신뢰도 등급화·골든셋 회귀)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5803D"/>
                </a:solidFill>
              </a:rPr>
              <a:t>테스트 (밸류 test)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헬스 3종 — 백엔드·챗봇·프론트 신호등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밸류 QA — 종목 입력→적정가·WACC·등급 + 5종 무결성 판정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236"/>
                </a:solidFill>
              </a:rPr>
              <a:t>• 챗봇 QA — 답변에 DART 출처 카드 동반 확인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2236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5803D"/>
                </a:solidFill>
              </a:rPr>
              <a:t>한마디로: 실데이터만, 출처와 함께,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5803D"/>
                </a:solidFill>
              </a:rPr>
              <a:t>불확실하면 점추정 숨긴다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FINSIGHT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FILMN9</dc:creator>
  <cp:lastModifiedBy>FILMN9</cp:lastModifiedBy>
  <cp:revision>1</cp:revision>
  <dcterms:created xsi:type="dcterms:W3CDTF">2026-06-18T07:31:29Z</dcterms:created>
  <dcterms:modified xsi:type="dcterms:W3CDTF">2026-06-18T07:31:29Z</dcterms:modified>
</cp:coreProperties>
</file>