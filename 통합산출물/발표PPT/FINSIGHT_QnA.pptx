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1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6583680" cy="6583680"/>
          </a:xfrm>
          <a:prstGeom prst="roundRect">
            <a:avLst>
              <a:gd name="adj" fmla="val 50000"/>
            </a:avLst>
          </a:prstGeom>
          <a:solidFill>
            <a:srgbClr val="2D6CB5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31520" y="3419856"/>
            <a:ext cx="3017520" cy="5486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35844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 &amp; 답변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4334256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· 신뢰 · 정확성 · 기술 · 비즈니스 · 비용 · 보안/면책 — 모든 답은 실제 서비스의 수치·근거로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5029200"/>
            <a:ext cx="3419856" cy="786384"/>
          </a:xfrm>
          <a:prstGeom prst="roundRect">
            <a:avLst>
              <a:gd name="adj" fmla="val 11628"/>
            </a:avLst>
          </a:prstGeom>
          <a:solidFill>
            <a:srgbClr val="20436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C976"/>
                </a:solidFill>
              </a:rPr>
              <a:t>NO-MOCK   </a:t>
            </a:r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</a:rPr>
              <a:t>근거 있는 답만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4256" y="5029200"/>
            <a:ext cx="3419856" cy="786384"/>
          </a:xfrm>
          <a:prstGeom prst="roundRect">
            <a:avLst>
              <a:gd name="adj" fmla="val 11628"/>
            </a:avLst>
          </a:prstGeom>
          <a:solidFill>
            <a:srgbClr val="20436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C976"/>
                </a:solidFill>
              </a:rPr>
              <a:t>실수치   </a:t>
            </a:r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</a:rPr>
              <a:t>28,468건·2,588종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1856" y="5029200"/>
            <a:ext cx="3419856" cy="786384"/>
          </a:xfrm>
          <a:prstGeom prst="roundRect">
            <a:avLst>
              <a:gd name="adj" fmla="val 11628"/>
            </a:avLst>
          </a:prstGeom>
          <a:solidFill>
            <a:srgbClr val="20436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5029200"/>
            <a:ext cx="31089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C976"/>
                </a:solidFill>
              </a:rPr>
              <a:t>출처   </a:t>
            </a:r>
            <a:pPr indent="0" marL="0">
              <a:buNone/>
            </a:pPr>
            <a:r>
              <a:rPr lang="en-US" sz="1300" dirty="0">
                <a:solidFill>
                  <a:srgbClr val="E9F1FB"/>
                </a:solidFill>
              </a:rPr>
              <a:t>DART·KRX·계산식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6163056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FINSIGHT · FILMN9 Inc. · 2026.06.20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데이터 · 신뢰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환각 · 전수 정확성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데이터 출처가 어디인가요?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재무·공시는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DART(금융감독원)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주가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KRX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글로벌 시세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yfinance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금리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ECOS(한국은행)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산업분류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WICS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뉴스는 네이버. 출처 없는 값은 만들지 않습니다(NO-MOCK).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10128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45643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AI 할루시네이션(환각)은 어떻게 막나요?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3913632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답하기 전 신뢰 문서를 먼저 검색해 그 근거 위에서만 답하고, 답변마다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카드 + DART 링크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제시합니다. 모르면 모른다고 답하도록 설계.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91672" cy="1517904"/>
          </a:xfrm>
          <a:prstGeom prst="roundRect">
            <a:avLst>
              <a:gd name="adj" fmla="val 6024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37760"/>
            <a:ext cx="137160" cy="1517904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084064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종목이 2,600개인데 다 정확한가요?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112" y="5541264"/>
            <a:ext cx="104241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2,588종목 × 11개 API = 28,468건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전수 검수 결과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차단 버그 0건(99.97%)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데이터가 없는 항목은 거짓 숫자 대신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‘데이터 없음’으로 정직 표기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정확성 · 기술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적정가 신뢰 · 아키텍처 선택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적정주가를 믿어도 되나요?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DCF는 미래 가정에 기반한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‘참고치’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그래서 단일값이 아닌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3시나리오(비관·기본·낙관) 범위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제시하고,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방법(DCF·PER·PBR·EV/EBITDA)으로 교차검증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하며, 신뢰도 등급·한계를 함께 고지합니다.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19856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419856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56616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왜 LangChain을 쓰지 않았나요?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파이프라인으로 직접 구현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 — 검색·리랭킹·생성 단계를 직접 제어해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경량화·디버깅·정확도 튜닝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쉽고, 외부 추상화 의존을 줄였습니다.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047488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047488"/>
            <a:ext cx="137160" cy="1371600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19379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확장성은 어떤가요?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112" y="565099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4-DB 폴리글랏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(정형 RDS·문서 Mongo·벡터 Chroma·파일 S3) +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AWS(EC2·RDS·S3)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기반이라 부하·기능별 독립 확장이 가능합니다.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비즈니스 · 비용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수익모델 · 차별점 · AI 비용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481328"/>
          </a:xfrm>
          <a:prstGeom prst="roundRect">
            <a:avLst>
              <a:gd name="adj" fmla="val 6173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481328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수익 모델은 무엇인가요?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+ Pro 구독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(월 9,900원, 가정) 구조입니다. 로컬 GPU로 운영비가 낮아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고객수가 작고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월 수백 명 Pro면 흑자 — 시장은 수백만 명입니다. (Appendix B)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310128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16314F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45643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네이버증권 같은 서비스와 무엇이 다른가요?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3913632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정보 제공을 넘어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전종목 자동 밸류에이션 + AI 히스토리 브리핑 + 대화형 RAG 챗봇(출처표시) + 계열사 시각화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한 화면에 통합해, ‘공부하고 스스로 판단’하는 흐름을 제공합니다.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047488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047488"/>
            <a:ext cx="137160" cy="1371600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" y="5193792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AI 운영 비용이 부담되지 않나요?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112" y="565099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임베딩·리랭킹은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GPU(무료)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유료는 LLM 답변 호출뿐(질의당 ~5원). GPU는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시에만 가동(정지 시 과금 0)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4008" cy="420624"/>
          </a:xfrm>
          <a:prstGeom prst="rect">
            <a:avLst/>
          </a:prstGeom>
          <a:solidFill>
            <a:srgbClr val="C7922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· 보안 · 면책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비밀정보 관리 · 투자 책임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82496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2D6CB5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82880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B5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API 키 등 비밀정보는 어떻게 관리하나요?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비밀키는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.env로 런타임 로드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코드 하드코딩·GitHub 커밋은 0건입니다. DB는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보안그룹 화이트리스트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제한하고, 전 구간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암호화 + 관리자 토큰 인증을 적용했습니다.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419856"/>
            <a:ext cx="11091672" cy="1591056"/>
          </a:xfrm>
          <a:prstGeom prst="roundRect">
            <a:avLst>
              <a:gd name="adj" fmla="val 5747"/>
            </a:avLst>
          </a:prstGeom>
          <a:solidFill>
            <a:srgbClr val="F4F8FD"/>
          </a:solidFill>
          <a:ln w="19050">
            <a:solidFill>
              <a:srgbClr val="D5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419856"/>
            <a:ext cx="137160" cy="1591056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3566160"/>
            <a:ext cx="10424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922E"/>
                </a:solidFill>
              </a:rPr>
              <a:t>Q  </a:t>
            </a:r>
            <a:pPr indent="0" marL="0">
              <a:buNone/>
            </a:pPr>
            <a:r>
              <a:rPr lang="en-US" sz="1700" b="1" dirty="0">
                <a:solidFill>
                  <a:srgbClr val="16314F"/>
                </a:solidFill>
              </a:rPr>
              <a:t>투자 손실에 대한 책임은 누구에게 있나요?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023360"/>
            <a:ext cx="10424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C79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 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서비스는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 ‘참고용’ 정보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제공하며, 적정가 등은 가정 기반 추정치입니다. </a:t>
            </a:r>
            <a:pPr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163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투자 판단과 책임은 이용자 본인</a:t>
            </a:r>
            <a:pPr indent="0" marL="0">
              <a:lnSpc>
                <a:spcPct val="114000"/>
              </a:lnSpc>
              <a:buNone/>
            </a:pPr>
            <a:r>
              <a:rPr lang="en-US" sz="1500" dirty="0">
                <a:solidFill>
                  <a:srgbClr val="334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있음을 서비스 내 면책 문구로 명시합니다.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5175504"/>
            <a:ext cx="11091672" cy="1078992"/>
          </a:xfrm>
          <a:prstGeom prst="roundRect">
            <a:avLst>
              <a:gd name="adj" fmla="val 8475"/>
            </a:avLst>
          </a:prstGeom>
          <a:solidFill>
            <a:srgbClr val="16314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175504"/>
            <a:ext cx="137160" cy="1078992"/>
          </a:xfrm>
          <a:prstGeom prst="roundRect">
            <a:avLst>
              <a:gd name="adj" fmla="val 40000"/>
            </a:avLst>
          </a:prstGeom>
          <a:solidFill>
            <a:srgbClr val="C7922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32180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C9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약속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1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‘근거 없는 숫자는 만들지 않는다(NO-MOCK)’ · ‘출처를 함께 보여준다’ · ‘정답을 강요하지 않는다’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0" y="64373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Q&amp;A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2026-06-17T16:46:29Z</dcterms:created>
  <dcterms:modified xsi:type="dcterms:W3CDTF">2026-06-17T16:46:29Z</dcterms:modified>
</cp:coreProperties>
</file>