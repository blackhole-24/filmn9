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관리자 페이지는 보이는 화면만이 아니라 운영·검증 콘솔까지 만든 것입니다. 4개 탭으로 기업개요·밸류에이션을 각각 운영(데이터가 어디서 와서 정상인지)과 검증(숫자가 맞는지 버튼으로 증명)합니다. 핵심은 모든 값이 실측이고, 없으면 정직하게 비우며, 검증 탭에서 원본과 즉석 대조가 된다는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기업개요 운영 탭은 각 기능이 어떤 공식 데이터에서 출발해 화면까지 흐르고 지금 정상인지를 보여줍니다. 비어 있으면 빨강으로 정직하게 둡니다. 검증 탭은 말이 아니라 버튼으로 증명합니다. 재무 항등식이 맞는지, DART 원문과 일치하는지 즉석에서 돌려 오류율 0%를 보여줍니다. 누구나 원본으로 팩트체크할 수 있게 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밸류에이션 운영 탭은 평가위원이 어떤 데이터를 언제 어디서 받아 만들었는지 직접 확인하는 콘솔입니다. 기준일과 출처를 숨김없이 공개하고, AI 하네스로 환각을 통제합니다. 테스트 탭은 헬스 3종을 확인하고 종목을 넣으면 적정가와 5종 무결성 판정이 뜨며, 챗봇 답변엔 DART 출처가 따라옵니다. 실데이터만, 출처와 함께, 불확실하면 숨긴다 입니다. (밸류 파트 = 태상님 제작)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548640" wrap="square"/>
          <a:lstStyle/>
          <a:p>
            <a:pPr algn="ctr"/>
            <a:r>
              <a:rPr sz="3000" b="1">
                <a:solidFill>
                  <a:srgbClr val="FFFFFF"/>
                </a:solidFill>
              </a:rPr>
              <a:t>관리자 페이지 — 운영·검증 콘솔</a:t>
            </a:r>
          </a:p>
          <a:p>
            <a:r>
              <a:rPr sz="1400">
                <a:solidFill>
                  <a:srgbClr val="D7DBF5"/>
                </a:solidFill>
              </a:rPr>
              <a:t>PoC가 아니라, 운영·검증까지 만들었습니다 — 신뢰를 코드로 증명</a:t>
            </a:r>
          </a:p>
        </p:txBody>
      </p:sp>
      <p:sp>
        <p:nvSpPr>
          <p:cNvPr id="3" name="Rectangle 2"/>
          <p:cNvSpPr/>
          <p:nvPr/>
        </p:nvSpPr>
        <p:spPr>
          <a:xfrm>
            <a:off x="548640" y="1554480"/>
            <a:ext cx="2606040" cy="1737360"/>
          </a:xfrm>
          <a:prstGeom prst="rect">
            <a:avLst/>
          </a:prstGeom>
          <a:solidFill>
            <a:srgbClr val="EEF2FF"/>
          </a:solidFill>
          <a:ln w="12700">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691640"/>
            <a:ext cx="2286000" cy="1554480"/>
          </a:xfrm>
          <a:prstGeom prst="rect">
            <a:avLst/>
          </a:prstGeom>
          <a:noFill/>
        </p:spPr>
        <p:txBody>
          <a:bodyPr wrap="square">
            <a:spAutoFit/>
          </a:bodyPr>
          <a:lstStyle/>
          <a:p>
            <a:pPr>
              <a:spcAft>
                <a:spcPts val="400"/>
              </a:spcAft>
            </a:pPr>
            <a:r>
              <a:rPr sz="1700" b="1">
                <a:solidFill>
                  <a:srgbClr val="4F46E5"/>
                </a:solidFill>
              </a:rPr>
              <a:t>① 기업개요 운영</a:t>
            </a:r>
          </a:p>
          <a:p>
            <a:pPr>
              <a:spcAft>
                <a:spcPts val="400"/>
              </a:spcAft>
            </a:pPr>
            <a:r>
              <a:rPr sz="1300" b="0">
                <a:solidFill>
                  <a:srgbClr val="6B7088"/>
                </a:solidFill>
              </a:rPr>
              <a:t>데이터가 어디서 와서
지금 정상인지</a:t>
            </a:r>
          </a:p>
        </p:txBody>
      </p:sp>
      <p:sp>
        <p:nvSpPr>
          <p:cNvPr id="5" name="Rectangle 4"/>
          <p:cNvSpPr/>
          <p:nvPr/>
        </p:nvSpPr>
        <p:spPr>
          <a:xfrm>
            <a:off x="3337560" y="1554480"/>
            <a:ext cx="2606040" cy="1737360"/>
          </a:xfrm>
          <a:prstGeom prst="rect">
            <a:avLst/>
          </a:prstGeom>
          <a:solidFill>
            <a:srgbClr val="EEF2FF"/>
          </a:solidFill>
          <a:ln w="12700">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2152" y="1691640"/>
            <a:ext cx="2286000" cy="1554480"/>
          </a:xfrm>
          <a:prstGeom prst="rect">
            <a:avLst/>
          </a:prstGeom>
          <a:noFill/>
        </p:spPr>
        <p:txBody>
          <a:bodyPr wrap="square">
            <a:spAutoFit/>
          </a:bodyPr>
          <a:lstStyle/>
          <a:p>
            <a:pPr>
              <a:spcAft>
                <a:spcPts val="400"/>
              </a:spcAft>
            </a:pPr>
            <a:r>
              <a:rPr sz="1700" b="1">
                <a:solidFill>
                  <a:srgbClr val="4F46E5"/>
                </a:solidFill>
              </a:rPr>
              <a:t>② 기업개요 검증</a:t>
            </a:r>
          </a:p>
          <a:p>
            <a:pPr>
              <a:spcAft>
                <a:spcPts val="400"/>
              </a:spcAft>
            </a:pPr>
            <a:r>
              <a:rPr sz="1300" b="0">
                <a:solidFill>
                  <a:srgbClr val="6B7088"/>
                </a:solidFill>
              </a:rPr>
              <a:t>화면 숫자가 맞는지
버튼으로 즉석 증명</a:t>
            </a:r>
          </a:p>
        </p:txBody>
      </p:sp>
      <p:sp>
        <p:nvSpPr>
          <p:cNvPr id="7" name="Rectangle 6"/>
          <p:cNvSpPr/>
          <p:nvPr/>
        </p:nvSpPr>
        <p:spPr>
          <a:xfrm>
            <a:off x="6126479" y="1554480"/>
            <a:ext cx="2606040" cy="1737360"/>
          </a:xfrm>
          <a:prstGeom prst="rect">
            <a:avLst/>
          </a:prstGeom>
          <a:solidFill>
            <a:srgbClr val="EEF2FF"/>
          </a:solidFill>
          <a:ln w="12700">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91071" y="1691640"/>
            <a:ext cx="2286000" cy="1554480"/>
          </a:xfrm>
          <a:prstGeom prst="rect">
            <a:avLst/>
          </a:prstGeom>
          <a:noFill/>
        </p:spPr>
        <p:txBody>
          <a:bodyPr wrap="square">
            <a:spAutoFit/>
          </a:bodyPr>
          <a:lstStyle/>
          <a:p>
            <a:pPr>
              <a:spcAft>
                <a:spcPts val="400"/>
              </a:spcAft>
            </a:pPr>
            <a:r>
              <a:rPr sz="1700" b="1">
                <a:solidFill>
                  <a:srgbClr val="4F46E5"/>
                </a:solidFill>
              </a:rPr>
              <a:t>③ 밸류에이션 운영</a:t>
            </a:r>
          </a:p>
          <a:p>
            <a:pPr>
              <a:spcAft>
                <a:spcPts val="400"/>
              </a:spcAft>
            </a:pPr>
            <a:r>
              <a:rPr sz="1300" b="0">
                <a:solidFill>
                  <a:srgbClr val="6B7088"/>
                </a:solidFill>
              </a:rPr>
              <a:t>기준일·출처·AI 하네스
(환각 통제)</a:t>
            </a:r>
          </a:p>
        </p:txBody>
      </p:sp>
      <p:sp>
        <p:nvSpPr>
          <p:cNvPr id="9" name="Rectangle 8"/>
          <p:cNvSpPr/>
          <p:nvPr/>
        </p:nvSpPr>
        <p:spPr>
          <a:xfrm>
            <a:off x="8915399" y="1554480"/>
            <a:ext cx="2606040" cy="1737360"/>
          </a:xfrm>
          <a:prstGeom prst="rect">
            <a:avLst/>
          </a:prstGeom>
          <a:solidFill>
            <a:srgbClr val="EEF2FF"/>
          </a:solidFill>
          <a:ln w="12700">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79991" y="1691640"/>
            <a:ext cx="2286000" cy="1554480"/>
          </a:xfrm>
          <a:prstGeom prst="rect">
            <a:avLst/>
          </a:prstGeom>
          <a:noFill/>
        </p:spPr>
        <p:txBody>
          <a:bodyPr wrap="square">
            <a:spAutoFit/>
          </a:bodyPr>
          <a:lstStyle/>
          <a:p>
            <a:pPr>
              <a:spcAft>
                <a:spcPts val="400"/>
              </a:spcAft>
            </a:pPr>
            <a:r>
              <a:rPr sz="1700" b="1">
                <a:solidFill>
                  <a:srgbClr val="4F46E5"/>
                </a:solidFill>
              </a:rPr>
              <a:t>④ 밸류에이션 테스트</a:t>
            </a:r>
          </a:p>
          <a:p>
            <a:pPr>
              <a:spcAft>
                <a:spcPts val="400"/>
              </a:spcAft>
            </a:pPr>
            <a:r>
              <a:rPr sz="1300" b="0">
                <a:solidFill>
                  <a:srgbClr val="6B7088"/>
                </a:solidFill>
              </a:rPr>
              <a:t>헬스·5종 판정·챗봇 QA
직접 실행</a:t>
            </a:r>
          </a:p>
        </p:txBody>
      </p:sp>
      <p:sp>
        <p:nvSpPr>
          <p:cNvPr id="11" name="Rectangle 10"/>
          <p:cNvSpPr/>
          <p:nvPr/>
        </p:nvSpPr>
        <p:spPr>
          <a:xfrm>
            <a:off x="548640" y="3657600"/>
            <a:ext cx="11064240" cy="2011680"/>
          </a:xfrm>
          <a:prstGeom prst="rect">
            <a:avLst/>
          </a:prstGeom>
          <a:solidFill>
            <a:srgbClr val="F7F8FD"/>
          </a:solidFill>
          <a:ln w="12700">
            <a:solidFill>
              <a:srgbClr val="E0E4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840480"/>
            <a:ext cx="10607040" cy="1737360"/>
          </a:xfrm>
          <a:prstGeom prst="rect">
            <a:avLst/>
          </a:prstGeom>
          <a:noFill/>
        </p:spPr>
        <p:txBody>
          <a:bodyPr wrap="square">
            <a:spAutoFit/>
          </a:bodyPr>
          <a:lstStyle/>
          <a:p>
            <a:pPr>
              <a:spcAft>
                <a:spcPts val="400"/>
              </a:spcAft>
            </a:pPr>
            <a:r>
              <a:rPr sz="1800" b="1">
                <a:solidFill>
                  <a:srgbClr val="1E2236"/>
                </a:solidFill>
              </a:rPr>
              <a:t>핵심 — 신뢰를 '말'이 아니라 '구조'로</a:t>
            </a:r>
          </a:p>
          <a:p>
            <a:pPr>
              <a:spcAft>
                <a:spcPts val="400"/>
              </a:spcAft>
            </a:pPr>
            <a:r>
              <a:rPr sz="1500" b="0">
                <a:solidFill>
                  <a:srgbClr val="1E2236"/>
                </a:solidFill>
              </a:rPr>
              <a:t>• 모든 수치 = 누르는 순간 실제 DB·파일·포트를 조회한 실측값 (NO-MOCK, 가짜 0)</a:t>
            </a:r>
          </a:p>
          <a:p>
            <a:pPr>
              <a:spcAft>
                <a:spcPts val="400"/>
              </a:spcAft>
            </a:pPr>
            <a:r>
              <a:rPr sz="1500" b="0">
                <a:solidFill>
                  <a:srgbClr val="1E2236"/>
                </a:solidFill>
              </a:rPr>
              <a:t>• 비어 있으면 가짜로 채우지 않고 '없음/준비중'으로 정직 표기</a:t>
            </a:r>
          </a:p>
          <a:p>
            <a:pPr>
              <a:spcAft>
                <a:spcPts val="400"/>
              </a:spcAft>
            </a:pPr>
            <a:r>
              <a:rPr sz="1500" b="0">
                <a:solidFill>
                  <a:srgbClr val="1E2236"/>
                </a:solidFill>
              </a:rPr>
              <a:t>• 검증 탭에서 재무 항등식·DART 원문 대조를 즉석 실행 → 누구나 원본으로 팩트체크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548640" wrap="square"/>
          <a:lstStyle/>
          <a:p>
            <a:pPr algn="ctr"/>
            <a:r>
              <a:rPr sz="3000" b="1">
                <a:solidFill>
                  <a:srgbClr val="FFFFFF"/>
                </a:solidFill>
              </a:rPr>
              <a:t>① ② 기업개요 — 운영 · 검증</a:t>
            </a:r>
          </a:p>
          <a:p>
            <a:r>
              <a:rPr sz="1400">
                <a:solidFill>
                  <a:srgbClr val="D7DBF5"/>
                </a:solidFill>
              </a:rPr>
              <a:t>데이터 원천→화면 작동 확인  +  화면 숫자의 정합성 즉석 검증</a:t>
            </a:r>
          </a:p>
        </p:txBody>
      </p:sp>
      <p:sp>
        <p:nvSpPr>
          <p:cNvPr id="3" name="Rectangle 2"/>
          <p:cNvSpPr/>
          <p:nvPr/>
        </p:nvSpPr>
        <p:spPr>
          <a:xfrm>
            <a:off x="548640" y="1508760"/>
            <a:ext cx="5440680" cy="4480560"/>
          </a:xfrm>
          <a:prstGeom prst="rect">
            <a:avLst/>
          </a:prstGeom>
          <a:solidFill>
            <a:srgbClr val="FFFFFF"/>
          </a:solidFill>
          <a:ln w="12700">
            <a:solidFill>
              <a:srgbClr val="E6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5029200" cy="4297680"/>
          </a:xfrm>
          <a:prstGeom prst="rect">
            <a:avLst/>
          </a:prstGeom>
          <a:noFill/>
        </p:spPr>
        <p:txBody>
          <a:bodyPr wrap="square">
            <a:spAutoFit/>
          </a:bodyPr>
          <a:lstStyle/>
          <a:p>
            <a:pPr>
              <a:spcAft>
                <a:spcPts val="400"/>
              </a:spcAft>
            </a:pPr>
            <a:r>
              <a:rPr sz="2000" b="1">
                <a:solidFill>
                  <a:srgbClr val="4F46E5"/>
                </a:solidFill>
              </a:rPr>
              <a:t>운영 (monitor)</a:t>
            </a:r>
          </a:p>
          <a:p>
            <a:pPr>
              <a:spcAft>
                <a:spcPts val="400"/>
              </a:spcAft>
            </a:pPr>
            <a:r>
              <a:rPr sz="1500" b="0">
                <a:solidFill>
                  <a:srgbClr val="1E2236"/>
                </a:solidFill>
              </a:rPr>
              <a:t>• 기능 모듈 현황 — 각 기능이 DART·KRX 원천→화면까지, 지금 정상인지</a:t>
            </a:r>
          </a:p>
          <a:p>
            <a:pPr>
              <a:spcAft>
                <a:spcPts val="400"/>
              </a:spcAft>
            </a:pPr>
            <a:r>
              <a:rPr sz="1500" b="0">
                <a:solidFill>
                  <a:srgbClr val="1E2236"/>
                </a:solidFill>
              </a:rPr>
              <a:t>• 커버리지 · DB 현황 — 전 종목 보유율 · 16테이블 행수(빈칸=빨강, 정직)</a:t>
            </a:r>
          </a:p>
          <a:p>
            <a:pPr>
              <a:spcAft>
                <a:spcPts val="400"/>
              </a:spcAft>
            </a:pPr>
            <a:r>
              <a:rPr sz="1500" b="0">
                <a:solidFill>
                  <a:srgbClr val="1E2236"/>
                </a:solidFill>
              </a:rPr>
              <a:t>• 데이터 신선도 — 주가 16:00 자동 갱신 등 최신 시각</a:t>
            </a:r>
          </a:p>
          <a:p>
            <a:pPr>
              <a:spcAft>
                <a:spcPts val="400"/>
              </a:spcAft>
            </a:pPr>
            <a:r>
              <a:rPr sz="1500" b="0">
                <a:solidFill>
                  <a:srgbClr val="1E2236"/>
                </a:solidFill>
              </a:rPr>
              <a:t>• 스모크 테스트 — 샘플 종목이 종목상세에 필요한 데이터 보유 점검</a:t>
            </a:r>
          </a:p>
          <a:p>
            <a:pPr>
              <a:spcAft>
                <a:spcPts val="400"/>
              </a:spcAft>
            </a:pPr>
            <a:r>
              <a:rPr sz="1500" b="0">
                <a:solidFill>
                  <a:srgbClr val="1E2236"/>
                </a:solidFill>
              </a:rPr>
              <a:t>• AI 챗봇·AWS 비용 운영 상태</a:t>
            </a:r>
          </a:p>
        </p:txBody>
      </p:sp>
      <p:sp>
        <p:nvSpPr>
          <p:cNvPr id="5" name="Rectangle 4"/>
          <p:cNvSpPr/>
          <p:nvPr/>
        </p:nvSpPr>
        <p:spPr>
          <a:xfrm>
            <a:off x="6172200" y="1508760"/>
            <a:ext cx="5440680" cy="4480560"/>
          </a:xfrm>
          <a:prstGeom prst="rect">
            <a:avLst/>
          </a:prstGeom>
          <a:solidFill>
            <a:srgbClr val="FFFFFF"/>
          </a:solidFill>
          <a:ln w="12700">
            <a:solidFill>
              <a:srgbClr val="E6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5029200" cy="4297680"/>
          </a:xfrm>
          <a:prstGeom prst="rect">
            <a:avLst/>
          </a:prstGeom>
          <a:noFill/>
        </p:spPr>
        <p:txBody>
          <a:bodyPr wrap="square">
            <a:spAutoFit/>
          </a:bodyPr>
          <a:lstStyle/>
          <a:p>
            <a:pPr>
              <a:spcAft>
                <a:spcPts val="400"/>
              </a:spcAft>
            </a:pPr>
            <a:r>
              <a:rPr sz="2000" b="1">
                <a:solidFill>
                  <a:srgbClr val="15803D"/>
                </a:solidFill>
              </a:rPr>
              <a:t>검증 (verify) — 버튼으로 증명</a:t>
            </a:r>
          </a:p>
          <a:p>
            <a:pPr>
              <a:spcAft>
                <a:spcPts val="400"/>
              </a:spcAft>
            </a:pPr>
            <a:r>
              <a:rPr sz="1500" b="0">
                <a:solidFill>
                  <a:srgbClr val="1E2236"/>
                </a:solidFill>
              </a:rPr>
              <a:t>• 내부 정합성 — 재무 항등식(자산=부채+자본)·주가 유효성·완전성</a:t>
            </a:r>
          </a:p>
          <a:p>
            <a:pPr>
              <a:spcAft>
                <a:spcPts val="400"/>
              </a:spcAft>
            </a:pPr>
            <a:r>
              <a:rPr sz="1400" b="0">
                <a:solidFill>
                  <a:srgbClr val="6B7088"/>
                </a:solidFill>
              </a:rPr>
              <a:t>  → 검사·통과·불일치·오류율 표시</a:t>
            </a:r>
          </a:p>
          <a:p>
            <a:pPr>
              <a:spcAft>
                <a:spcPts val="400"/>
              </a:spcAft>
            </a:pPr>
            <a:r>
              <a:rPr sz="1500" b="0">
                <a:solidFill>
                  <a:srgbClr val="1E2236"/>
                </a:solidFill>
              </a:rPr>
              <a:t>• DART 원문 대조 — 요약 재무 ↔ 사업보고서 XBRL 일치율</a:t>
            </a:r>
          </a:p>
          <a:p>
            <a:pPr>
              <a:spcAft>
                <a:spcPts val="400"/>
              </a:spcAft>
            </a:pPr>
            <a:r>
              <a:rPr sz="1500" b="0">
                <a:solidFill>
                  <a:srgbClr val="1E2236"/>
                </a:solidFill>
              </a:rPr>
              <a:t>• 히스토리브리핑·챗봇·계열사 산출물 검증</a:t>
            </a:r>
          </a:p>
          <a:p>
            <a:pPr>
              <a:spcAft>
                <a:spcPts val="400"/>
              </a:spcAft>
            </a:pPr>
            <a:r>
              <a:rPr sz="1400" b="0">
                <a:solidFill>
                  <a:srgbClr val="1E2236"/>
                </a:solidFill>
              </a:rPr>
              <a:t/>
            </a:r>
          </a:p>
          <a:p>
            <a:pPr>
              <a:spcAft>
                <a:spcPts val="400"/>
              </a:spcAft>
            </a:pPr>
            <a:r>
              <a:rPr sz="1700" b="1">
                <a:solidFill>
                  <a:srgbClr val="15803D"/>
                </a:solidFill>
              </a:rPr>
              <a:t>결과: 오류율 0% = NO-MOCK 일치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lIns="548640" wrap="square"/>
          <a:lstStyle/>
          <a:p>
            <a:pPr algn="ctr"/>
            <a:r>
              <a:rPr sz="3000" b="1">
                <a:solidFill>
                  <a:srgbClr val="FFFFFF"/>
                </a:solidFill>
              </a:rPr>
              <a:t>③ ④ 밸류에이션 — 운영 · 테스트</a:t>
            </a:r>
          </a:p>
          <a:p>
            <a:r>
              <a:rPr sz="1400">
                <a:solidFill>
                  <a:srgbClr val="D7DBF5"/>
                </a:solidFill>
              </a:rPr>
              <a:t>어떤 데이터를 언제·어디서 받아 AI를 통제했나  +  직접 실행 검증</a:t>
            </a:r>
          </a:p>
        </p:txBody>
      </p:sp>
      <p:sp>
        <p:nvSpPr>
          <p:cNvPr id="3" name="Rectangle 2"/>
          <p:cNvSpPr/>
          <p:nvPr/>
        </p:nvSpPr>
        <p:spPr>
          <a:xfrm>
            <a:off x="548640" y="1508760"/>
            <a:ext cx="5440680" cy="4480560"/>
          </a:xfrm>
          <a:prstGeom prst="rect">
            <a:avLst/>
          </a:prstGeom>
          <a:solidFill>
            <a:srgbClr val="FFFFFF"/>
          </a:solidFill>
          <a:ln w="12700">
            <a:solidFill>
              <a:srgbClr val="E6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5029200" cy="4297680"/>
          </a:xfrm>
          <a:prstGeom prst="rect">
            <a:avLst/>
          </a:prstGeom>
          <a:noFill/>
        </p:spPr>
        <p:txBody>
          <a:bodyPr wrap="square">
            <a:spAutoFit/>
          </a:bodyPr>
          <a:lstStyle/>
          <a:p>
            <a:pPr>
              <a:spcAft>
                <a:spcPts val="400"/>
              </a:spcAft>
            </a:pPr>
            <a:r>
              <a:rPr sz="2000" b="1">
                <a:solidFill>
                  <a:srgbClr val="4F46E5"/>
                </a:solidFill>
              </a:rPr>
              <a:t>운영 (밸류 admin)</a:t>
            </a:r>
          </a:p>
          <a:p>
            <a:pPr>
              <a:spcAft>
                <a:spcPts val="400"/>
              </a:spcAft>
            </a:pPr>
            <a:r>
              <a:rPr sz="1500" b="0">
                <a:solidFill>
                  <a:srgbClr val="1E2236"/>
                </a:solidFill>
              </a:rPr>
              <a:t>• 데이터 기준일 — 평가일·금리(ECOS)·시총(KRX) 숨김없이 공개</a:t>
            </a:r>
          </a:p>
          <a:p>
            <a:pPr>
              <a:spcAft>
                <a:spcPts val="400"/>
              </a:spcAft>
            </a:pPr>
            <a:r>
              <a:rPr sz="1500" b="0">
                <a:solidFill>
                  <a:srgbClr val="1E2236"/>
                </a:solidFill>
              </a:rPr>
              <a:t>• 출처 8종 — DART·KRX·ECOS·KOFIA 등 공신력 원천만</a:t>
            </a:r>
          </a:p>
          <a:p>
            <a:pPr>
              <a:spcAft>
                <a:spcPts val="400"/>
              </a:spcAft>
            </a:pPr>
            <a:r>
              <a:rPr sz="1500" b="0">
                <a:solidFill>
                  <a:srgbClr val="1E2236"/>
                </a:solidFill>
              </a:rPr>
              <a:t>• 테스트 환경 — DCF·EPV·멀티플 엔진 / RAG 챗봇</a:t>
            </a:r>
          </a:p>
          <a:p>
            <a:pPr>
              <a:spcAft>
                <a:spcPts val="400"/>
              </a:spcAft>
            </a:pPr>
            <a:r>
              <a:rPr sz="1500" b="0">
                <a:solidFill>
                  <a:srgbClr val="1E2236"/>
                </a:solidFill>
              </a:rPr>
              <a:t>• AI 하네스 — 환각 통제 8장치(실데이터·추출/판단 분리·</a:t>
            </a:r>
          </a:p>
          <a:p>
            <a:pPr>
              <a:spcAft>
                <a:spcPts val="400"/>
              </a:spcAft>
            </a:pPr>
            <a:r>
              <a:rPr sz="1400" b="0">
                <a:solidFill>
                  <a:srgbClr val="6B7088"/>
                </a:solidFill>
              </a:rPr>
              <a:t>  출처 강제·저온도·신뢰도 등급화·골든셋 회귀)</a:t>
            </a:r>
          </a:p>
        </p:txBody>
      </p:sp>
      <p:sp>
        <p:nvSpPr>
          <p:cNvPr id="5" name="Rectangle 4"/>
          <p:cNvSpPr/>
          <p:nvPr/>
        </p:nvSpPr>
        <p:spPr>
          <a:xfrm>
            <a:off x="6172200" y="1508760"/>
            <a:ext cx="5440680" cy="4480560"/>
          </a:xfrm>
          <a:prstGeom prst="rect">
            <a:avLst/>
          </a:prstGeom>
          <a:solidFill>
            <a:srgbClr val="FFFFFF"/>
          </a:solidFill>
          <a:ln w="12700">
            <a:solidFill>
              <a:srgbClr val="E6E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5029200" cy="4297680"/>
          </a:xfrm>
          <a:prstGeom prst="rect">
            <a:avLst/>
          </a:prstGeom>
          <a:noFill/>
        </p:spPr>
        <p:txBody>
          <a:bodyPr wrap="square">
            <a:spAutoFit/>
          </a:bodyPr>
          <a:lstStyle/>
          <a:p>
            <a:pPr>
              <a:spcAft>
                <a:spcPts val="400"/>
              </a:spcAft>
            </a:pPr>
            <a:r>
              <a:rPr sz="2000" b="1">
                <a:solidFill>
                  <a:srgbClr val="15803D"/>
                </a:solidFill>
              </a:rPr>
              <a:t>테스트 (밸류 test)</a:t>
            </a:r>
          </a:p>
          <a:p>
            <a:pPr>
              <a:spcAft>
                <a:spcPts val="400"/>
              </a:spcAft>
            </a:pPr>
            <a:r>
              <a:rPr sz="1500" b="0">
                <a:solidFill>
                  <a:srgbClr val="1E2236"/>
                </a:solidFill>
              </a:rPr>
              <a:t>• 헬스 3종 — 백엔드·챗봇·프론트 신호등</a:t>
            </a:r>
          </a:p>
          <a:p>
            <a:pPr>
              <a:spcAft>
                <a:spcPts val="400"/>
              </a:spcAft>
            </a:pPr>
            <a:r>
              <a:rPr sz="1500" b="0">
                <a:solidFill>
                  <a:srgbClr val="1E2236"/>
                </a:solidFill>
              </a:rPr>
              <a:t>• 밸류 QA — 종목 입력→적정가·WACC·등급 + 5종 무결성 판정</a:t>
            </a:r>
          </a:p>
          <a:p>
            <a:pPr>
              <a:spcAft>
                <a:spcPts val="400"/>
              </a:spcAft>
            </a:pPr>
            <a:r>
              <a:rPr sz="1500" b="0">
                <a:solidFill>
                  <a:srgbClr val="1E2236"/>
                </a:solidFill>
              </a:rPr>
              <a:t>• 챗봇 QA — 답변에 DART 출처 카드 동반 확인</a:t>
            </a:r>
          </a:p>
          <a:p>
            <a:pPr>
              <a:spcAft>
                <a:spcPts val="400"/>
              </a:spcAft>
            </a:pPr>
            <a:r>
              <a:rPr sz="1400" b="0">
                <a:solidFill>
                  <a:srgbClr val="1E2236"/>
                </a:solidFill>
              </a:rPr>
              <a:t/>
            </a:r>
          </a:p>
          <a:p>
            <a:pPr>
              <a:spcAft>
                <a:spcPts val="400"/>
              </a:spcAft>
            </a:pPr>
            <a:r>
              <a:rPr sz="1700" b="1">
                <a:solidFill>
                  <a:srgbClr val="15803D"/>
                </a:solidFill>
              </a:rPr>
              <a:t>한마디로: 실데이터만, 출처와 함께,</a:t>
            </a:r>
          </a:p>
          <a:p>
            <a:pPr>
              <a:spcAft>
                <a:spcPts val="400"/>
              </a:spcAft>
            </a:pPr>
            <a:r>
              <a:rPr sz="1700" b="1">
                <a:solidFill>
                  <a:srgbClr val="15803D"/>
                </a:solidFill>
              </a:rPr>
              <a:t>불확실하면 점추정 숨긴다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