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· 비즈니스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원가 — 인건비 + 직접비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투입·결제 내역 기준. 단가 등 추정치는 ‘(가정)’으로 명시합니다 (NO-MOCK).</a:t>
            </a:r>
            <a:endParaRPr lang="en-US" sz="1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93392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5989320"/>
                <a:gridCol w="240487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산식 / 내역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319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인건비 (맨먼스 MM) — 킥오프 4/22 ~ 발표 6/20, 약 2개월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 인력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4명 → 현재 2명 · 역할 PM · 백엔드 · 프론트 · QA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3명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맨먼스 환산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3명 × 약 2개월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 MM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인건비 합 (가정)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MM × 월 단가 (가정) — 단가는 팀 확정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47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MM × 단가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직접비 — 실제 결제 (월 기준)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Max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페어코딩 (실결제)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₩187,000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Plus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도구 (실결제) · 약 $20 ≈ ₩27,000 (가정 환율)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₩27,000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API (gpt-5-mini)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챗봇·브리핑 LLM 호출 (사용량 기반)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사용량 비례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EC2·RDS·S3 등 — 프리·크레딧으로 커버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E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실부담 ₩0 (크레딧)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도메인 (연 단위, 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약 ₩15,000 (가정)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운영비를 로컬 GPU로 최소화 + AWS 크레딧 활용 → 실 현금지출은 구독·API 위주. 인건비 단가는 ‘가정’이며 팀 확정 후 대체.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 · 비즈니스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— 무료 + Pro 구독 · BEP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137160" cy="3108960"/>
          </a:xfrm>
          <a:prstGeom prst="roundRect">
            <a:avLst>
              <a:gd name="adj" fmla="val 40000"/>
            </a:avLst>
          </a:prstGeom>
          <a:solidFill>
            <a:srgbClr val="64727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773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· 무료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2286000"/>
            <a:ext cx="502920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기업개요·재무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전 종목 회사정보·재무 하이라이트·전자공시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밸류·브리핑 기본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적정가 요약·AI 히스토리 브리핑 열람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챗봇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일일 질의 횟수 제한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63056" y="1609344"/>
            <a:ext cx="5477256" cy="3108960"/>
          </a:xfrm>
          <a:prstGeom prst="roundRect">
            <a:avLst>
              <a:gd name="adj" fmla="val 2941"/>
            </a:avLst>
          </a:prstGeom>
          <a:solidFill>
            <a:srgbClr val="F5F9FF"/>
          </a:solidFill>
          <a:ln w="25400">
            <a:solidFill>
              <a:srgbClr val="2D6C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09344"/>
            <a:ext cx="137160" cy="31089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7739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· 월 9,900원 </a:t>
            </a:r>
            <a:pPr indent="0" marL="0">
              <a:buNone/>
            </a:pPr>
            <a:r>
              <a:rPr lang="en-US" sz="1300" i="1" dirty="0">
                <a:solidFill>
                  <a:srgbClr val="64727F"/>
                </a:solidFill>
              </a:rPr>
              <a:t>(가정·확정 필요)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3952" y="2286000"/>
            <a:ext cx="502920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밸류 심화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전문가 모드 지표·시나리오·민감도 전체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챗봇 무제한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질의 제한 해제 + 첨부 멀티모달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관심종목·알림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관심종목 트래킹·공시 알림(로드맵)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6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882896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(BEP)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</a:rPr>
              <a:t>BEP 고객수 =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월 고정 운영비(AWS+API+유지보수) ÷ Pro 객당 월 기여(9,900원)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4400" y="5742432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월 ‘수백 명’ 수준의 Pro 전환이면 운영 흑자. 일반투자자 시장은 수백만 명 — 전환율 1%만으로도 충분.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가격·고정비는 ‘가정’이며 운영 데이터 확보 후 확정. 핵심: 저비용 운영 구조(로컬 GPU)로 BEP 고객수가 낮다.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 · AI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· 무슨 AI를 · 어떻게 썼나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297680"/>
                <a:gridCol w="1600200"/>
                <a:gridCol w="3410712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기술 / 모델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gpt-5-mini (보조 gpt-4o-mini)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챗봇·백엔드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브리핑·챗봇 답변·밸류 진단 해설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검색증강생성 (보고서→Chroma→리랭킹→LLM)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기반 답변·환각 차단·출처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(1024차원)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챗봇·피어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의미 벡터화·유사도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리랭커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bge-reranker-v2-m3 (cross-encoder)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GPU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후보 재정렬(로컬 무료)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 · 사업보고서 청크 약 377만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EC2(GPU)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기반 문서 검색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ontology_b (회사·도메인 지식)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의도 보강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멀티모달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gpt-4o (첨부 이미지·PDF) — 신규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첨부파일 질의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RAGAS · LLM Judge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신뢰도 4-Phase 채점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+ 산업분류(WICS)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밸류 엔진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유사기업 자동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Claude Design · v0.dev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코드·디자인 가속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명시: LangChain = 미사용(자체 파이프라인으로 제어·경량화). 전통 ML = 미사용(베타 추정은 통계기법).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 · 방법론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6대 공식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DCF — 기업가치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Σ FCFF(t)/(1+WACC)^t + TV/(1+WACC)ⁿ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적정주가 = (EV − 순부채) ÷ 발행주식수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FCFF — 잉여현금흐름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= EBIT(1−Tc) + D&amp;A − CapEx − ΔNWC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4808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‘장부이익’ 아닌 ‘실제 남는 현금’ · 리포트로 보정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터미널밸류 — 영구가치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= FCFF(n+1) ÷ (WACC − 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고든성장 · 조건 WACC&gt;g · g 1~3% 보수적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— 할인율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WACC = (E/V)·Re + (D/V)·Rd·(1−Tc)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64808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주주·채권자 비용을 자본비중으로 가중평균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CAPM — 자기자본비용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= Rf + β·(Rm − Rf)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국고채(ECOS) · β 피어추정 후 Blume·Hamada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0488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멀티플 — 4-Way 교차검증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적정가 = 피어 중위배수 × 타깃지표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64808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PER·PBR·EV/EBITDA 역산 + DCF = 4-Way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5단계: 재무 수집·표준화 → FCFF 추정 → WACC 산출 → DCF 할인·3시나리오 → 4-Way 교차검증. DCF는 가정 기반 ‘참고치’ → 범위로 제시.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 · AI 챗봇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 — 9단계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전 신뢰 문서를 먼저 찾아 그 근거 위에서만 답을 생성 → 환각 차단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수집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8988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종목 사업보고서 원문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13892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분할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3892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검색·임베딩 단위로 분절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8796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8796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의미 벡터화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38988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적재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8988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ChromaDB(~40GB·약 377만)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임베딩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13892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같은 벡터공간으로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88796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8796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후보 추출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38988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38988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리랭커 재정렬(무료)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13892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13892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 + 질문 결합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5193792"/>
            <a:ext cx="548640" cy="548640"/>
          </a:xfrm>
          <a:prstGeom prst="ellipse">
            <a:avLst/>
          </a:prstGeom>
          <a:solidFill>
            <a:srgbClr val="C7922E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888796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생성·출처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888796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+ 출처·DART 링크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089904"/>
            <a:ext cx="11091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비용: 임베딩·리랭킹은 로컬 GPU(무료), LLM 답변 호출만 유료(질의당 ~5원). 답변마다 출처를 함께 제시.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히스토리 브리핑 — 4-Phase 검증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사업보고서를 RAG로 요약한 ‘히스토리 브리핑’의 신뢰도를 4단계로 자동 채점·등급화.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매칭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속 숫자가 원본과 일치하는지 대조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검증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59359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실제 문서 근거에 기반하는지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251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 적합성을 정량 평가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1540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17143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143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17143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전체 품질을 종합 채점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6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82896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약 2,526종 </a:t>
            </a:r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</a:rPr>
              <a:t>브리핑 적재 · 평균 </a:t>
            </a:r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77.1점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" y="5541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저점수 항목은 2-pass 재생성으로 보강 · 관리자 ‘신뢰도 검증’ 탭에서 원본 대조·오류율 관리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검수 — ‘아무 종목이나 눌러도 안 깨진다’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서비스를 전 종목 × 핵심 기능으로 자동 검증 (2026-06-17, AWS 라이브).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50292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대상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활성 2,588종목 × 핵심 11개 API = 28,468건 호출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분류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OK / EMPTY(데이터 갭·정직표기) / FAIL(5xx·타임아웃·파싱오류=버그)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멱등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적재는 재실행해도 결과 동일(UPSERT)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63056" y="2048256"/>
            <a:ext cx="5477256" cy="3657600"/>
          </a:xfrm>
          <a:prstGeom prst="roundRect">
            <a:avLst>
              <a:gd name="adj" fmla="val 2500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2688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검사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50224" y="26883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28,468건 (741초)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버그(FAIL)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0224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 → 전수 추적 결과 무해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3712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50224" y="3712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(재검사 시 정상)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50224" y="4224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 (검색 비노출·무해)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4882896"/>
            <a:ext cx="4892040" cy="713232"/>
          </a:xfrm>
          <a:prstGeom prst="roundRect">
            <a:avLst>
              <a:gd name="adj" fmla="val 12821"/>
            </a:avLst>
          </a:prstGeom>
          <a:solidFill>
            <a:srgbClr val="1631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48828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C976"/>
                </a:solidFill>
              </a:rPr>
              <a:t>데모 차단 버그 0건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·  정상률 99.97%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 EMPTY는 NO-MOCK 정상(적정가 보유 약 2,223종만 표시). 화면 전자공시는 라이브 DART 사용 → DB 공란과 무관.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 · 데이터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 지도 — 모든 수치의 출처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448056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OpenAPI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금융감독원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재무제표·사업보고서·공시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/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 (pykrx)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한국거래소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일봉 OHLCV(시·고·저·종·거래량)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거래일 16:00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yfinance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시세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시세·글로벌 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한국은행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국고채 금리 등 거시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WICS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FnGuide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산업분류(78업종)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뉴스·환율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KOFIA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금융투자협회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 금리(WACC 타인자본비용)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8E54"/>
                </a:solidFill>
              </a:rPr>
              <a:t>NO-MOCK 원칙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3A47"/>
                </a:solidFill>
              </a:rPr>
              <a:t>모든 수치·문장은 위 공식 출처와 계산식에 근거. 없으면 ‘데이터 없음’ 정직 표기.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면책: 본 서비스 정보는 투자 참고용이며, 투자 판단·책임은 이용자 본인에게 있습니다.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 · 아키텍처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아키텍처 — 도메인 계층 (Client → Storage)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10896" y="1499616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499616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82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20665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진입점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검색·자동완성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6888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4320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탐색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1744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9176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마켓 시그널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(3탭)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1456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8888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1631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374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24505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" y="2615184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2D6C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2615184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라우터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0352" y="3182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엔드포인트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/api/sectors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37376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/api/morning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35824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63256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/api/dart_*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3427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6170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/api/affiliate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015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/chat · :8800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07024" y="3566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0896" y="3730752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3730752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서비스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0352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4203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946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조회·집계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56888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4320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엔진 연계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1744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9176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(15분 TTL)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폴백·적재 생성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01456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8888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검증·모니터링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1631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4374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07024" y="46817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896" y="4846320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E8E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" y="4846320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30352" y="54132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9464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14316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1748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58884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86316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10896" y="5998464"/>
            <a:ext cx="1157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챗봇은 별도 마이크로서비스(:8800 · GPU EC2) — 메인 API와 분리된 경로로 RAG 검색·생성 · 캐시·폴백으로 응답 가속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 · 데이터 스터디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 — 어디에 활용 · 어느 DB · 언제 갱신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20440"/>
                <a:gridCol w="306324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(KRX)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· 시가총액(E) · 상승여력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ohlcv · 엔진 market_snapshot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 16:00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무위험금리 Rf (ECOS)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자기자본비용(Ke) 기저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rf_rates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회사채금리 Kd (KOFIA)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세후 타인자본비용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kofia_bond_yields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 (DART XBRL)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정상화 · 멀티플 · NOA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financials · financial_detail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분기손익 (TTM)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손익 신선화 · 멀티플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quarterly_standalone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발행/유통주식수 (DART API)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 · 적정주가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shares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타인자본비용(Kd) 등급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credit_ratings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색=주기:  빨강 영업일(매일) · 금색 공시 시.   ‘엔진’=밸류 엔진 valuation.db(SQLite) → 배포 시 RDS·Mongo·Chroma·S3로 적재.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 · 데이터 스터디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지표·챗봇 — 어디에 활용 · 어느 DB · 언제 갱신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383280"/>
                <a:gridCol w="333756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β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 계수 (피어 βU · Blume·Hamada)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beta_results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할인율 · EPV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wacc_results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FCFF / FCF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5년 명시예측 현금흐름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dcf_results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적정주가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내재가치 (ΣPV + 터미널)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valuation_summary · 엔진 equity_results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멀티플 4종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중위배수 역산 적정가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mongo_docs (통합 doc)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적절성 진단 (성장 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diagnostics_results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NOA · 과대 가드 (v9)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부적합 · 점추정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doc (summary)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v9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B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스토리 요약 (RAG)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histories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· 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의미검색 (BGE-M3)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지표는 입력이 바뀔 때마다 평가별(eval_date)로 재계산 · v9 가드는 모델 버전 변경 시 일괄 반영.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 · 데이터 스터디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주기 한눈에 — 무엇을 언제 갱신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갱신 주기가 다릅니다. 색으로 구분한 4가지 주기를 한 장에 정리합니다.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047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4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(영업일)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종가(KRX) · 무위험금리 Rf(ECOS) · 회사채금리 Kd(KOFIA) → 평가 시점 당일/직전영업일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시 (분기·반기·결산)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64808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· 원천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 · 분기손익 · 발행주식수 · 신용등급 · 사업보고서 청크·임베딩 · AI 브리핑 (영구 캐시)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1E8E5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평가 (eval_date)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 · WACC · FCFF/DCF · 멀티플 · EPV · 적정주가 — 입력이 바뀌면 재계산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0488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(v9)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464808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무효화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NOA·과대 가드 등 로직 변경 → 강제 재평가(--no-resume) 또는 조회 시 자동 갱신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정적(거의 불변): ERP·CRP·세율·임베딩 모델(BGE-M3) — 코드 수정 시에만.  ⚠ resume은 행 존재만 보므로, v9 일괄반영은 --no-resume 필요.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64008" cy="365760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M · 데이터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— 수집→정규화→검증→적재→서빙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10896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1631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수집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Extract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002536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002536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공시·재무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84704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584704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 (XBRL)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166872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166872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주가 (KRX)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749040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49040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금리·거시 (ECOS)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4331208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331208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기업개요·뉴스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4913376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4913376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산업분류 (WICS)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57907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2659075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2D6CB5"/>
          </a:solidFill>
          <a:ln/>
        </p:spPr>
      </p:sp>
      <p:sp>
        <p:nvSpPr>
          <p:cNvPr id="22" name="Text 20"/>
          <p:cNvSpPr/>
          <p:nvPr/>
        </p:nvSpPr>
        <p:spPr>
          <a:xfrm>
            <a:off x="2713939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정규화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Transform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59075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7091" y="2002536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1955" y="2002536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표준화·파싱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7091" y="2701138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1955" y="2701138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엔진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7091" y="3399739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41955" y="3399739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손익흐름도 (Sankey)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7091" y="4098341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41955" y="4098341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생성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7091" y="4796942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41955" y="4796942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건전성·신호등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6086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35" name="Shape 33"/>
          <p:cNvSpPr/>
          <p:nvPr/>
        </p:nvSpPr>
        <p:spPr>
          <a:xfrm>
            <a:off x="5007254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5062118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검증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NO-MOCK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07254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ECFDF5"/>
          </a:solidFill>
          <a:ln w="15875">
            <a:solidFill>
              <a:srgbClr val="A7E3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5270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0134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대조 검증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35270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90134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4-Phase 채점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35270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0134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헬스체크 28,468건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35270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0134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‘데이터 없음’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54266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47" name="Shape 45"/>
          <p:cNvSpPr/>
          <p:nvPr/>
        </p:nvSpPr>
        <p:spPr>
          <a:xfrm>
            <a:off x="7355434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6B4FA8"/>
          </a:solidFill>
          <a:ln/>
        </p:spPr>
      </p:sp>
      <p:sp>
        <p:nvSpPr>
          <p:cNvPr id="48" name="Text 46"/>
          <p:cNvSpPr/>
          <p:nvPr/>
        </p:nvSpPr>
        <p:spPr>
          <a:xfrm>
            <a:off x="7410298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적재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Load · 4-DB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355434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83450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38314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83450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38314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83450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38314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83450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38314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502445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59" name="Shape 57"/>
          <p:cNvSpPr/>
          <p:nvPr/>
        </p:nvSpPr>
        <p:spPr>
          <a:xfrm>
            <a:off x="9703613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B45309"/>
          </a:solidFill>
          <a:ln/>
        </p:spPr>
      </p:sp>
      <p:sp>
        <p:nvSpPr>
          <p:cNvPr id="60" name="Text 58"/>
          <p:cNvSpPr/>
          <p:nvPr/>
        </p:nvSpPr>
        <p:spPr>
          <a:xfrm>
            <a:off x="9758477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5. 서빙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Serve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703613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31629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86493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(REST)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831629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86493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831629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86493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· 폴백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831629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86493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 (사용자)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10896" y="5669280"/>
            <a:ext cx="11576304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5875">
            <a:solidFill>
              <a:srgbClr val="BFDB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5669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B5"/>
                </a:solidFill>
              </a:rPr>
              <a:t>배치  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주가 OHLCV 매 거래일 16:00 자동 동기화 · 공시 갱신 시 재적재 (멱등 UPSERT)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10896" y="6181344"/>
            <a:ext cx="11576304" cy="4572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3776" y="61813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4"/>
                </a:solidFill>
              </a:rPr>
              <a:t>실시간  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실시간 시세(yfinance) · 글로벌 마켓 시그널 · 전자공시 라이브(DART) · AI 챗봇 질의응답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64008" cy="365760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N · 데이터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— 4-DB 폴리글랏 · 운영 13 테이블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10896" y="1280160"/>
            <a:ext cx="11576304" cy="4078224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2540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280160"/>
            <a:ext cx="11576304" cy="384048"/>
          </a:xfrm>
          <a:prstGeom prst="roundRect">
            <a:avLst>
              <a:gd name="adj" fmla="val 19048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RDS PostgreSQL · 관계형 코어 (운영 13 테이블 · company_info 루트 → stock_code 1:N)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2121408" cy="3346704"/>
          </a:xfrm>
          <a:prstGeom prst="roundRect">
            <a:avLst>
              <a:gd name="adj" fmla="val 4310"/>
            </a:avLst>
          </a:prstGeom>
          <a:solidFill>
            <a:srgbClr val="16314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11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company_info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3225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루트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688336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C976"/>
                </a:solidFill>
              </a:rPr>
              <a:t>PK  stock_code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B"/>
                </a:solidFill>
              </a:rPr>
              <a:t>corp_name · market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B"/>
                </a:solidFill>
              </a:rPr>
              <a:t>sector · ceo · 상장일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4114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3,965행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종목 = 1 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테이블의 부모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190195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재무·가치·산업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6" name="Text 14"/>
          <p:cNvSpPr/>
          <p:nvPr/>
        </p:nvSpPr>
        <p:spPr>
          <a:xfrm>
            <a:off x="2889504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9504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10,933 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9504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매출·영업이익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19472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1" name="Text 19"/>
          <p:cNvSpPr/>
          <p:nvPr/>
        </p:nvSpPr>
        <p:spPr>
          <a:xfrm>
            <a:off x="5065776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financial_detail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65776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956,125 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65776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B/S·I/S 계정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95744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6" name="Text 24"/>
          <p:cNvSpPr/>
          <p:nvPr/>
        </p:nvSpPr>
        <p:spPr>
          <a:xfrm>
            <a:off x="7242048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valuation_summary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42048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2,224 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42048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적정가·등급·WACC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272016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0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wics_keywords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18320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565 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18320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분류키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0" y="3017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인물·관계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0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7" name="Text 35"/>
          <p:cNvSpPr/>
          <p:nvPr/>
        </p:nvSpPr>
        <p:spPr>
          <a:xfrm>
            <a:off x="2889504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shareholders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9504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47,001 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89504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주주·지분율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19472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9472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2" name="Text 40"/>
          <p:cNvSpPr/>
          <p:nvPr/>
        </p:nvSpPr>
        <p:spPr>
          <a:xfrm>
            <a:off x="5065776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65776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34,966 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65776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임원·직위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95744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95744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7242048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peer_competitors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242048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3,282 행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42048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경쟁사(피어)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272016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72016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2" name="Text 50"/>
          <p:cNvSpPr/>
          <p:nvPr/>
        </p:nvSpPr>
        <p:spPr>
          <a:xfrm>
            <a:off x="9418320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company_customers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41832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2,455 행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18320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고객사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43200" y="413308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주가·시장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743200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0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8" name="Text 56"/>
          <p:cNvSpPr/>
          <p:nvPr/>
        </p:nvSpPr>
        <p:spPr>
          <a:xfrm>
            <a:off x="2889504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ohlcv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889504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10,688,415 행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889504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 OHLCV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19472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19472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5065776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stock_status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65776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4,083 행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65776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상장·관리상태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095744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95744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8" name="Text 66"/>
          <p:cNvSpPr/>
          <p:nvPr/>
        </p:nvSpPr>
        <p:spPr>
          <a:xfrm>
            <a:off x="7242048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dart_halt_events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242048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2,594 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242048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거래정지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272016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72016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73" name="Text 71"/>
          <p:cNvSpPr/>
          <p:nvPr/>
        </p:nvSpPr>
        <p:spPr>
          <a:xfrm>
            <a:off x="9418320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ticker_suffix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9418320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2,877 행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418320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 식별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10896" y="543153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비관계형 저장소 (RDS 아님 · stock_code로 논리 연결)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310896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0896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79" name="Text 77"/>
          <p:cNvSpPr/>
          <p:nvPr/>
        </p:nvSpPr>
        <p:spPr>
          <a:xfrm>
            <a:off x="512064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Atlas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512064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histories — AI 히스토리 브리핑(서술형)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169664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9664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83" name="Text 81"/>
          <p:cNvSpPr/>
          <p:nvPr/>
        </p:nvSpPr>
        <p:spPr>
          <a:xfrm>
            <a:off x="4370832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4370832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embeddings — 사업보고서 벡터(RAG)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028432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28432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/>
        </p:spPr>
      </p:sp>
      <p:sp>
        <p:nvSpPr>
          <p:cNvPr id="87" name="Text 85"/>
          <p:cNvSpPr/>
          <p:nvPr/>
        </p:nvSpPr>
        <p:spPr>
          <a:xfrm>
            <a:off x="8229600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8229600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Sankey·밸류 JSON·계열사 이미지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 · 인프라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인프라 &amp; 무중단·보안 설계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(프론트/백엔드)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· FastAPI 구동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systemd 자동 기동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GPU (챗봇)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임베딩·리랭킹·LLM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시에만 가동 → 정지(과금 최소화)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PostgreSQL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 16테이블 · 약 1,175만 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백업·보안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 S3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Sankey·밸류·계열사 파일 서빙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객체 · 18,397객체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Atlas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화이트리스트 접근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nginx + HTTPS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리버스프록시 · SSL(Let's Encrypt)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/api→백엔드, /→프론트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주가 OHLCV 매 거래일 16:00 갱신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무중단 최신화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6FF"/>
          </a:solidFill>
          <a:ln w="15875">
            <a:solidFill>
              <a:srgbClr val="C7DB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D6CB5"/>
                </a:solidFill>
              </a:rPr>
              <a:t>보안·가용성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3A47"/>
                </a:solidFill>
              </a:rPr>
              <a:t>장애 격리(프론트·백엔드·챗봇·DB 분리) · DB 보안그룹 화이트리스트 · 비밀키 .env 런타임 로드(하드코딩·커밋 0) · GPU 정지 시 과금 0 · HTTPS 전구간 암호화 · 관리자 토큰 인증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— ‘추정하지 않는다, 출처로 말한다’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한 글자·숫자도 만들지 않습니다. 이 원칙이 FINSIGHT의 최대 차별점입니다.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출처 의무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수치·문장은 DART·DB·계산식 근거. 챗봇 답변은 출처 카드·DART 링크 동반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0488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정직한 공백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83096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없으면 가짜로 채우지 않고 ‘데이터 없음/검증중’으로 표기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관리자 검증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1248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파트(브리핑·주가/재무·밸류·챗봇) 샘플을 원본과 대조해 오류율 추적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90488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전수 헬스체크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83096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2,588종 × 11 API = 28,468건 점검 · 데모 차단 버그 0 (99.97%)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9EC"/>
          </a:solidFill>
          <a:ln w="15875">
            <a:solidFill>
              <a:srgbClr val="EAD8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3153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431536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12"/>
                </a:solidFill>
              </a:rPr>
              <a:t>면책  </a:t>
            </a:r>
            <a:pPr indent="0" marL="0">
              <a:buNone/>
            </a:pPr>
            <a:r>
              <a:rPr lang="en-US" sz="1350" dirty="0">
                <a:solidFill>
                  <a:srgbClr val="5C4410"/>
                </a:solidFill>
              </a:rPr>
              <a:t>본 서비스 정보는 투자 참고용이며, 투자 판단·책임은 이용자 본인에게 있습니다.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 · 사용법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🔰 초보자 튜토리얼 — FINSIGHT 5분 사용법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17904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1907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19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회사 찾기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회사명·업종 입력 → 그룹 결과 · 추천종목 캐러셀 · 글로벌 마켓 시그널 · ★관심종목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89504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1E8E5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895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8346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— 3탭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기업개요(뭐 하는 회사·돈 잘 벎) · 밸류에이션(싼지 비싼지) · AI 챗봇(궁금한 것)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58768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059936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C792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599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0050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4005072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‘YoY’=작년 대비 증감 · ‘상승여력 +20%’=적정가가 20% 높음(저평가 신호) · ‘데이터 없음’=정직 표기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9200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036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B4FA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517550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물어보기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5175504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‘삼성전자 최근 실적 어때?’ → 사업보고서 근거로 요약 + 출처·DART 링크로 직접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속 (i) 아이콘에 마우스를 올리면 용어 한 줄 설명이 뜹니다. 더 자세한 건 [용어사전]을 참고하세요.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 · 용어사전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빠른 풀이 — 전문가의 정확성 + 초보자의 눈높이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주당순이익 — 이익의 몇 배 가격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17136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주당순자산 — 1배 미만이면 청산가치 이하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73568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EV/EBITDA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빚·세금·감가상각 지운 ‘순수 영업체력’ 비교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+ 감가상각 — 현금창출력 근사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61104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1104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17136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대비 출렁임 — 높을수록 멀미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73568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0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이자 + 위험 보상 = 주주 요구수익률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FCF/FCFF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4672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운영·투자 다 쓰고 ‘자유롭게 남긴 현금’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61104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1104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5" name="Text 33"/>
          <p:cNvSpPr/>
          <p:nvPr/>
        </p:nvSpPr>
        <p:spPr>
          <a:xfrm>
            <a:off x="4517136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터미널밸류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17136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예측기간 이후 ‘영구 가치’ 한 덩어리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73568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EPV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0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0 가정 수익력 가치 — 현재가 적절성 진단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04672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재무제표에 ‘바코드’ — 기계가 읽는 공시 포맷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61104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4517136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17136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글을 찾아주는 AI 도서관(Chroma)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73568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3568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29600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한 번 더 정교히 줄 세우기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804672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먼저 찾고 그 근거로만 답 — 환각 차단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61104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1104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9" name="Text 57"/>
          <p:cNvSpPr/>
          <p:nvPr/>
        </p:nvSpPr>
        <p:spPr>
          <a:xfrm>
            <a:off x="4517136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4517136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맞는 그릇(4-DB) 따로 쓰기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973568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73568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8229600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해도 결과 같음 — 재적재 안전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66" name="Text 6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본편 ‘쉬운 말 사전’(12개)의 확장판. 전체 용어집은 통합산출물/FINSIGHT_용어사전_백과사전 참고.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2026-06-18T00:57:45Z</dcterms:created>
  <dcterms:modified xsi:type="dcterms:W3CDTF">2026-06-18T00:57:45Z</dcterms:modified>
</cp:coreProperties>
</file>