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949440" cy="69494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4206240" cy="4206240"/>
          </a:xfrm>
          <a:prstGeom prst="ellipse">
            <a:avLst/>
          </a:prstGeom>
          <a:solidFill>
            <a:srgbClr val="0E938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480560"/>
            <a:ext cx="4754880" cy="475488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749808" y="3163824"/>
            <a:ext cx="338328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3467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94944" y="407822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DART·KRX 같은 신뢰 정보로 — 누구나 종목을 쉽게 공부하고, 투자 전에 스스로 판단하도록.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94944" y="4754880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47548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4754880"/>
            <a:ext cx="7315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배포·운영 중 (KOSPI·KOSDAQ 약 2,600개 상장사)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신뢰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DART·KRX·NO-MOCK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5968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384"/>
                </a:solidFill>
              </a:rPr>
              <a:t>쉬움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비전공자도 이해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36992" y="5486400"/>
            <a:ext cx="3346704" cy="676656"/>
          </a:xfrm>
          <a:prstGeom prst="roundRect">
            <a:avLst>
              <a:gd name="adj" fmla="val 14865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5486400"/>
            <a:ext cx="3017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A06"/>
                </a:solidFill>
              </a:rPr>
              <a:t>스스로 판단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정답 강요 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634593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FILMN9 Inc.   ·   통합 투자정보 서비스 (기업개요 · 밸류에이션 · AI 챗봇)   ·   2026.06.20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937760" cy="4937760"/>
          </a:xfrm>
          <a:prstGeom prst="ellipse">
            <a:avLst/>
          </a:prstGeom>
          <a:solidFill>
            <a:srgbClr val="2563E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937760"/>
            <a:ext cx="3840480" cy="3840480"/>
          </a:xfrm>
          <a:prstGeom prst="ellipse">
            <a:avLst/>
          </a:prstGeom>
          <a:solidFill>
            <a:srgbClr val="0E938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페르소나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45920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해결방안 — 왜·누구를 위해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975104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9632" y="1975104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75104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96912" y="20848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96912" y="2395728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서비스 비교 → 우리의 차별점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킥오프~최종발표 · 5 스프린트 88작업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99632" y="2852928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285292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852928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96912" y="296265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역할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96912" y="327355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기업개요 · 밸류에이션 · AI 챗봇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4592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개발비용 · 수익모델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645920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개발원가 · Free/Pro · 손익분기(BEP)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3730752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373075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730752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296912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데이터 · 기술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296912" y="4151376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시스템·파이프라인·ERD·기술 스택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EF3E2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645920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(별도)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645920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멀티플·피어·DCF·WACC + 관리자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199632" y="4608576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F4F0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199632" y="460857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608576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296912" y="47183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7296912" y="502920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기업개요·밸류·챗봇·관리자 (실접속)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FF5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749808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645920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645920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 — 공식·RAG·검증·인프라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99632" y="5486400"/>
            <a:ext cx="5440680" cy="749808"/>
          </a:xfrm>
          <a:prstGeom prst="roundRect">
            <a:avLst>
              <a:gd name="adj" fmla="val 13415"/>
            </a:avLst>
          </a:prstGeom>
          <a:solidFill>
            <a:srgbClr val="EAFBF6"/>
          </a:solidFill>
          <a:ln/>
        </p:spPr>
      </p:sp>
      <p:sp>
        <p:nvSpPr>
          <p:cNvPr id="53" name="Shape 51"/>
          <p:cNvSpPr/>
          <p:nvPr/>
        </p:nvSpPr>
        <p:spPr>
          <a:xfrm>
            <a:off x="6199632" y="548640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5486400"/>
            <a:ext cx="78638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296912" y="55961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7296912" y="590702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배경 · 문제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‘주식, 시작은 했는데…’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83080"/>
            <a:ext cx="457200" cy="45720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A06"/>
                </a:solidFill>
              </a:rPr>
              <a:t>김초심 · 32세 직장인 · 주식 1년차    </a:t>
            </a:r>
            <a:pPr indent="0" marL="0">
              <a:buNone/>
            </a:pPr>
            <a:r>
              <a:rPr lang="en-US" sz="1600" i="1" dirty="0">
                <a:solidFill>
                  <a:srgbClr val="7A5212"/>
                </a:solidFill>
              </a:rPr>
              <a:t>“월급만으론 안 될 것 같아 시작했는데… 뭐부터, 어디서 봐야 하지?”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25420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 1,400만 시대 — 누구나 시작하지만, ‘제대로 공부할 도구’는 여전히 전문가의 것입니다.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FF1F4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공시는 DART, 시세는 증권앱, 뉴스는 포털 — 한곳에 모이지 않아 매번 창을 옮겨다닌다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5196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6285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어려운 용어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6285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PER·DCF·WACC… 비전공자에겐 외국어. 뜻을 찾다 지쳐 결국 ‘느낌’으로 산다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955280" y="3035808"/>
            <a:ext cx="3520440" cy="2139696"/>
          </a:xfrm>
          <a:prstGeom prst="roundRect">
            <a:avLst>
              <a:gd name="adj" fmla="val 4701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3035808"/>
            <a:ext cx="137160" cy="213969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32369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믿을 출처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376732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유튜브·단톡방의 ‘카더라’와 추천. 근거를 확인할 길이 없어 불안하다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13248"/>
            <a:ext cx="11091672" cy="877824"/>
          </a:xfrm>
          <a:prstGeom prst="roundRect">
            <a:avLst>
              <a:gd name="adj" fmla="val 114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1324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413248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563EB"/>
                </a:solidFill>
              </a:rPr>
              <a:t>→ 결국 문제는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E293B"/>
                </a:solidFill>
              </a:rPr>
              <a:t>‘정보 비대칭’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 — 전문가는 알고, 일반투자자는 모른다.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B7268"/>
                </a:solidFill>
              </a:rPr>
              <a:t>우리는 이 격차를 줄이려 합니다.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‘김초심’을 위해 만듭니다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전문가용 정밀 분석을 떠올렸지만, 정말 도움이 필요한 사람은 ‘이제 막 시작한 일반투자자’였습니다 (피벗).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029200" cy="3931920"/>
          </a:xfrm>
          <a:prstGeom prst="roundRect">
            <a:avLst>
              <a:gd name="adj" fmla="val 2558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393192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95728"/>
            <a:ext cx="822960" cy="822960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9572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10512" y="24323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김초심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88950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32세 · 직장인 · 주식 1년차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41985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상황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여윳돈으로 재테크 시작 · 종목은 뉴스·지인 추천으로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고민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“이 회사 괜찮은 거야? 지금 사도 안 늦었나?”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14400" y="470001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불안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용어가 어렵고, 정보 출처를 믿어도 될지 모르겠다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340096"/>
            <a:ext cx="48463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바람 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누가 ‘쉽게, 근거까지’ 알려주면 스스로 판단하고 싶다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52160" y="213969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13969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· 전문가용 정밀 분석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270662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지표·시나리오 중심 · 진입장벽이 높아 ‘아는 사람만’ 쓰는 도구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852160" y="3602736"/>
            <a:ext cx="5788152" cy="1298448"/>
          </a:xfrm>
          <a:prstGeom prst="roundRect">
            <a:avLst>
              <a:gd name="adj" fmla="val 7746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02736"/>
            <a:ext cx="137160" cy="12984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· 일반투자자 ‘김초심’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3056" y="416966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설명 + 신뢰 출처 + 스스로 판단 — 정보 비대칭을 줄이는 데 집중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52160" y="5065776"/>
            <a:ext cx="5788152" cy="1005840"/>
          </a:xfrm>
          <a:prstGeom prst="roundRect">
            <a:avLst>
              <a:gd name="adj" fmla="val 10000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065776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7268"/>
                </a:solidFill>
              </a:rPr>
              <a:t>왜 일반투자자인가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전문가는 이미 도구가 많습니다. 정작 ‘처음 시작한 다수’에게는 쉽고 믿을 만한 길잡이가 없었습니다.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4023360" cy="402336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· 해결방안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격차를 줄이는 첫걸음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11091672" cy="1517904"/>
          </a:xfrm>
          <a:prstGeom prst="roundRect">
            <a:avLst>
              <a:gd name="adj" fmla="val 6627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92224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75104"/>
            <a:ext cx="102412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수 있는 공식 정보(DART·KRX)를 한곳에 모아,</a:t>
            </a:r>
            <a:endParaRPr lang="en-US" sz="2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쉽게 공부하고 ‘스스로 판단’하도록 돕는다.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처음부터 끝까지 지킨 3원칙 (핵심 요구사항)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쉬움 (2-Tier)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화면을 ‘초보(신호등·쉬운 말)’와 ‘전문가(근거·지표)’ 두 깊이로 — 비전공자도, 더 알고 싶은 사람도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(NO-MOCK)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2628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값은 DART·KRX·계산식 출처. 없으면 지어내지 않고 ‘데이터 없음’으로 정직 표기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4005072"/>
            <a:ext cx="3520440" cy="2066544"/>
          </a:xfrm>
          <a:prstGeom prst="roundRect">
            <a:avLst>
              <a:gd name="adj" fmla="val 486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4005072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2428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판단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0" y="4718304"/>
            <a:ext cx="31089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‘정답 가격’을 강요하지 않음. 적정가도 참고 범위로 주고 한계를 함께 고지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754880" cy="475488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3840480" cy="3840480"/>
          </a:xfrm>
          <a:prstGeom prst="ellipse">
            <a:avLst/>
          </a:prstGeom>
          <a:solidFill>
            <a:srgbClr val="0E938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비전 · 과제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멈추지 않습니다 — 더 정확하게, 더 넓게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7393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7393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비전   </a:t>
            </a:r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</a:rPr>
              <a:t>전 종목·전 업종을 정확하게 — 누구나 믿고 쓰는 ‘한국형 밸류에이션 표준’으로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피어기업 정교화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8638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 업종 + 사업 유사도(임베딩) 10기준 자동선정 · 신뢰도 A~E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2563EB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임베딩·온톨로지 고도화 · 동적 가중치 · 글로벌 피어 확장 · 신뢰도 등급 정밀화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금융·지주 밸류에이션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48970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600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금융·지주는 FCFF가 맞지 않아 DCF 제외 → 멀티플·NAV로 유도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2628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970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0E9384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금융 DDM·RIM·P-B-ROE · 지주 NAV/SOTP 전용 모델 → 전 업종 커버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2798064"/>
            <a:ext cx="3520440" cy="3035808"/>
          </a:xfrm>
          <a:prstGeom prst="roundRect">
            <a:avLst>
              <a:gd name="adj" fmla="val 3313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2798064"/>
            <a:ext cx="319125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2980944"/>
            <a:ext cx="3017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FCFF·DCF 정교화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193024" y="3529584"/>
            <a:ext cx="3044952" cy="1060704"/>
          </a:xfrm>
          <a:prstGeom prst="roundRect">
            <a:avLst>
              <a:gd name="adj" fmla="val 9483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602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9328" y="3858768"/>
            <a:ext cx="27614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FCFF=EBIT(1−t)+D&amp;A−CapEx−ΔNWC · 5년 예측 · 해자·중간시점 보정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0" y="4626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93024" y="4882896"/>
            <a:ext cx="3044952" cy="841248"/>
          </a:xfrm>
          <a:prstGeom prst="roundRect">
            <a:avLst>
              <a:gd name="adj" fmla="val 11957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4937760"/>
            <a:ext cx="276148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D97A06"/>
                </a:solidFill>
              </a:rPr>
              <a:t>향후  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애널리스트 컨센서스 연동 · 시나리오 확률가중 · 업종별 정상화·세그먼트 분해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유사사례 · 포지셔닝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서비스가 못 채운 자리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공시를 ‘읽어주는’ 서비스, 시세를 ‘보여주는’ 서비스는 있어도 — ‘쉽게+근거+스스로 판단’을 한곳에 주는 곳은 드뭅니다.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365760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24942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/ 서비스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 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249424"/>
            <a:ext cx="1463040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49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증권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2249424"/>
            <a:ext cx="1764792" cy="438912"/>
          </a:xfrm>
          <a:prstGeom prst="roundRect">
            <a:avLst>
              <a:gd name="adj" fmla="val 22917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249424"/>
            <a:ext cx="1764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7112" y="2249424"/>
            <a:ext cx="2743200" cy="438912"/>
          </a:xfrm>
          <a:prstGeom prst="roundRect">
            <a:avLst>
              <a:gd name="adj" fmla="val 22917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897112" y="224942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688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밸류에이션(적정가)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688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688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2688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688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97112" y="2688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97112" y="2688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약 2,200종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1455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1455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공시 분석 · 히스토리 브리핑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0624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31455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1455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31455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1455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97112" y="31455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97112" y="31455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2,526종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6027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36027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RAG 챗봇 (출처 표시)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20624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69280" y="36027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36027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132320" y="36027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36027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897112" y="36027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97112" y="3602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DART 출처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0599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" y="40599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검증 (NO-MOCK·전수검수)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0624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40599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40599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132320" y="40599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40599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897112" y="40599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97112" y="4059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28,468건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45171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5171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친화 (2-Tier)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20624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669280" y="45171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69280" y="45171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132320" y="45171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45171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△(전문가)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8897112" y="45171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97112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초보+전문가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48640" y="4974336"/>
            <a:ext cx="365760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" y="4974336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시각화 · 통합 한 화면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20624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0624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669280" y="497433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7132320" y="4974336"/>
            <a:ext cx="1764792" cy="457200"/>
          </a:xfrm>
          <a:prstGeom prst="roundRect">
            <a:avLst>
              <a:gd name="adj" fmla="val 22000"/>
            </a:avLst>
          </a:prstGeom>
          <a:solidFill>
            <a:srgbClr val="F6F9FD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32320" y="4974336"/>
            <a:ext cx="1764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897112" y="4974336"/>
            <a:ext cx="2743200" cy="457200"/>
          </a:xfrm>
          <a:prstGeom prst="roundRect">
            <a:avLst>
              <a:gd name="adj" fmla="val 22000"/>
            </a:avLst>
          </a:prstGeom>
          <a:solidFill>
            <a:srgbClr val="EFF5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97112" y="49743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2,362종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제공 · △ 부분/제한 · ✕ 없음   |   다트포인트AI = 공시 분석 특화(전문가 효율) · FINSIGHT = 밸류에이션+신뢰성+일반투자자 판단지원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‘공시를 읽어주는’ 곳을 넘어, ‘판단을 돕는’ 곳으로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40680" cy="2286000"/>
          </a:xfrm>
          <a:prstGeom prst="roundRect">
            <a:avLst>
              <a:gd name="adj" fmla="val 4400"/>
            </a:avLst>
          </a:prstGeom>
          <a:solidFill>
            <a:srgbClr val="F6F9FD"/>
          </a:solidFill>
          <a:ln w="15875">
            <a:solidFill>
              <a:srgbClr val="E6E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228600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 (사이냅소프트)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214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전자공시 기반 AI 기업정보 서비스 (’24.12 베타·’25.06 MCP)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25237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강점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수백 쪽 공시를 대화형으로 요약 · 보고서·엑셀 변환 · MCP(Claude·Cursor) 연동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980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초점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분석가·실무자의 ‘공시 분석 업무 효율’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· 빈자리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1607A"/>
                </a:solidFill>
              </a:rPr>
              <a:t>적정주가(밸류에이션) 없음 · 환각/신뢰성 검증 약함 · 일반투자자 친화 낮음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9344"/>
            <a:ext cx="5468112" cy="2286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587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98280" y="2011680"/>
            <a:ext cx="0" cy="173736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2880360"/>
            <a:ext cx="4754880" cy="0"/>
          </a:xfrm>
          <a:prstGeom prst="line">
            <a:avLst/>
          </a:prstGeom>
          <a:noFill/>
          <a:ln w="12700">
            <a:solidFill>
              <a:srgbClr val="E6EC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97510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0840" y="36027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17336" y="27706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9144" y="2770632"/>
            <a:ext cx="676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지원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2677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다트포인트AI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3145536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3145536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FINSIGHT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182112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98A6B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18211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증권사앱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밸류에이션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DCF·멀티플 4-Way 적정가 — 공시 요약을 넘어 ‘싼지 비싼지’까지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99632" y="4078224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4078224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187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신뢰성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73952" y="4553712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강제 + 전수검수 28,468건 + 관리자 검증 — 환각 대신 근거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일반투자자 2-Tier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초보(신호등)·전문가(지표) 두 깊이 — 비전공자도 이해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99632" y="5138928"/>
            <a:ext cx="5440680" cy="950976"/>
          </a:xfrm>
          <a:prstGeom prst="roundRect">
            <a:avLst>
              <a:gd name="adj" fmla="val 10577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5138928"/>
            <a:ext cx="137160" cy="95097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52486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한 화면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5614416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기업개요+밸류+챗봇+계열사 — 창을 옮겨다닐 필요 없음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여정 · WBS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킥오프(4/22) → 최종 발표(6/20) · 5 스프린트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‘리스크 큰 것부터 증명하고, 정확히 만들고, 세상에 올린다’ — 88개 작업을 5번에 나눠 실행.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1284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36829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6829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킥오프·S1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12848" y="22128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4/22~4/28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5888" y="221284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헌장 · 페르소나 · 기획서 · 요구사항 정의서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4436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09981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9981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12848" y="29443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4/29~5/9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75888" y="294436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가장 어려운 밸류엔진부터 — DCF 3시나리오 · WACC · 멀티플 · 피어 선정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7588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83133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3133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212848" y="367588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5/12~5/22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36758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AI 히스토리 브리핑(RAG) · Next.js UI · 1차 로컬 배포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56285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56285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12848" y="440740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5/26~6/5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75888" y="44074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정확성(XBRL 3개년) · AI 브리핑 전수화 · UI/UX 고도화 · 관리자 페이지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138928"/>
            <a:ext cx="11091672" cy="640080"/>
          </a:xfrm>
          <a:prstGeom prst="roundRect">
            <a:avLst>
              <a:gd name="adj" fmla="val 15714"/>
            </a:avLst>
          </a:prstGeom>
          <a:solidFill>
            <a:srgbClr val="FBFDFF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38928"/>
            <a:ext cx="137160" cy="64008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294376"/>
            <a:ext cx="1335024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294376"/>
            <a:ext cx="1335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212848" y="51389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6/8~6/19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75888" y="5138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DB 클라우드 이관(AWS RDS) · 계열사 전종목 · 메인 리디자인 · AWS 배포+HTTPS · QA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2000"/>
            </a:avLst>
          </a:prstGeom>
          <a:solidFill>
            <a:srgbClr val="EAF7EE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88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WBS 작업  ·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완료 81 · 진행 6 · 예정 1   ·   멘토링 4회 피드백을 다음 백로그에 반영   ·   워터폴(골격)+애자일(반복)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· 역할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명의 기여자 · 네 개의 영역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파트별로 책임 영역을 나누되, 공통 데이터 계약(NO-MOCK·종목코드 키)으로 하나처럼 움직였습니다.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공통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51960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F5FF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기획·조율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헌장·기획서·요구사항 정의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WBS·일정·멘토링 반영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QA·비기능 검증·발표 총괄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 설계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2157984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2157984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메인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902952" y="2340864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AFB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02952" y="23408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데이터·화면·인프라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이형주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9443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재무 하이라이트·주가차트·B/S·I/S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049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Sankey 손익흐름도·전자공시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메인페이지·통합검색·관리자(기업개요)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92240" y="37261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AWS 배포(RDS·EC2·S3·HTTPS)·전수검수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AI 챗봇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51960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가치평가 · RAG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유태상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DCF 3시나리오·WACC·멀티플·피어 4-Way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스코어카드·밸류 UI·관리자(밸류)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챗봇 RAG·임베딩·리랭킹·출처카드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PPT 초안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9632" y="4151376"/>
            <a:ext cx="5440680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151376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· 계열사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02952" y="4334256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4F0FE"/>
          </a:solidFill>
          <a:ln/>
        </p:spPr>
      </p:sp>
      <p:sp>
        <p:nvSpPr>
          <p:cNvPr id="40" name="Text 38"/>
          <p:cNvSpPr/>
          <p:nvPr/>
        </p:nvSpPr>
        <p:spPr>
          <a:xfrm>
            <a:off x="9902952" y="43342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스토리·관계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73952" y="46451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고휘주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49377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히스토리 브리핑(RAG)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92240" y="5198364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최신 뉴스 수집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4589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계열사 시각화 자동 생성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92240" y="57195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4-Phase 검증·MongoDB Atlas 적재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들여, 빠르게 — 약 2개월 개발 원가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인원을 좁게 운영하고, 클라우드 크레딧·로컬 GPU·구독형 AI 도구로 ‘현금 직접비’를 최소화했습니다. (단가는 가정치 · NO-MOCK)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인건비 (맨먼스 기준)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7797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투입 인원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초기 4명 → 현재 2명 (PM·QA·백엔드·프론트)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22783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기간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약 2개월 (킥오프 4/22 ~ 발표 6/20)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36758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환산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평균 2명 × 2개월 = 4 M/M (맨먼스)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412394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· 가정 단가   </a:t>
            </a:r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</a:rPr>
              <a:t>1 M/M ≈ 400만원 (시장 평균 가정)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645152"/>
            <a:ext cx="4901184" cy="566928"/>
          </a:xfrm>
          <a:prstGeom prst="roundRect">
            <a:avLst>
              <a:gd name="adj" fmla="val 17742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인건비 ≈ 4 M/M × 400만 = 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약 1,600만원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(가정)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157984"/>
            <a:ext cx="544068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2157984"/>
            <a:ext cx="137160" cy="320040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직접비 (실제 현금 지출)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10528" y="277977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27797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Max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15984" y="277977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₩187,000 ×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98480" y="27797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37만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10528" y="314553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1455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Plus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015984" y="314553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약 ₩30,000 ×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314553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6만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10528" y="351129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API (gpt-5-mini)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15984" y="351129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종량 · 질의당 ~5원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698480" y="351129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10528" y="387705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6F9FD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38770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(EC2·RDS·S3·GPU)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15984" y="387705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 크레딧 충당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38770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10528" y="4242816"/>
            <a:ext cx="4937760" cy="329184"/>
          </a:xfrm>
          <a:prstGeom prst="roundRect">
            <a:avLst>
              <a:gd name="adj" fmla="val 30556"/>
            </a:avLst>
          </a:prstGeom>
          <a:solidFill>
            <a:srgbClr val="FBFDFF"/>
          </a:solidFill>
          <a:ln w="7620">
            <a:solidFill>
              <a:srgbClr val="E6EC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42428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도메인·SSL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15984" y="4242816"/>
            <a:ext cx="1700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연 소액 · SSL 무료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424281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4645152"/>
            <a:ext cx="4937760" cy="566928"/>
          </a:xfrm>
          <a:prstGeom prst="roundRect">
            <a:avLst>
              <a:gd name="adj" fmla="val 17742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4515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현금 직접비 ≈ </a:t>
            </a:r>
            <a:pPr indent="0" marL="0">
              <a:buNone/>
            </a:pPr>
            <a:r>
              <a:rPr lang="en-US" sz="1500" b="1" dirty="0">
                <a:solidFill>
                  <a:srgbClr val="0B7268"/>
                </a:solidFill>
              </a:rPr>
              <a:t>약 50만원</a:t>
            </a:r>
            <a:pPr indent="0" marL="0">
              <a:buNone/>
            </a:pPr>
            <a:r>
              <a:rPr lang="en-US" sz="1100" dirty="0">
                <a:solidFill>
                  <a:srgbClr val="98A6BC"/>
                </a:solidFill>
              </a:rPr>
              <a:t> (2개월 합 · 가정)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522976"/>
            <a:ext cx="11091672" cy="786384"/>
          </a:xfrm>
          <a:prstGeom prst="roundRect">
            <a:avLst>
              <a:gd name="adj" fmla="val 12791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522976"/>
            <a:ext cx="137160" cy="786384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" y="5522976"/>
            <a:ext cx="10515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총 개발 원가 ≈ 약 1,650만원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1607A"/>
                </a:solidFill>
              </a:rPr>
              <a:t>(인건비 1,600만 + 직접비 50만, 가정)   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97A06"/>
                </a:solidFill>
              </a:rPr>
              <a:t>→ 실제 현금 지출은 ~50만원, 나머지는 팀의 시간(기회비용)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손익분기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모으고, 구독으로 지속한다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쓰는 무료 기반 위에 심화 기능을 구독(Pro)으로 — 운영 손익분기는 ‘월 수십 명’ 수준으로 설계했습니다. (가정치)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57984"/>
            <a:ext cx="548640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57984"/>
            <a:ext cx="137160" cy="41148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vs Pro (월 9,900원 · 가정)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4901184" cy="402336"/>
          </a:xfrm>
          <a:prstGeom prst="roundRect">
            <a:avLst>
              <a:gd name="adj" fmla="val 25000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7432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1638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9264" y="31638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 · 재무 하이라이트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638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36210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36210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요약 · 글로벌 시그널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6210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0782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9264" y="40782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0782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1248" y="45354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BFDFF"/>
          </a:solidFill>
          <a:ln w="6350">
            <a:solidFill>
              <a:srgbClr val="E6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5354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밸류 · 5종 진단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5354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5354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" y="4992624"/>
            <a:ext cx="4901184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635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69264" y="499262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관심종목 알림 · 비교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499262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4992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58704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가격·구성은 가정 — 베타 후 시장 검증으로 확정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2157984"/>
            <a:ext cx="5440680" cy="2249424"/>
          </a:xfrm>
          <a:prstGeom prst="roundRect">
            <a:avLst>
              <a:gd name="adj" fmla="val 447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157984"/>
            <a:ext cx="137160" cy="224942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6510528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 — 운영비 기준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10528" y="27066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638544" y="27066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고정 운영비 (가정)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869680" y="27066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실비+API+도메인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10332720" y="27066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25만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1638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638544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1인 월 기여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869680" y="31638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구독료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10332720" y="31638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9,900원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10528" y="3621024"/>
            <a:ext cx="4937760" cy="420624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7620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638544" y="36210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 수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869680" y="36210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25만 ÷ 9,900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33272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26명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10528" y="404164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</a:rPr>
              <a:t>→ 월 약 26명 Pro면 운영 손익분기  </a:t>
            </a:r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</a:rPr>
              <a:t>(개발 원가 회수는 수백 명 규모)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9632" y="4535424"/>
            <a:ext cx="5440680" cy="1737360"/>
          </a:xfrm>
          <a:prstGeom prst="roundRect">
            <a:avLst>
              <a:gd name="adj" fmla="val 5789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4535424"/>
            <a:ext cx="137160" cy="17373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52" name="Text 50"/>
          <p:cNvSpPr/>
          <p:nvPr/>
        </p:nvSpPr>
        <p:spPr>
          <a:xfrm>
            <a:off x="6510528" y="46634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— 누구를 위한 서비스인가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510528" y="5029200"/>
            <a:ext cx="4983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국내 주식 활동계좌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수천만 계좌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 규모 (참고)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핵심 타깃 = ‘스스로 공부하려는’ 입문·일반 투자자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· 무료로 폭넓게 모으고 → 일부가 Pro로 전환되는 구조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위에서 실제로 돌아가는 서비스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0" y="420624"/>
            <a:ext cx="3200400" cy="420624"/>
          </a:xfrm>
          <a:prstGeom prst="roundRect">
            <a:avLst>
              <a:gd name="adj" fmla="val 2391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206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200" dirty="0">
                <a:solidFill>
                  <a:srgbClr val="0B7268"/>
                </a:solidFill>
              </a:rPr>
              <a:t>43.203.94.124.nip.io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" y="1225296"/>
            <a:ext cx="11576304" cy="420624"/>
          </a:xfrm>
          <a:prstGeom prst="roundRect">
            <a:avLst>
              <a:gd name="adj" fmla="val 23913"/>
            </a:avLst>
          </a:prstGeom>
          <a:solidFill>
            <a:srgbClr val="FEF3E2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25296"/>
            <a:ext cx="11247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A06"/>
                </a:solidFill>
              </a:rPr>
              <a:t>외부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DART 공시 · KRX·yfinance 시세 · ECOS 금리 · 네이버 뉴스 · OpenAI gpt-5-mini(챗봇 답변)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" y="2926080"/>
            <a:ext cx="1591056" cy="1371600"/>
          </a:xfrm>
          <a:prstGeom prst="roundRect">
            <a:avLst>
              <a:gd name="adj" fmla="val 73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3163824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96" y="3547872"/>
            <a:ext cx="15910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BE9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개인투자자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BE9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(웹 브라우저)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57984" y="1792224"/>
            <a:ext cx="6035040" cy="4297680"/>
          </a:xfrm>
          <a:prstGeom prst="roundRect">
            <a:avLst>
              <a:gd name="adj" fmla="val 2340"/>
            </a:avLst>
          </a:prstGeom>
          <a:solidFill>
            <a:srgbClr val="EFF5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88366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Cloud · 서울(ap-northeast-2)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22576" y="2231136"/>
            <a:ext cx="5705856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2304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#1 · 웹/API 상시 운영 (24/7)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26151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151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리버스프록시·HTTPS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4439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439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:8090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633472"/>
            <a:ext cx="1737360" cy="1280160"/>
          </a:xfrm>
          <a:prstGeom prst="roundRect">
            <a:avLst>
              <a:gd name="adj" fmla="val 7857"/>
            </a:avLst>
          </a:prstGeom>
          <a:solidFill>
            <a:srgbClr val="F6F9FD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633472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2761488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72784" y="3273552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:3000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22576" y="4096512"/>
            <a:ext cx="5705856" cy="1682496"/>
          </a:xfrm>
          <a:prstGeom prst="roundRect">
            <a:avLst>
              <a:gd name="adj" fmla="val 5978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4169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#2 · GPU(T4) 챗봇 — 데모 시 start/stop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468880" y="4498848"/>
            <a:ext cx="2688336" cy="1170432"/>
          </a:xfrm>
          <a:prstGeom prst="roundRect">
            <a:avLst>
              <a:gd name="adj" fmla="val 8594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4498848"/>
            <a:ext cx="137160" cy="117043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2" name="Text 30"/>
          <p:cNvSpPr/>
          <p:nvPr/>
        </p:nvSpPr>
        <p:spPr>
          <a:xfrm>
            <a:off x="2615184" y="4608576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 (RAG)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15184" y="4974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:8800 · 임베딩·리랭킹·생성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48656" y="4498848"/>
            <a:ext cx="2688336" cy="1170432"/>
          </a:xfrm>
          <a:prstGeom prst="roundRect">
            <a:avLst>
              <a:gd name="adj" fmla="val 8594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48656" y="4498848"/>
            <a:ext cx="137160" cy="117043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4608576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497433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벡터 ~40GB · EBS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30768" y="1883664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430768" y="1883664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8668512" y="1975104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PostgreSQL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68512" y="22860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 16테이블 (기업개요·재무·밸류)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430768" y="2834640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430768" y="2834640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44" name="Text 42"/>
          <p:cNvSpPr/>
          <p:nvPr/>
        </p:nvSpPr>
        <p:spPr>
          <a:xfrm>
            <a:off x="8668512" y="292608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668512" y="32369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히스토리 브리핑 (화이트리스트)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430768" y="3785616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430768" y="3785616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48" name="Text 46"/>
          <p:cNvSpPr/>
          <p:nvPr/>
        </p:nvSpPr>
        <p:spPr>
          <a:xfrm>
            <a:off x="8668512" y="387705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 · 라이브 서빙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668512" y="41879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Sankey·밸류 JSON·계열사 SVG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430768" y="4736592"/>
            <a:ext cx="3456432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5875">
            <a:solidFill>
              <a:srgbClr val="98A6BC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430768" y="4736592"/>
            <a:ext cx="137160" cy="841248"/>
          </a:xfrm>
          <a:prstGeom prst="roundRect">
            <a:avLst>
              <a:gd name="adj" fmla="val 40000"/>
            </a:avLst>
          </a:prstGeom>
          <a:solidFill>
            <a:srgbClr val="98A6BC"/>
          </a:solidFill>
          <a:ln/>
        </p:spPr>
      </p:sp>
      <p:sp>
        <p:nvSpPr>
          <p:cNvPr id="52" name="Text 50"/>
          <p:cNvSpPr/>
          <p:nvPr/>
        </p:nvSpPr>
        <p:spPr>
          <a:xfrm>
            <a:off x="8668512" y="482803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로컬 폴백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668512" y="5138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장애 시 자동 대체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1828800" y="3310128"/>
            <a:ext cx="384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8119872" y="219456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119872" y="4114800"/>
            <a:ext cx="402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310896" y="6163056"/>
            <a:ext cx="11576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nginx가 / → Next.js · /api → FastAPI · /chat → 챗봇으로 라우팅 · 데이터는 RDS·Mongo·S3, 평소 S3 서빙(로컬은 폴백)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정규화 → 검증(NO-MOCK) → 적재 → 서빙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수집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0896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공시·재무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10896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사업보고서(XBRL)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10896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KRX·yfinance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10896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 ECOS·뉴스·WICS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542032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79192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2679192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정규화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79192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79192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표준화(3개년)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679192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밸류엔진 FCFF·WACC·DCF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679192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손익흐름도(Sankey)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679192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임베딩·건전성 신호등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4910328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47488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0E9384"/>
          </a:solidFill>
          <a:ln/>
        </p:spPr>
      </p:sp>
      <p:sp>
        <p:nvSpPr>
          <p:cNvPr id="30" name="Text 28"/>
          <p:cNvSpPr/>
          <p:nvPr/>
        </p:nvSpPr>
        <p:spPr>
          <a:xfrm>
            <a:off x="5047488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47488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47488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대조(DART 원본)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047488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4-Phase 채점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047488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헬스 28,468건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047488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57216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‘데이터 없음’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278624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415784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D97A06"/>
          </a:solidFill>
          <a:ln/>
        </p:spPr>
      </p:sp>
      <p:sp>
        <p:nvSpPr>
          <p:cNvPr id="42" name="Text 40"/>
          <p:cNvSpPr/>
          <p:nvPr/>
        </p:nvSpPr>
        <p:spPr>
          <a:xfrm>
            <a:off x="7415784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적재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15784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· 4-DB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15784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25512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PostgreSQL(정형)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7415784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MongoDB(브리핑)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7415784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ChromaDB(벡터)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7415784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S3(파일) · 멱등 UPSERT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9646920" y="1591056"/>
            <a:ext cx="164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784080" y="1481328"/>
            <a:ext cx="2249424" cy="566928"/>
          </a:xfrm>
          <a:prstGeom prst="roundRect">
            <a:avLst>
              <a:gd name="adj" fmla="val 17742"/>
            </a:avLst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9784080" y="1536192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서빙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9784080" y="1810512"/>
            <a:ext cx="22494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84080" y="2194560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93808" y="2194560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REST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9784080" y="2907792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93808" y="2907792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9784080" y="3621024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93808" y="3621024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캐시·폴백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9784080" y="4334256"/>
            <a:ext cx="2249424" cy="603504"/>
          </a:xfrm>
          <a:prstGeom prst="roundRect">
            <a:avLst>
              <a:gd name="adj" fmla="val 16667"/>
            </a:avLst>
          </a:prstGeom>
          <a:solidFill>
            <a:srgbClr val="F6F9FD"/>
          </a:solidFill>
          <a:ln w="9525">
            <a:solidFill>
              <a:srgbClr val="E6EC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93808" y="4334256"/>
            <a:ext cx="20665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화면(사용자)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310896" y="5029200"/>
            <a:ext cx="11576304" cy="548640"/>
          </a:xfrm>
          <a:prstGeom prst="roundRect">
            <a:avLst>
              <a:gd name="adj" fmla="val 18333"/>
            </a:avLst>
          </a:prstGeom>
          <a:solidFill>
            <a:srgbClr val="EFF5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5029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⏱ 배치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주가 OHLCV 매 거래일 16:00 자동 동기화 · 사업보고서 갱신 시 재적재(멱등)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10896" y="5669280"/>
            <a:ext cx="11576304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3970">
            <a:solidFill>
              <a:srgbClr val="0E938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268"/>
                </a:solidFill>
              </a:rPr>
              <a:t>⚡ 실시간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실시간 시세(yfinance) · 글로벌 마켓 시그널 · 전자공시 라이브(DART) · AI 챗봇 질의응답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 · ERD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 4-DB · 종목코드로 묶인 16테이블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코어(RDS): company_info를 루트로 13개 운영 테이블이 stock_code(FK)로 1:N 연결 · 문서·벡터·파일은 논리 연결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" y="2286000"/>
            <a:ext cx="221284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2286000"/>
            <a:ext cx="2212848" cy="384048"/>
          </a:xfrm>
          <a:prstGeom prst="roundRect">
            <a:avLst>
              <a:gd name="adj" fmla="val 2619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2286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company_info 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A06"/>
                </a:solidFill>
              </a:rPr>
              <a:t>PK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stock_code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corp_name·market·sector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ceo·상장일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3,965행 · 모든 표의 부모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31638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54096" y="1371600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EFF5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426464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재무·가치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10,933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73552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73552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매출·영업이익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13248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financial_detail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0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B/S·I/S 상세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26096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26096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699248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valuation_summary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26096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2,224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99248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99248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적정가·등급·WACC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38944" y="1737360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38944" y="173736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9912096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wics_keywords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38944" y="1737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912096" y="2029968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912096" y="2267712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키워드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54096" y="2798064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EAFBF6"/>
          </a:solidFill>
          <a:ln w="13970">
            <a:solidFill>
              <a:srgbClr val="0E93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82112" y="2852928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인물·관계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0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shareholders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47,001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73552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73552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주주·지분율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13248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13248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0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13248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34,966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0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86400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임원·직위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26096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626096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55" name="Text 53"/>
          <p:cNvSpPr/>
          <p:nvPr/>
        </p:nvSpPr>
        <p:spPr>
          <a:xfrm>
            <a:off x="7699248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peer_competitors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26096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3,282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699248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99248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경쟁사(피어)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838944" y="3163824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838944" y="3163824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0E9384"/>
          </a:solidFill>
          <a:ln/>
        </p:spPr>
      </p:sp>
      <p:sp>
        <p:nvSpPr>
          <p:cNvPr id="61" name="Text 59"/>
          <p:cNvSpPr/>
          <p:nvPr/>
        </p:nvSpPr>
        <p:spPr>
          <a:xfrm>
            <a:off x="9912096" y="31638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company_customers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838944" y="316382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912096" y="34564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912096" y="3694176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54096" y="4224528"/>
            <a:ext cx="8833104" cy="1371600"/>
          </a:xfrm>
          <a:prstGeom prst="roundRect">
            <a:avLst>
              <a:gd name="adj" fmla="val 7333"/>
            </a:avLst>
          </a:prstGeom>
          <a:solidFill>
            <a:srgbClr val="FEF3E2"/>
          </a:solidFill>
          <a:ln w="13970">
            <a:solidFill>
              <a:srgbClr val="D97A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82112" y="4279392"/>
            <a:ext cx="8650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주가·시장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200400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200400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69" name="Text 67"/>
          <p:cNvSpPr/>
          <p:nvPr/>
        </p:nvSpPr>
        <p:spPr>
          <a:xfrm>
            <a:off x="3273552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ohlcv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200400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1,069만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273552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73552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OHLCV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13248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413248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75" name="Text 73"/>
          <p:cNvSpPr/>
          <p:nvPr/>
        </p:nvSpPr>
        <p:spPr>
          <a:xfrm>
            <a:off x="5486400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stock_status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413248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4,083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486400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상장·관리상태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626096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626096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81" name="Text 79"/>
          <p:cNvSpPr/>
          <p:nvPr/>
        </p:nvSpPr>
        <p:spPr>
          <a:xfrm>
            <a:off x="7699248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dart_halt_events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626096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2,594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699248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699248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거래정지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9838944" y="4590288"/>
            <a:ext cx="210312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E6ECF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9838944" y="459028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97A06"/>
          </a:solidFill>
          <a:ln/>
        </p:spPr>
      </p:sp>
      <p:sp>
        <p:nvSpPr>
          <p:cNvPr id="87" name="Text 85"/>
          <p:cNvSpPr/>
          <p:nvPr/>
        </p:nvSpPr>
        <p:spPr>
          <a:xfrm>
            <a:off x="9912096" y="45902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ticker_suffix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838944" y="459028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8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2,877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9912096" y="4882896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FK </a:t>
            </a:r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</a:rPr>
              <a:t>stock_code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912096" y="5120640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 분류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10896" y="5650992"/>
            <a:ext cx="11576304" cy="713232"/>
          </a:xfrm>
          <a:prstGeom prst="roundRect">
            <a:avLst>
              <a:gd name="adj" fmla="val 14103"/>
            </a:avLst>
          </a:prstGeom>
          <a:solidFill>
            <a:srgbClr val="F6F9FD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7058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비관계형 (RDS 아님 · 종목코드로 논리 연결)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5720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56692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384"/>
                </a:solidFill>
              </a:rPr>
              <a:t>■ MongoDB Atlas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히스토리 브리핑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25196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36168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■ ChromaDB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사업보고서 벡터(RAG)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046720" y="5980176"/>
            <a:ext cx="3611880" cy="329184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 w="12700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8156448" y="5980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A06"/>
                </a:solidFill>
              </a:rPr>
              <a:t>■ AWS S3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Sankey·밸류·계열사 파일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만들었나 — 계층별 선택과 이유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계층마다 ‘가볍고·검증됐고·확장 가능한’ 표준 도구를 골랐습니다. AI는 자체 파이프라인으로 제어합니다.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Next.js 16 · React 19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SSR·standalone 배포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TypeScript · Tailwind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타입 안전·반응형 UI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recharts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차트·시각화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61104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API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17136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FastAPI (Python)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REST :8090 · 비동기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7136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psycopg3 · pymongo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DB 드라이버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7136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systemd · nginx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서비스 기동·프록시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73568" y="2212848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19872" y="2212848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3408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저장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0" y="27614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PostgreSQL(RDS)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정형 16테이블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318211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MongoDB·ChromaDB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문서·벡터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360273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AWS S3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파일 서빙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RAG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04672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BGE-M3 1024d · 리랭커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임베딩·재정렬(로컬 GPU)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OpenAI gpt-5-mini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답변 생성·진단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자체 RAG 파이프라인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LangChain 미사용·경량 제어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61104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07408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517136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운영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517136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AWS EC2(GPU)·RDS·S3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클라우드 배포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17136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HTTPS·Let’s Encrypt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전구간 암호화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17136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.env 런타임 로드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시크릿 하드코딩 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73568" y="4206240"/>
            <a:ext cx="3529584" cy="1865376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sx="100000" sy="100000" kx="0" ky="0" algn="bl" rotWithShape="0" blurRad="76200" dist="25400" dir="5400000">
              <a:srgbClr val="D8E1EE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19872" y="4206240"/>
            <a:ext cx="3236976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협업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229600" y="475488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Claude Code·Design·v0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개발·디자인 가속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29600" y="517550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GitHub · feature+PR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main 직접 금지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229600" y="559612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</a:rPr>
              <a:t>Notion · Drive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1607A"/>
                </a:solidFill>
              </a:rPr>
              <a:t>문서·산출물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754880" cy="4754880"/>
          </a:xfrm>
          <a:prstGeom prst="ellipse">
            <a:avLst/>
          </a:prstGeom>
          <a:solidFill>
            <a:srgbClr val="D97A0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D97A06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· 별도 설명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‘지금 사도 돼? 비싼가 싼가?’ — 핵심 엔진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910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공들인 부분이라 별도 자료로 깊이 다룹니다. 여기선 큰 그림만 — 상세는 밸류에이션 PPT.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5440680" cy="1152144"/>
          </a:xfrm>
          <a:prstGeom prst="roundRect">
            <a:avLst>
              <a:gd name="adj" fmla="val 8730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9424"/>
            <a:ext cx="137160" cy="1152144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79806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회사와 가격 비교 (PER·EV/EBITDA·EV/Sales·PBR)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2249424"/>
            <a:ext cx="5440680" cy="1152144"/>
          </a:xfrm>
          <a:prstGeom prst="roundRect">
            <a:avLst>
              <a:gd name="adj" fmla="val 8730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2249424"/>
            <a:ext cx="137160" cy="1152144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237744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279806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 업종+사업유사도 10기준 자동선정 · 신뢰도 A~E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5440680" cy="1152144"/>
          </a:xfrm>
          <a:prstGeom prst="roundRect">
            <a:avLst>
              <a:gd name="adj" fmla="val 8730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29584"/>
            <a:ext cx="137160" cy="1152144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07822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현금흐름을 오늘 가치로 (FCFF·5년·터미널·해자)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529584"/>
            <a:ext cx="5440680" cy="1152144"/>
          </a:xfrm>
          <a:prstGeom prst="roundRect">
            <a:avLst>
              <a:gd name="adj" fmla="val 8730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529584"/>
            <a:ext cx="137160" cy="1152144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6576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미래의 돈을 깎는 비율(할인율) · ROIC vs WACC 가치창출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11091672" cy="1133856"/>
          </a:xfrm>
          <a:prstGeom prst="roundRect">
            <a:avLst>
              <a:gd name="adj" fmla="val 8871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56048"/>
            <a:ext cx="137160" cy="1133856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877824" y="4956048"/>
            <a:ext cx="105156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1D4ED8"/>
                </a:solidFill>
              </a:rPr>
              <a:t>4-Way 교차검증 + 관리자 검증   </a:t>
            </a:r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1E293B"/>
                </a:solidFill>
              </a:rPr>
              <a:t>DCF(절대) + 3멀티플(상대)로 편향을 줄이고, 비관·기본·낙관 ‘범위’로 제시. 관리자 페이지에서 데이터 기준일·출처·AI 통제(하네스)를 공개.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926080"/>
            <a:ext cx="5120640" cy="5120640"/>
          </a:xfrm>
          <a:prstGeom prst="ellipse">
            <a:avLst/>
          </a:prstGeom>
          <a:solidFill>
            <a:srgbClr val="0E938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463040"/>
            <a:ext cx="3840480" cy="384048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75488"/>
            <a:ext cx="82296" cy="420624"/>
          </a:xfrm>
          <a:prstGeom prst="roundRect">
            <a:avLst>
              <a:gd name="adj" fmla="val 44444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43891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11D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시연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11155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서비스에 접속해서 보여드립니다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469880" y="502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10469880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라이브 시연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091672" cy="548640"/>
          </a:xfrm>
          <a:prstGeom prst="roundRect">
            <a:avLst>
              <a:gd name="adj" fmla="val 18333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384"/>
                </a:solidFill>
              </a:rPr>
              <a:t>● LIVE   </a:t>
            </a:r>
            <a:pPr algn="ctr" indent="0" marL="0">
              <a:buNone/>
            </a:pPr>
            <a:r>
              <a:rPr lang="en-US" sz="1350" dirty="0">
                <a:solidFill>
                  <a:srgbClr val="0B7268"/>
                </a:solidFill>
              </a:rPr>
              <a:t>https://43.203.94.124.nip.io   — 김초심의 질문을 순서대로 따라갑니다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FF5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250545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32" dirty="0"/>
          </a:p>
        </p:txBody>
      </p:sp>
      <p:sp>
        <p:nvSpPr>
          <p:cNvPr id="15" name="Text 13"/>
          <p:cNvSpPr/>
          <p:nvPr/>
        </p:nvSpPr>
        <p:spPr>
          <a:xfrm>
            <a:off x="1426464" y="23408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3408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‘뭐 하는 회사?’ — 회사정보·재무 하이라이트·전자공시·AI 브리핑·손익흐름도·계열사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552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D97A06"/>
          </a:solidFill>
          <a:ln/>
        </p:spPr>
      </p:sp>
      <p:sp>
        <p:nvSpPr>
          <p:cNvPr id="19" name="Shape 17"/>
          <p:cNvSpPr/>
          <p:nvPr/>
        </p:nvSpPr>
        <p:spPr>
          <a:xfrm>
            <a:off x="768096" y="3419856"/>
            <a:ext cx="475488" cy="475488"/>
          </a:xfrm>
          <a:prstGeom prst="ellipse">
            <a:avLst/>
          </a:prstGeom>
          <a:solidFill>
            <a:srgbClr val="D97A06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419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1426464" y="32552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‘비싼가 싼가?’ — 적정가 스코어카드·멀티플·DCF·WACC·ROIC (2-Tier)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EAFB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696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0E9384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334256"/>
            <a:ext cx="475488" cy="47548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1426464" y="41696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0" y="41696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‘궁금한 건?’ — 사업보고서 근거로 답변 + 출처 카드·DART 링크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84064"/>
            <a:ext cx="11091672" cy="804672"/>
          </a:xfrm>
          <a:prstGeom prst="roundRect">
            <a:avLst>
              <a:gd name="adj" fmla="val 12500"/>
            </a:avLst>
          </a:prstGeom>
          <a:solidFill>
            <a:srgbClr val="F4F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084064"/>
            <a:ext cx="137160" cy="80467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5248656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52486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426464" y="5084064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페이지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5084064"/>
            <a:ext cx="7589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‘믿을 수 있나?’ — 데이터 기준일·출처·전수검수·AI 통제(하네스)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071616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별도 시연 슬라이드 없이, 실제 화면으로 진행합니다. — 이어서 Appendix(기술 상세)로 넘어갑니다.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583680" cy="658368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0"/>
            <a:ext cx="4023360" cy="4023360"/>
          </a:xfrm>
          <a:prstGeom prst="ellipse">
            <a:avLst/>
          </a:prstGeom>
          <a:solidFill>
            <a:srgbClr val="0E938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97A06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749808" y="3346704"/>
            <a:ext cx="3017520" cy="73152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529584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상세 부록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4944" y="4224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기술 · 밸류에이션 6대 공식 · RAG 파이프라인 · 검증 체계 · 데이터 맵 · 인프라 · NO-MOCK · 용어사전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49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FF5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AI·RAG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임베딩·리랭킹·생성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81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EAFBF6"/>
          </a:solidFill>
          <a:ln w="15875">
            <a:solidFill>
              <a:srgbClr val="0E9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9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방법론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6대 공식·4-Way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EF3E2"/>
          </a:solidFill>
          <a:ln w="15875">
            <a:solidFill>
              <a:srgbClr val="D97A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전수검수·NO-MOCK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24544" y="5029200"/>
            <a:ext cx="2578608" cy="822960"/>
          </a:xfrm>
          <a:prstGeom prst="roundRect">
            <a:avLst>
              <a:gd name="adj" fmla="val 12222"/>
            </a:avLst>
          </a:prstGeom>
          <a:solidFill>
            <a:srgbClr val="F4F0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5138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데이터·인프라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0" y="5486400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4-DB·AWS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FINSIGHT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FILMN9</dc:creator>
  <cp:lastModifiedBy>FILMN9</cp:lastModifiedBy>
  <cp:revision>1</cp:revision>
  <dcterms:created xsi:type="dcterms:W3CDTF">2026-06-18T07:31:29Z</dcterms:created>
  <dcterms:modified xsi:type="dcterms:W3CDTF">2026-06-18T07:31:29Z</dcterms:modified>
</cp:coreProperties>
</file>